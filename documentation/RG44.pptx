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9144000" cy="5143500" type="screen16x9"/>
  <p:notesSz cx="6858000" cy="9144000"/>
  <p:embeddedFontLst>
    <p:embeddedFont>
      <p:font typeface="Roboto Mono" panose="020B0604020202020204" charset="0"/>
      <p:regular r:id="rId37"/>
      <p:bold r:id="rId38"/>
      <p:italic r:id="rId39"/>
      <p:boldItalic r:id="rId40"/>
    </p:embeddedFont>
    <p:embeddedFont>
      <p:font typeface="Helvetica Neue" panose="020B0604020202020204" charset="0"/>
      <p:regular r:id="rId41"/>
      <p:bold r:id="rId42"/>
      <p:italic r:id="rId43"/>
      <p:boldItalic r:id="rId44"/>
    </p:embeddedFont>
    <p:embeddedFont>
      <p:font typeface="Tahoma" panose="020B0604030504040204" pitchFamily="34" charset="0"/>
      <p:regular r:id="rId45"/>
      <p:bold r:id="rId46"/>
    </p:embeddedFont>
    <p:embeddedFont>
      <p:font typeface="Helvetica" panose="020B0604020202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4557E0EC-133D-4962-8930-70C0B9D9C8F6}">
  <a:tblStyle styleId="{4557E0EC-133D-4962-8930-70C0B9D9C8F6}" styleName="Table_0">
    <a:wholeTbl>
      <a:tcTxStyle b="off" i="off">
        <a:font>
          <a:latin typeface="Helvetica"/>
          <a:ea typeface="Helvetica"/>
          <a:cs typeface="Helvetica"/>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Helvetica"/>
          <a:ea typeface="Helvetica"/>
          <a:cs typeface="Helvetica"/>
        </a:font>
        <a:srgbClr val="FFFFFF"/>
      </a:tcTxStyle>
      <a:tcStyle>
        <a:tcBdr/>
        <a:fill>
          <a:solidFill>
            <a:srgbClr val="000000"/>
          </a:solidFill>
        </a:fill>
      </a:tcStyle>
    </a:lastCol>
    <a:firstCol>
      <a:tcTxStyle b="on" i="off">
        <a:font>
          <a:latin typeface="Helvetica"/>
          <a:ea typeface="Helvetica"/>
          <a:cs typeface="Helvetica"/>
        </a:font>
        <a:srgbClr val="FFFFFF"/>
      </a:tcTxStyle>
      <a:tcStyle>
        <a:tcBdr/>
        <a:fill>
          <a:solidFill>
            <a:srgbClr val="000000"/>
          </a:solidFill>
        </a:fill>
      </a:tcStyle>
    </a:firstCol>
    <a:lastRow>
      <a:tcTxStyle b="on" i="off">
        <a:font>
          <a:latin typeface="Helvetica"/>
          <a:ea typeface="Helvetica"/>
          <a:cs typeface="Helvetica"/>
        </a:font>
        <a:srgbClr val="FFFFFF"/>
      </a:tcTxStyle>
      <a:tcStyle>
        <a:tcBdr>
          <a:top>
            <a:ln w="38100" cap="flat" cmpd="sng">
              <a:solidFill>
                <a:srgbClr val="FFFFFF"/>
              </a:solidFill>
              <a:prstDash val="solid"/>
              <a:round/>
              <a:headEnd type="none" w="sm" len="sm"/>
              <a:tailEnd type="none" w="sm" len="sm"/>
            </a:ln>
          </a:top>
        </a:tcBdr>
        <a:fill>
          <a:solidFill>
            <a:srgbClr val="000000"/>
          </a:solidFill>
        </a:fill>
      </a:tcStyle>
    </a:lastRow>
    <a:seCell>
      <a:tcTxStyle/>
      <a:tcStyle>
        <a:tcBdr/>
      </a:tcStyle>
    </a:seCell>
    <a:swCell>
      <a:tcTxStyle/>
      <a:tcStyle>
        <a:tcBdr/>
      </a:tcStyle>
    </a:swCell>
    <a:firstRow>
      <a:tcTxStyle b="on" i="off">
        <a:font>
          <a:latin typeface="Helvetica"/>
          <a:ea typeface="Helvetica"/>
          <a:cs typeface="Helvetica"/>
        </a:font>
        <a:srgbClr val="FFFFFF"/>
      </a:tcTxStyle>
      <a:tcStyle>
        <a:tcBdr>
          <a:bottom>
            <a:ln w="38100" cap="flat" cmpd="sng">
              <a:solidFill>
                <a:srgbClr val="FFFFFF"/>
              </a:solidFill>
              <a:prstDash val="solid"/>
              <a:round/>
              <a:headEnd type="none" w="sm" len="sm"/>
              <a:tailEnd type="none" w="sm" len="sm"/>
            </a:ln>
          </a:bottom>
        </a:tcBdr>
        <a:fill>
          <a:solidFill>
            <a:srgbClr val="000000"/>
          </a:solidFill>
        </a:fill>
      </a:tcStyle>
    </a:firstRow>
    <a:neCell>
      <a:tcTxStyle/>
      <a:tcStyle>
        <a:tcBdr/>
      </a:tcStyle>
    </a:neCell>
    <a:nwCell>
      <a:tcTxStyle/>
      <a:tcStyle>
        <a:tcBdr/>
      </a:tcStyle>
    </a:nwCell>
  </a:tblStyle>
  <a:tblStyle styleId="{4A8300B5-029A-4B6F-8EBC-1A94DEF8384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B2D51D2-2A24-47CE-9EF8-DEFC6009EEA5}" styleName="Table_2">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Helvetica"/>
          <a:ea typeface="Helvetica"/>
          <a:cs typeface="Helvetica"/>
        </a:font>
        <a:schemeClr val="lt1"/>
      </a:tcTxStyle>
      <a:tcStyle>
        <a:tcBdr/>
        <a:fill>
          <a:solidFill>
            <a:schemeClr val="accent4"/>
          </a:solidFill>
        </a:fill>
      </a:tcStyle>
    </a:lastCol>
    <a:firstCol>
      <a:tcTxStyle b="on" i="off">
        <a:font>
          <a:latin typeface="Helvetica"/>
          <a:ea typeface="Helvetica"/>
          <a:cs typeface="Helvetica"/>
        </a:font>
        <a:schemeClr val="lt1"/>
      </a:tcTxStyle>
      <a:tcStyle>
        <a:tcBdr/>
        <a:fill>
          <a:solidFill>
            <a:schemeClr val="accent4"/>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9" d="100"/>
          <a:sy n="119" d="100"/>
        </p:scale>
        <p:origin x="-394" y="2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5724197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a4337e7b85_2_14: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g3a4337e7b85_2_14:notes"/>
          <p:cNvSpPr txBox="1">
            <a:spLocks noGrp="1"/>
          </p:cNvSpPr>
          <p:nvPr>
            <p:ph type="body" idx="1"/>
          </p:nvPr>
        </p:nvSpPr>
        <p:spPr>
          <a:xfrm>
            <a:off x="896808" y="4356237"/>
            <a:ext cx="5083008" cy="4126509"/>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a4337e7b85_2_26: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8" name="Google Shape;78;g3a4337e7b85_2_26:notes"/>
          <p:cNvSpPr txBox="1">
            <a:spLocks noGrp="1"/>
          </p:cNvSpPr>
          <p:nvPr>
            <p:ph type="body" idx="1"/>
          </p:nvPr>
        </p:nvSpPr>
        <p:spPr>
          <a:xfrm>
            <a:off x="896808" y="4356237"/>
            <a:ext cx="5083008" cy="4126509"/>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79" name="Google Shape;79;g3a4337e7b85_2_26:notes"/>
          <p:cNvSpPr txBox="1">
            <a:spLocks noGrp="1"/>
          </p:cNvSpPr>
          <p:nvPr>
            <p:ph type="sldNum" idx="12"/>
          </p:nvPr>
        </p:nvSpPr>
        <p:spPr>
          <a:xfrm>
            <a:off x="3887263" y="8708179"/>
            <a:ext cx="2989360" cy="45086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4337e7b85_2_3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g3a4337e7b85_2_3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4337e7b85_2_3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g3a4337e7b85_2_3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4337e7b85_2_4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g3a4337e7b85_2_4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4337e7b85_2_4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a4337e7b85_2_4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4337e7b85_2_54: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g3a4337e7b85_2_54: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a4337e7b85_2_60: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g3a4337e7b85_2_60: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a4337e7b85_2_66: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g3a4337e7b85_2_66: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a4337e7b85_2_72: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g3a4337e7b85_2_72: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a4337e7b85_2_7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337e7b85_2_7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4337e7b85_2_8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a4337e7b85_2_8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4337e7b85_2_9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g3a4337e7b85_2_9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4337e7b85_2_9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g3a4337e7b85_2_9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4337e7b85_2_10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a4337e7b85_2_10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4337e7b85_2_10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g3a4337e7b85_2_10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a4337e7b85_2_11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g3a4337e7b85_2_11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4337e7b85_2_11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g3a4337e7b85_2_11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ae398112b5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ae398112b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4337e7b85_2_12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g3a4337e7b85_2_12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4337e7b85_2_13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3a4337e7b85_2_13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a4337e7b85_2_12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3a4337e7b85_2_12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a4337e7b85_2_13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a4337e7b85_2_13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a4337e7b85_2_143: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g3a4337e7b85_2_143: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a4337e7b85_2_148: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3a4337e7b85_2_148: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4337e7b85_2_154: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g3a4337e7b85_2_154: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a4337e7b85_2_160: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g3a4337e7b85_2_160: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a4337e7b85_2_166: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g3a4337e7b85_2_166: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a4337e7b85_2_171: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3a4337e7b85_2_171: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a4337e7b85_2_176: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a4337e7b85_2_176: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4337e7b85_2_181: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g3a4337e7b85_2_181: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a4337e7b85_2_186: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3a4337e7b85_2_186: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a4337e7b85_2_191:notes"/>
          <p:cNvSpPr txBox="1">
            <a:spLocks noGrp="1"/>
          </p:cNvSpPr>
          <p:nvPr>
            <p:ph type="body" idx="1"/>
          </p:nvPr>
        </p:nvSpPr>
        <p:spPr>
          <a:xfrm>
            <a:off x="896808" y="4356237"/>
            <a:ext cx="5083008" cy="41265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3a4337e7b85_2_191:notes"/>
          <p:cNvSpPr>
            <a:spLocks noGrp="1" noRot="1" noChangeAspect="1"/>
          </p:cNvSpPr>
          <p:nvPr>
            <p:ph type="sldImg" idx="2"/>
          </p:nvPr>
        </p:nvSpPr>
        <p:spPr>
          <a:xfrm>
            <a:off x="334963" y="676275"/>
            <a:ext cx="6130925" cy="34496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755373" y="514350"/>
            <a:ext cx="7901609" cy="1211975"/>
          </a:xfrm>
          <a:prstGeom prst="rect">
            <a:avLst/>
          </a:prstGeom>
          <a:solidFill>
            <a:srgbClr val="D2691E"/>
          </a:solidFill>
          <a:ln w="9525" cap="flat" cmpd="sng">
            <a:solidFill>
              <a:srgbClr val="D2691E"/>
            </a:solidFill>
            <a:prstDash val="solid"/>
            <a:round/>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15"/>
          <p:cNvSpPr txBox="1">
            <a:spLocks noGrp="1"/>
          </p:cNvSpPr>
          <p:nvPr>
            <p:ph type="body" idx="1"/>
          </p:nvPr>
        </p:nvSpPr>
        <p:spPr>
          <a:xfrm>
            <a:off x="86197" y="586741"/>
            <a:ext cx="8953500" cy="4482216"/>
          </a:xfrm>
          <a:prstGeom prst="rect">
            <a:avLst/>
          </a:prstGeom>
          <a:noFill/>
          <a:ln>
            <a:noFill/>
          </a:ln>
        </p:spPr>
        <p:txBody>
          <a:bodyPr spcFirstLastPara="1" wrap="square" lIns="91425" tIns="45700" rIns="91425" bIns="45700" anchor="t" anchorCtr="0">
            <a:noAutofit/>
          </a:bodyPr>
          <a:lstStyle>
            <a:lvl1pPr marL="457200" lvl="0" indent="-371475"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marL="914400" lvl="1" indent="-3302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marL="1371600" lvl="2" indent="-3048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marL="1828800" lvl="3" indent="-304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marL="2286000" lvl="4" indent="-304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cxnSp>
        <p:nvCxnSpPr>
          <p:cNvPr id="63" name="Google Shape;63;p15"/>
          <p:cNvCxnSpPr/>
          <p:nvPr/>
        </p:nvCxnSpPr>
        <p:spPr>
          <a:xfrm>
            <a:off x="579120" y="4993676"/>
            <a:ext cx="7934960" cy="0"/>
          </a:xfrm>
          <a:prstGeom prst="straightConnector1">
            <a:avLst/>
          </a:prstGeom>
          <a:solidFill>
            <a:schemeClr val="accent1"/>
          </a:solidFill>
          <a:ln w="9525" cap="flat" cmpd="sng">
            <a:solidFill>
              <a:srgbClr val="005493"/>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0480" y="20884"/>
            <a:ext cx="8328751"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chemeClr val="lt1"/>
                </a:solidFill>
                <a:latin typeface="Helvetica Neue"/>
                <a:ea typeface="Helvetica Neue"/>
                <a:cs typeface="Helvetica Neue"/>
                <a:sym typeface="Helvetica Neue"/>
              </a:defRPr>
            </a:lvl1pPr>
            <a:lvl2pPr marR="0" lvl="1"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2pPr>
            <a:lvl3pPr marR="0" lvl="2"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3pPr>
            <a:lvl4pPr marR="0" lvl="3"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4pPr>
            <a:lvl5pPr marR="0" lvl="4"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5pPr>
            <a:lvl6pPr marR="0" lvl="5" algn="ctr" rtl="0">
              <a:spcBef>
                <a:spcPts val="0"/>
              </a:spcBef>
              <a:spcAft>
                <a:spcPts val="0"/>
              </a:spcAft>
              <a:buSzPts val="1400"/>
              <a:buNone/>
              <a:defRPr sz="3200" b="1" i="0" u="none" strike="noStrike" cap="none">
                <a:solidFill>
                  <a:srgbClr val="006699"/>
                </a:solidFill>
                <a:latin typeface="Arial"/>
                <a:ea typeface="Arial"/>
                <a:cs typeface="Arial"/>
                <a:sym typeface="Arial"/>
              </a:defRPr>
            </a:lvl6pPr>
            <a:lvl7pPr marR="0" lvl="6" algn="ctr" rtl="0">
              <a:spcBef>
                <a:spcPts val="0"/>
              </a:spcBef>
              <a:spcAft>
                <a:spcPts val="0"/>
              </a:spcAft>
              <a:buSzPts val="1400"/>
              <a:buNone/>
              <a:defRPr sz="3200" b="1" i="0" u="none" strike="noStrike" cap="none">
                <a:solidFill>
                  <a:srgbClr val="006699"/>
                </a:solidFill>
                <a:latin typeface="Arial"/>
                <a:ea typeface="Arial"/>
                <a:cs typeface="Arial"/>
                <a:sym typeface="Arial"/>
              </a:defRPr>
            </a:lvl7pPr>
            <a:lvl8pPr marR="0" lvl="7" algn="ctr" rtl="0">
              <a:spcBef>
                <a:spcPts val="0"/>
              </a:spcBef>
              <a:spcAft>
                <a:spcPts val="0"/>
              </a:spcAft>
              <a:buSzPts val="1400"/>
              <a:buNone/>
              <a:defRPr sz="3200" b="1" i="0" u="none" strike="noStrike" cap="none">
                <a:solidFill>
                  <a:srgbClr val="006699"/>
                </a:solidFill>
                <a:latin typeface="Arial"/>
                <a:ea typeface="Arial"/>
                <a:cs typeface="Arial"/>
                <a:sym typeface="Arial"/>
              </a:defRPr>
            </a:lvl8pPr>
            <a:lvl9pPr marR="0" lvl="8" algn="ctr" rtl="0">
              <a:spcBef>
                <a:spcPts val="0"/>
              </a:spcBef>
              <a:spcAft>
                <a:spcPts val="0"/>
              </a:spcAft>
              <a:buSzPts val="1400"/>
              <a:buNone/>
              <a:defRPr sz="3200" b="1" i="0" u="none" strike="noStrike" cap="none">
                <a:solidFill>
                  <a:srgbClr val="006699"/>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86197" y="586741"/>
            <a:ext cx="8953500" cy="4373693"/>
          </a:xfrm>
          <a:prstGeom prst="rect">
            <a:avLst/>
          </a:prstGeom>
          <a:noFill/>
          <a:ln>
            <a:noFill/>
          </a:ln>
        </p:spPr>
        <p:txBody>
          <a:bodyPr spcFirstLastPara="1" wrap="square" lIns="91425" tIns="45700" rIns="91425" bIns="45700" anchor="t" anchorCtr="0">
            <a:noAutofit/>
          </a:bodyPr>
          <a:lstStyle>
            <a:lvl1pPr marL="457200" marR="0" lvl="0" indent="-371475" algn="just" rtl="0">
              <a:lnSpc>
                <a:spcPct val="150000"/>
              </a:lnSpc>
              <a:spcBef>
                <a:spcPts val="630"/>
              </a:spcBef>
              <a:spcAft>
                <a:spcPts val="0"/>
              </a:spcAft>
              <a:buClr>
                <a:schemeClr val="dk1"/>
              </a:buClr>
              <a:buSzPts val="2250"/>
              <a:buFont typeface="Arial"/>
              <a:buChar char="•"/>
              <a:defRPr sz="1800" b="0" i="0" u="none" strike="noStrike" cap="none">
                <a:solidFill>
                  <a:schemeClr val="dk1"/>
                </a:solidFill>
                <a:latin typeface="Helvetica Neue"/>
                <a:ea typeface="Helvetica Neue"/>
                <a:cs typeface="Helvetica Neue"/>
                <a:sym typeface="Helvetica Neue"/>
              </a:defRPr>
            </a:lvl1pPr>
            <a:lvl2pPr marL="914400" marR="0" lvl="1" indent="-330200" algn="just" rtl="0">
              <a:lnSpc>
                <a:spcPct val="150000"/>
              </a:lnSpc>
              <a:spcBef>
                <a:spcPts val="560"/>
              </a:spcBef>
              <a:spcAft>
                <a:spcPts val="0"/>
              </a:spcAft>
              <a:buClr>
                <a:schemeClr val="dk1"/>
              </a:buClr>
              <a:buSzPts val="1600"/>
              <a:buFont typeface="Courier New"/>
              <a:buChar char="o"/>
              <a:defRPr sz="1600" b="0" i="0" u="none" strike="noStrike" cap="none">
                <a:solidFill>
                  <a:schemeClr val="dk1"/>
                </a:solidFill>
                <a:latin typeface="Helvetica Neue"/>
                <a:ea typeface="Helvetica Neue"/>
                <a:cs typeface="Helvetica Neue"/>
                <a:sym typeface="Helvetica Neue"/>
              </a:defRPr>
            </a:lvl2pPr>
            <a:lvl3pPr marL="1371600" marR="0" lvl="2" indent="-304800" algn="just" rtl="0">
              <a:lnSpc>
                <a:spcPct val="150000"/>
              </a:lnSpc>
              <a:spcBef>
                <a:spcPts val="560"/>
              </a:spcBef>
              <a:spcAft>
                <a:spcPts val="0"/>
              </a:spcAft>
              <a:buClr>
                <a:srgbClr val="009900"/>
              </a:buClr>
              <a:buSzPts val="1200"/>
              <a:buFont typeface="Arimo"/>
              <a:buChar char="4"/>
              <a:defRPr sz="1600" b="0" i="0" u="none" strike="noStrike" cap="none">
                <a:solidFill>
                  <a:schemeClr val="dk1"/>
                </a:solidFill>
                <a:latin typeface="Helvetica Neue"/>
                <a:ea typeface="Helvetica Neue"/>
                <a:cs typeface="Helvetica Neue"/>
                <a:sym typeface="Helvetica Neue"/>
              </a:defRPr>
            </a:lvl3pPr>
            <a:lvl4pPr marL="1828800" marR="0" lvl="3" indent="-304800" algn="just" rtl="0">
              <a:lnSpc>
                <a:spcPct val="150000"/>
              </a:lnSpc>
              <a:spcBef>
                <a:spcPts val="560"/>
              </a:spcBef>
              <a:spcAft>
                <a:spcPts val="0"/>
              </a:spcAft>
              <a:buClr>
                <a:schemeClr val="hlink"/>
              </a:buClr>
              <a:buSzPts val="1200"/>
              <a:buFont typeface="Helvetica Neue"/>
              <a:buChar char="–"/>
              <a:defRPr sz="1600" b="0" i="0" u="none" strike="noStrike" cap="none">
                <a:solidFill>
                  <a:schemeClr val="dk1"/>
                </a:solidFill>
                <a:latin typeface="Helvetica Neue"/>
                <a:ea typeface="Helvetica Neue"/>
                <a:cs typeface="Helvetica Neue"/>
                <a:sym typeface="Helvetica Neue"/>
              </a:defRPr>
            </a:lvl4pPr>
            <a:lvl5pPr marL="2286000" marR="0" lvl="4" indent="-304800" algn="just" rtl="0">
              <a:lnSpc>
                <a:spcPct val="150000"/>
              </a:lnSpc>
              <a:spcBef>
                <a:spcPts val="560"/>
              </a:spcBef>
              <a:spcAft>
                <a:spcPts val="0"/>
              </a:spcAft>
              <a:buClr>
                <a:srgbClr val="FF0066"/>
              </a:buClr>
              <a:buSzPts val="1200"/>
              <a:buFont typeface="Helvetica Neue"/>
              <a:buChar char="»"/>
              <a:defRPr sz="1600" b="0" i="0" u="none" strike="noStrike" cap="none">
                <a:solidFill>
                  <a:schemeClr val="dk1"/>
                </a:solidFill>
                <a:latin typeface="Helvetica Neue"/>
                <a:ea typeface="Helvetica Neue"/>
                <a:cs typeface="Helvetica Neue"/>
                <a:sym typeface="Helvetica Neue"/>
              </a:defRPr>
            </a:lvl5pPr>
            <a:lvl6pPr marL="2743200" marR="0" lvl="5"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6pPr>
            <a:lvl7pPr marL="3200400" marR="0" lvl="6"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7pPr>
            <a:lvl8pPr marL="3657600" marR="0" lvl="7"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8pPr>
            <a:lvl9pPr marL="4114800" marR="0" lvl="8"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9pPr>
          </a:lstStyle>
          <a:p>
            <a:endParaRPr/>
          </a:p>
        </p:txBody>
      </p:sp>
      <p:sp>
        <p:nvSpPr>
          <p:cNvPr id="53" name="Google Shape;53;p13"/>
          <p:cNvSpPr txBox="1"/>
          <p:nvPr/>
        </p:nvSpPr>
        <p:spPr>
          <a:xfrm>
            <a:off x="4259263" y="4594622"/>
            <a:ext cx="1928812" cy="1845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000" b="1" i="0" u="none" strike="noStrike" cap="none">
                <a:solidFill>
                  <a:schemeClr val="lt1"/>
                </a:solidFill>
                <a:latin typeface="Helvetica Neue"/>
                <a:ea typeface="Helvetica Neue"/>
                <a:cs typeface="Helvetica Neue"/>
                <a:sym typeface="Helvetica Neue"/>
              </a:rPr>
              <a:t>Wednesday, November 12, 2025</a:t>
            </a:r>
            <a:endParaRPr sz="1000" b="1" i="0" u="none" strike="noStrike" cap="none">
              <a:solidFill>
                <a:schemeClr val="lt1"/>
              </a:solidFill>
              <a:latin typeface="Helvetica Neue"/>
              <a:ea typeface="Helvetica Neue"/>
              <a:cs typeface="Helvetica Neue"/>
              <a:sym typeface="Helvetica Neue"/>
            </a:endParaRPr>
          </a:p>
        </p:txBody>
      </p:sp>
      <p:pic>
        <p:nvPicPr>
          <p:cNvPr id="54" name="Google Shape;54;p13" descr="JUIT Office Photos | Glassdoor"/>
          <p:cNvPicPr preferRelativeResize="0"/>
          <p:nvPr/>
        </p:nvPicPr>
        <p:blipFill rotWithShape="1">
          <a:blip r:embed="rId4">
            <a:alphaModFix/>
          </a:blip>
          <a:srcRect/>
          <a:stretch/>
        </p:blipFill>
        <p:spPr>
          <a:xfrm>
            <a:off x="8349072" y="32176"/>
            <a:ext cx="815248" cy="509257"/>
          </a:xfrm>
          <a:prstGeom prst="rect">
            <a:avLst/>
          </a:prstGeom>
          <a:noFill/>
          <a:ln>
            <a:noFill/>
          </a:ln>
        </p:spPr>
      </p:pic>
      <p:sp>
        <p:nvSpPr>
          <p:cNvPr id="55" name="Google Shape;55;p13"/>
          <p:cNvSpPr txBox="1"/>
          <p:nvPr/>
        </p:nvSpPr>
        <p:spPr>
          <a:xfrm>
            <a:off x="123673" y="5015421"/>
            <a:ext cx="8694256" cy="146543"/>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GB" sz="950" b="0" i="0" u="none" strike="noStrike" cap="none">
                <a:solidFill>
                  <a:srgbClr val="002060"/>
                </a:solidFill>
                <a:latin typeface="Palatino"/>
                <a:ea typeface="Palatino"/>
                <a:cs typeface="Palatino"/>
                <a:sym typeface="Palatino"/>
              </a:rPr>
              <a:t>       </a:t>
            </a:r>
            <a:r>
              <a:rPr lang="en-GB" sz="900" b="0" i="0" u="none" strike="noStrike" cap="none">
                <a:solidFill>
                  <a:srgbClr val="002060"/>
                </a:solidFill>
                <a:latin typeface="Palatino"/>
                <a:ea typeface="Palatino"/>
                <a:cs typeface="Palatino"/>
                <a:sym typeface="Palatino"/>
              </a:rPr>
              <a:t>Major Project – I (18B19CI791) End-Term Evaluation (ETE) | Department of CSE &amp; IT | AY 2025-26. </a:t>
            </a:r>
            <a:endParaRPr/>
          </a:p>
        </p:txBody>
      </p:sp>
      <p:sp>
        <p:nvSpPr>
          <p:cNvPr id="56" name="Google Shape;56;p13"/>
          <p:cNvSpPr txBox="1"/>
          <p:nvPr/>
        </p:nvSpPr>
        <p:spPr>
          <a:xfrm>
            <a:off x="8798560" y="4960434"/>
            <a:ext cx="259243" cy="184546"/>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950" b="0" i="0" u="none" strike="noStrike" cap="none">
              <a:solidFill>
                <a:srgbClr val="002060"/>
              </a:solidFill>
              <a:latin typeface="Palatino"/>
              <a:ea typeface="Palatino"/>
              <a:cs typeface="Palatino"/>
              <a:sym typeface="Palatino"/>
            </a:endParaRPr>
          </a:p>
        </p:txBody>
      </p:sp>
      <p:sp>
        <p:nvSpPr>
          <p:cNvPr id="57" name="Google Shape;57;p13"/>
          <p:cNvSpPr txBox="1"/>
          <p:nvPr/>
        </p:nvSpPr>
        <p:spPr>
          <a:xfrm>
            <a:off x="8798560" y="4983293"/>
            <a:ext cx="365760" cy="1731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GB" sz="900" b="0" i="0" u="none" strike="noStrike" cap="none">
                <a:solidFill>
                  <a:srgbClr val="005493"/>
                </a:solidFill>
                <a:latin typeface="Palatino"/>
                <a:ea typeface="Palatino"/>
                <a:cs typeface="Palatino"/>
                <a:sym typeface="Palatino"/>
              </a:rPr>
              <a:t>‹#›</a:t>
            </a:fld>
            <a:r>
              <a:rPr lang="en-GB" sz="900" b="0" i="0" u="none" strike="noStrike" cap="none">
                <a:solidFill>
                  <a:srgbClr val="005493"/>
                </a:solidFill>
                <a:latin typeface="Palatino"/>
                <a:ea typeface="Palatino"/>
                <a:cs typeface="Palatino"/>
                <a:sym typeface="Palatino"/>
              </a:rPr>
              <a:t>.</a:t>
            </a:r>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mermaid.js"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meghnamankotia/PA-major"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6"/>
          <p:cNvSpPr txBox="1">
            <a:spLocks noGrp="1"/>
          </p:cNvSpPr>
          <p:nvPr>
            <p:ph type="ctrTitle"/>
          </p:nvPr>
        </p:nvSpPr>
        <p:spPr>
          <a:xfrm>
            <a:off x="0" y="2633535"/>
            <a:ext cx="9144000" cy="569903"/>
          </a:xfrm>
          <a:prstGeom prst="rect">
            <a:avLst/>
          </a:prstGeom>
          <a:solidFill>
            <a:srgbClr val="0037A4"/>
          </a:solidFill>
          <a:ln w="1905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Font typeface="Arial"/>
              <a:buNone/>
            </a:pPr>
            <a:r>
              <a:rPr lang="en-GB" sz="2800"/>
              <a:t>MCP and Custom tools enabled Personal Assistant</a:t>
            </a:r>
            <a:endParaRPr sz="1400"/>
          </a:p>
          <a:p>
            <a:pPr marL="0" lvl="0" indent="0" algn="ctr" rtl="0">
              <a:lnSpc>
                <a:spcPct val="150000"/>
              </a:lnSpc>
              <a:spcBef>
                <a:spcPts val="0"/>
              </a:spcBef>
              <a:spcAft>
                <a:spcPts val="0"/>
              </a:spcAft>
              <a:buNone/>
            </a:pPr>
            <a:endParaRPr sz="2800"/>
          </a:p>
        </p:txBody>
      </p:sp>
      <p:sp>
        <p:nvSpPr>
          <p:cNvPr id="69" name="Google Shape;69;p16"/>
          <p:cNvSpPr/>
          <p:nvPr/>
        </p:nvSpPr>
        <p:spPr>
          <a:xfrm>
            <a:off x="1457427" y="1581068"/>
            <a:ext cx="6229141" cy="802143"/>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r>
              <a:rPr lang="en-GB" sz="2000" b="1" i="0" u="none" strike="noStrike" cap="none" dirty="0">
                <a:solidFill>
                  <a:schemeClr val="dk1"/>
                </a:solidFill>
                <a:latin typeface="Palatino"/>
                <a:ea typeface="Palatino"/>
                <a:cs typeface="Palatino"/>
                <a:sym typeface="Palatino"/>
              </a:rPr>
              <a:t>Major Project - I (18B19CI791) | AY 2025-26</a:t>
            </a:r>
            <a:endParaRPr sz="1200" dirty="0"/>
          </a:p>
          <a:p>
            <a:pPr marL="0" marR="0" lvl="0" indent="0" algn="ctr" rtl="0">
              <a:lnSpc>
                <a:spcPct val="150000"/>
              </a:lnSpc>
              <a:spcBef>
                <a:spcPts val="0"/>
              </a:spcBef>
              <a:spcAft>
                <a:spcPts val="0"/>
              </a:spcAft>
              <a:buNone/>
            </a:pPr>
            <a:r>
              <a:rPr lang="en-GB" sz="1800" b="1" i="0" u="none" strike="noStrike" cap="none" dirty="0">
                <a:solidFill>
                  <a:schemeClr val="dk1"/>
                </a:solidFill>
                <a:latin typeface="Palatino"/>
                <a:ea typeface="Palatino"/>
                <a:cs typeface="Palatino"/>
                <a:sym typeface="Palatino"/>
              </a:rPr>
              <a:t>End-Term Evaluation | December 2025.</a:t>
            </a:r>
            <a:endParaRPr sz="1200" dirty="0"/>
          </a:p>
        </p:txBody>
      </p:sp>
      <p:pic>
        <p:nvPicPr>
          <p:cNvPr id="70" name="Google Shape;70;p16"/>
          <p:cNvPicPr preferRelativeResize="0"/>
          <p:nvPr/>
        </p:nvPicPr>
        <p:blipFill rotWithShape="1">
          <a:blip r:embed="rId3">
            <a:alphaModFix/>
          </a:blip>
          <a:srcRect/>
          <a:stretch/>
        </p:blipFill>
        <p:spPr>
          <a:xfrm>
            <a:off x="6852492" y="-123940"/>
            <a:ext cx="1178805" cy="671875"/>
          </a:xfrm>
          <a:prstGeom prst="rect">
            <a:avLst/>
          </a:prstGeom>
          <a:noFill/>
          <a:ln>
            <a:noFill/>
          </a:ln>
        </p:spPr>
      </p:pic>
      <p:pic>
        <p:nvPicPr>
          <p:cNvPr id="71" name="Google Shape;71;p16"/>
          <p:cNvPicPr preferRelativeResize="0"/>
          <p:nvPr/>
        </p:nvPicPr>
        <p:blipFill rotWithShape="1">
          <a:blip r:embed="rId4">
            <a:alphaModFix/>
          </a:blip>
          <a:srcRect/>
          <a:stretch/>
        </p:blipFill>
        <p:spPr>
          <a:xfrm>
            <a:off x="8054901" y="120318"/>
            <a:ext cx="1015707" cy="259119"/>
          </a:xfrm>
          <a:prstGeom prst="rect">
            <a:avLst/>
          </a:prstGeom>
          <a:noFill/>
          <a:ln>
            <a:noFill/>
          </a:ln>
        </p:spPr>
      </p:pic>
      <p:pic>
        <p:nvPicPr>
          <p:cNvPr id="72" name="Google Shape;72;p16" descr="JUIT Office Photos | Glassdoor"/>
          <p:cNvPicPr preferRelativeResize="0"/>
          <p:nvPr/>
        </p:nvPicPr>
        <p:blipFill rotWithShape="1">
          <a:blip r:embed="rId5">
            <a:alphaModFix/>
          </a:blip>
          <a:srcRect/>
          <a:stretch/>
        </p:blipFill>
        <p:spPr>
          <a:xfrm>
            <a:off x="11017" y="70007"/>
            <a:ext cx="815248" cy="509257"/>
          </a:xfrm>
          <a:prstGeom prst="rect">
            <a:avLst/>
          </a:prstGeom>
          <a:noFill/>
          <a:ln>
            <a:noFill/>
          </a:ln>
        </p:spPr>
      </p:pic>
      <p:sp>
        <p:nvSpPr>
          <p:cNvPr id="73" name="Google Shape;73;p16"/>
          <p:cNvSpPr txBox="1"/>
          <p:nvPr/>
        </p:nvSpPr>
        <p:spPr>
          <a:xfrm>
            <a:off x="-2" y="451021"/>
            <a:ext cx="9144000" cy="1058464"/>
          </a:xfrm>
          <a:prstGeom prst="rect">
            <a:avLst/>
          </a:prstGeom>
          <a:noFill/>
          <a:ln>
            <a:noFill/>
          </a:ln>
        </p:spPr>
        <p:txBody>
          <a:bodyPr spcFirstLastPara="1" wrap="square" lIns="91425" tIns="45700" rIns="91425" bIns="45700" anchor="b" anchorCtr="0">
            <a:noAutofit/>
          </a:bodyPr>
          <a:lstStyle/>
          <a:p>
            <a:pPr marL="0" marR="0" lvl="0" indent="0" algn="ctr" rtl="0">
              <a:lnSpc>
                <a:spcPct val="121428"/>
              </a:lnSpc>
              <a:spcBef>
                <a:spcPts val="0"/>
              </a:spcBef>
              <a:spcAft>
                <a:spcPts val="0"/>
              </a:spcAft>
              <a:buNone/>
            </a:pPr>
            <a:r>
              <a:rPr lang="en-GB" sz="2800" b="1" i="0" u="none" strike="noStrike">
                <a:solidFill>
                  <a:srgbClr val="000099"/>
                </a:solidFill>
                <a:latin typeface="Palatino"/>
                <a:ea typeface="Palatino"/>
                <a:cs typeface="Palatino"/>
                <a:sym typeface="Palatino"/>
              </a:rPr>
              <a:t>Jaypee University of Information Technology</a:t>
            </a:r>
            <a:endParaRPr/>
          </a:p>
          <a:p>
            <a:pPr marL="0" marR="0" lvl="0" indent="0" algn="ctr" rtl="0">
              <a:lnSpc>
                <a:spcPct val="130769"/>
              </a:lnSpc>
              <a:spcBef>
                <a:spcPts val="0"/>
              </a:spcBef>
              <a:spcAft>
                <a:spcPts val="0"/>
              </a:spcAft>
              <a:buClr>
                <a:srgbClr val="000099"/>
              </a:buClr>
              <a:buSzPts val="2600"/>
              <a:buFont typeface="Palatino"/>
              <a:buNone/>
            </a:pPr>
            <a:r>
              <a:rPr lang="en-GB" sz="2600" b="1" i="0" u="none" strike="noStrike">
                <a:solidFill>
                  <a:srgbClr val="000099"/>
                </a:solidFill>
                <a:latin typeface="Palatino"/>
                <a:ea typeface="Palatino"/>
                <a:cs typeface="Palatino"/>
                <a:sym typeface="Palatino"/>
              </a:rPr>
              <a:t>Department of Computer Science and Engineering and Information Technology</a:t>
            </a:r>
            <a:endParaRPr sz="2600" b="1" i="0" u="none" strike="noStrike">
              <a:solidFill>
                <a:srgbClr val="002060"/>
              </a:solidFill>
              <a:latin typeface="Palatino"/>
              <a:ea typeface="Palatino"/>
              <a:cs typeface="Palatino"/>
              <a:sym typeface="Palatino"/>
            </a:endParaRPr>
          </a:p>
        </p:txBody>
      </p:sp>
      <p:sp>
        <p:nvSpPr>
          <p:cNvPr id="74" name="Google Shape;74;p16"/>
          <p:cNvSpPr txBox="1"/>
          <p:nvPr/>
        </p:nvSpPr>
        <p:spPr>
          <a:xfrm>
            <a:off x="494473" y="3136967"/>
            <a:ext cx="3620700" cy="2231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700" b="1" i="0" u="none" strike="noStrike" cap="none" dirty="0">
                <a:solidFill>
                  <a:srgbClr val="000000"/>
                </a:solidFill>
                <a:latin typeface="Helvetica Neue"/>
                <a:ea typeface="Helvetica Neue"/>
                <a:cs typeface="Helvetica Neue"/>
                <a:sym typeface="Helvetica Neue"/>
              </a:rPr>
              <a:t>Group No.: 44</a:t>
            </a:r>
            <a:endParaRPr sz="1300" dirty="0"/>
          </a:p>
          <a:p>
            <a:pPr marL="0" marR="0" lvl="0" indent="0" algn="l" rtl="0">
              <a:spcBef>
                <a:spcPts val="0"/>
              </a:spcBef>
              <a:spcAft>
                <a:spcPts val="0"/>
              </a:spcAft>
              <a:buNone/>
            </a:pPr>
            <a:endParaRPr sz="1500" dirty="0">
              <a:solidFill>
                <a:srgbClr val="000000"/>
              </a:solidFill>
              <a:latin typeface="Helvetica Neue"/>
              <a:ea typeface="Helvetica Neue"/>
              <a:cs typeface="Helvetica Neue"/>
              <a:sym typeface="Helvetica Neue"/>
            </a:endParaRPr>
          </a:p>
          <a:p>
            <a:pPr marL="0" marR="0" lvl="0" indent="0" algn="l" rtl="0">
              <a:lnSpc>
                <a:spcPct val="114000"/>
              </a:lnSpc>
              <a:spcBef>
                <a:spcPts val="0"/>
              </a:spcBef>
              <a:spcAft>
                <a:spcPts val="0"/>
              </a:spcAft>
              <a:buNone/>
            </a:pPr>
            <a:r>
              <a:rPr lang="en-GB" b="1" dirty="0">
                <a:solidFill>
                  <a:srgbClr val="000000"/>
                </a:solidFill>
                <a:latin typeface="Helvetica Neue"/>
                <a:ea typeface="Helvetica Neue"/>
                <a:cs typeface="Helvetica Neue"/>
                <a:sym typeface="Helvetica Neue"/>
              </a:rPr>
              <a:t>Team Member (s)</a:t>
            </a:r>
            <a:endParaRPr b="1" dirty="0">
              <a:solidFill>
                <a:srgbClr val="000000"/>
              </a:solidFill>
              <a:latin typeface="Helvetica Neue"/>
              <a:ea typeface="Helvetica Neue"/>
              <a:cs typeface="Helvetica Neue"/>
              <a:sym typeface="Helvetica Neue"/>
            </a:endParaRPr>
          </a:p>
          <a:p>
            <a:pPr marL="285750" marR="0" lvl="0" indent="-273050" algn="l" rtl="0">
              <a:lnSpc>
                <a:spcPct val="125000"/>
              </a:lnSpc>
              <a:spcBef>
                <a:spcPts val="1200"/>
              </a:spcBef>
              <a:spcAft>
                <a:spcPts val="0"/>
              </a:spcAft>
              <a:buClr>
                <a:srgbClr val="000000"/>
              </a:buClr>
              <a:buSzPts val="1300"/>
              <a:buFont typeface="Arial"/>
              <a:buChar char="•"/>
            </a:pPr>
            <a:r>
              <a:rPr lang="en-GB" sz="1300" dirty="0" err="1">
                <a:solidFill>
                  <a:srgbClr val="000000"/>
                </a:solidFill>
                <a:latin typeface="Tahoma"/>
                <a:ea typeface="Tahoma"/>
                <a:cs typeface="Tahoma"/>
                <a:sym typeface="Tahoma"/>
              </a:rPr>
              <a:t>Meghna</a:t>
            </a:r>
            <a:r>
              <a:rPr lang="en-GB" sz="1300" dirty="0">
                <a:solidFill>
                  <a:srgbClr val="000000"/>
                </a:solidFill>
                <a:latin typeface="Tahoma"/>
                <a:ea typeface="Tahoma"/>
                <a:cs typeface="Tahoma"/>
                <a:sym typeface="Tahoma"/>
              </a:rPr>
              <a:t> </a:t>
            </a:r>
            <a:r>
              <a:rPr lang="en-GB" sz="1300" dirty="0" err="1">
                <a:solidFill>
                  <a:srgbClr val="000000"/>
                </a:solidFill>
                <a:latin typeface="Tahoma"/>
                <a:ea typeface="Tahoma"/>
                <a:cs typeface="Tahoma"/>
                <a:sym typeface="Tahoma"/>
              </a:rPr>
              <a:t>Mankotia</a:t>
            </a:r>
            <a:r>
              <a:rPr lang="en-GB" sz="1300" dirty="0">
                <a:solidFill>
                  <a:srgbClr val="000000"/>
                </a:solidFill>
                <a:latin typeface="Tahoma"/>
                <a:ea typeface="Tahoma"/>
                <a:cs typeface="Tahoma"/>
                <a:sym typeface="Tahoma"/>
              </a:rPr>
              <a:t> (221030146) </a:t>
            </a:r>
            <a:endParaRPr sz="1200" dirty="0"/>
          </a:p>
          <a:p>
            <a:pPr marL="285750" marR="0" lvl="0" indent="-273050" algn="l" rtl="0">
              <a:lnSpc>
                <a:spcPct val="125000"/>
              </a:lnSpc>
              <a:spcBef>
                <a:spcPts val="0"/>
              </a:spcBef>
              <a:spcAft>
                <a:spcPts val="0"/>
              </a:spcAft>
              <a:buClr>
                <a:srgbClr val="000000"/>
              </a:buClr>
              <a:buSzPts val="1300"/>
              <a:buFont typeface="Arial"/>
              <a:buChar char="•"/>
            </a:pPr>
            <a:r>
              <a:rPr lang="en-GB" sz="1300" dirty="0" err="1">
                <a:solidFill>
                  <a:srgbClr val="000000"/>
                </a:solidFill>
                <a:latin typeface="Tahoma"/>
                <a:ea typeface="Tahoma"/>
                <a:cs typeface="Tahoma"/>
                <a:sym typeface="Tahoma"/>
              </a:rPr>
              <a:t>Nikhilesh</a:t>
            </a:r>
            <a:r>
              <a:rPr lang="en-GB" sz="1300" dirty="0">
                <a:solidFill>
                  <a:srgbClr val="000000"/>
                </a:solidFill>
                <a:latin typeface="Tahoma"/>
                <a:ea typeface="Tahoma"/>
                <a:cs typeface="Tahoma"/>
                <a:sym typeface="Tahoma"/>
              </a:rPr>
              <a:t> Sharma (221030003)</a:t>
            </a:r>
            <a:endParaRPr sz="1200" dirty="0"/>
          </a:p>
          <a:p>
            <a:pPr marL="285750" marR="0" lvl="0" indent="-273050" algn="l" rtl="0">
              <a:lnSpc>
                <a:spcPct val="125000"/>
              </a:lnSpc>
              <a:spcBef>
                <a:spcPts val="0"/>
              </a:spcBef>
              <a:spcAft>
                <a:spcPts val="0"/>
              </a:spcAft>
              <a:buClr>
                <a:srgbClr val="000000"/>
              </a:buClr>
              <a:buSzPts val="1300"/>
              <a:buFont typeface="Arial"/>
              <a:buChar char="•"/>
            </a:pPr>
            <a:r>
              <a:rPr lang="en-GB" sz="1300" dirty="0" err="1">
                <a:solidFill>
                  <a:srgbClr val="000000"/>
                </a:solidFill>
                <a:latin typeface="Tahoma"/>
                <a:ea typeface="Tahoma"/>
                <a:cs typeface="Tahoma"/>
                <a:sym typeface="Tahoma"/>
              </a:rPr>
              <a:t>Shashvat</a:t>
            </a:r>
            <a:r>
              <a:rPr lang="en-GB" sz="1300" dirty="0">
                <a:solidFill>
                  <a:srgbClr val="000000"/>
                </a:solidFill>
                <a:latin typeface="Tahoma"/>
                <a:ea typeface="Tahoma"/>
                <a:cs typeface="Tahoma"/>
                <a:sym typeface="Tahoma"/>
              </a:rPr>
              <a:t> (221030117)</a:t>
            </a:r>
            <a:endParaRPr sz="1200" dirty="0"/>
          </a:p>
          <a:p>
            <a:pPr marL="285750" marR="0" lvl="0" indent="-273050" algn="l" rtl="0">
              <a:lnSpc>
                <a:spcPct val="125000"/>
              </a:lnSpc>
              <a:spcBef>
                <a:spcPts val="0"/>
              </a:spcBef>
              <a:spcAft>
                <a:spcPts val="0"/>
              </a:spcAft>
              <a:buClr>
                <a:srgbClr val="000000"/>
              </a:buClr>
              <a:buSzPts val="1300"/>
              <a:buFont typeface="Arial"/>
              <a:buChar char="•"/>
            </a:pPr>
            <a:r>
              <a:rPr lang="en-GB" sz="1300" dirty="0" err="1">
                <a:solidFill>
                  <a:srgbClr val="000000"/>
                </a:solidFill>
                <a:latin typeface="Tahoma"/>
                <a:ea typeface="Tahoma"/>
                <a:cs typeface="Tahoma"/>
                <a:sym typeface="Tahoma"/>
              </a:rPr>
              <a:t>Yuvraj</a:t>
            </a:r>
            <a:r>
              <a:rPr lang="en-GB" sz="1300" dirty="0">
                <a:solidFill>
                  <a:srgbClr val="000000"/>
                </a:solidFill>
                <a:latin typeface="Tahoma"/>
                <a:ea typeface="Tahoma"/>
                <a:cs typeface="Tahoma"/>
                <a:sym typeface="Tahoma"/>
              </a:rPr>
              <a:t> Saini (221030233)</a:t>
            </a:r>
            <a:endParaRPr sz="1200" dirty="0"/>
          </a:p>
          <a:p>
            <a:pPr marL="0" marR="0" lvl="0" indent="0" algn="ctr" rtl="0">
              <a:spcBef>
                <a:spcPts val="0"/>
              </a:spcBef>
              <a:spcAft>
                <a:spcPts val="0"/>
              </a:spcAft>
              <a:buNone/>
            </a:pPr>
            <a:endParaRPr sz="1600" dirty="0">
              <a:solidFill>
                <a:srgbClr val="000000"/>
              </a:solidFill>
              <a:latin typeface="Helvetica Neue"/>
              <a:ea typeface="Helvetica Neue"/>
              <a:cs typeface="Helvetica Neue"/>
              <a:sym typeface="Helvetica Neue"/>
            </a:endParaRPr>
          </a:p>
        </p:txBody>
      </p:sp>
      <p:sp>
        <p:nvSpPr>
          <p:cNvPr id="75" name="Google Shape;75;p16"/>
          <p:cNvSpPr txBox="1"/>
          <p:nvPr/>
        </p:nvSpPr>
        <p:spPr>
          <a:xfrm>
            <a:off x="4871438" y="3780772"/>
            <a:ext cx="4118400" cy="91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b="1" dirty="0">
                <a:solidFill>
                  <a:schemeClr val="dk1"/>
                </a:solidFill>
                <a:latin typeface="Helvetica Neue"/>
                <a:ea typeface="Helvetica Neue"/>
                <a:cs typeface="Helvetica Neue"/>
                <a:sym typeface="Helvetica Neue"/>
              </a:rPr>
              <a:t>Supervisor</a:t>
            </a:r>
            <a:endParaRPr sz="1200" dirty="0"/>
          </a:p>
          <a:p>
            <a:pPr marL="342900" marR="0" lvl="0" indent="-330200" algn="l" rtl="0">
              <a:lnSpc>
                <a:spcPct val="125000"/>
              </a:lnSpc>
              <a:spcBef>
                <a:spcPts val="1200"/>
              </a:spcBef>
              <a:spcAft>
                <a:spcPts val="0"/>
              </a:spcAft>
              <a:buClr>
                <a:schemeClr val="dk1"/>
              </a:buClr>
              <a:buSzPts val="1300"/>
              <a:buFont typeface="Arial"/>
              <a:buChar char="•"/>
            </a:pPr>
            <a:r>
              <a:rPr lang="en-GB" sz="1300" dirty="0">
                <a:solidFill>
                  <a:schemeClr val="dk1"/>
                </a:solidFill>
                <a:latin typeface="Tahoma"/>
                <a:ea typeface="Tahoma"/>
                <a:cs typeface="Tahoma"/>
                <a:sym typeface="Tahoma"/>
              </a:rPr>
              <a:t>Name: </a:t>
            </a:r>
            <a:r>
              <a:rPr lang="en-GB" sz="1300" dirty="0" err="1">
                <a:solidFill>
                  <a:schemeClr val="dk1"/>
                </a:solidFill>
                <a:latin typeface="Tahoma"/>
                <a:ea typeface="Tahoma"/>
                <a:cs typeface="Tahoma"/>
                <a:sym typeface="Tahoma"/>
              </a:rPr>
              <a:t>Prof.</a:t>
            </a:r>
            <a:r>
              <a:rPr lang="en-GB" sz="1300" dirty="0">
                <a:solidFill>
                  <a:schemeClr val="dk1"/>
                </a:solidFill>
                <a:latin typeface="Tahoma"/>
                <a:ea typeface="Tahoma"/>
                <a:cs typeface="Tahoma"/>
                <a:sym typeface="Tahoma"/>
              </a:rPr>
              <a:t> </a:t>
            </a:r>
            <a:r>
              <a:rPr lang="en-GB" sz="1300" dirty="0" err="1">
                <a:solidFill>
                  <a:schemeClr val="dk1"/>
                </a:solidFill>
                <a:latin typeface="Tahoma"/>
                <a:ea typeface="Tahoma"/>
                <a:cs typeface="Tahoma"/>
                <a:sym typeface="Tahoma"/>
              </a:rPr>
              <a:t>Dr.</a:t>
            </a:r>
            <a:r>
              <a:rPr lang="en-GB" sz="1300" dirty="0">
                <a:solidFill>
                  <a:schemeClr val="dk1"/>
                </a:solidFill>
                <a:latin typeface="Tahoma"/>
                <a:ea typeface="Tahoma"/>
                <a:cs typeface="Tahoma"/>
                <a:sym typeface="Tahoma"/>
              </a:rPr>
              <a:t> Pradeep Kumar Gupta</a:t>
            </a:r>
            <a:endParaRPr sz="1200" dirty="0"/>
          </a:p>
          <a:p>
            <a:pPr marL="357188" marR="0" lvl="0" indent="0" algn="l" rtl="0">
              <a:lnSpc>
                <a:spcPct val="125000"/>
              </a:lnSpc>
              <a:spcBef>
                <a:spcPts val="0"/>
              </a:spcBef>
              <a:spcAft>
                <a:spcPts val="0"/>
              </a:spcAft>
              <a:buNone/>
            </a:pPr>
            <a:r>
              <a:rPr lang="en-GB" sz="1300" dirty="0">
                <a:solidFill>
                  <a:schemeClr val="dk1"/>
                </a:solidFill>
                <a:latin typeface="Tahoma"/>
                <a:ea typeface="Tahoma"/>
                <a:cs typeface="Tahoma"/>
                <a:sym typeface="Tahoma"/>
              </a:rPr>
              <a:t>Designation: Professor, Department of CSE &amp; IT </a:t>
            </a: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p:nvPr/>
        </p:nvSpPr>
        <p:spPr>
          <a:xfrm>
            <a:off x="77118" y="603173"/>
            <a:ext cx="4153359" cy="4346155"/>
          </a:xfrm>
          <a:prstGeom prst="rect">
            <a:avLst/>
          </a:prstGeom>
          <a:noFill/>
          <a:ln>
            <a:noFill/>
          </a:ln>
        </p:spPr>
        <p:txBody>
          <a:bodyPr spcFirstLastPara="1" wrap="square" lIns="91425" tIns="45700" rIns="91425" bIns="45700" anchor="t" anchorCtr="0">
            <a:noAutofit/>
          </a:bodyPr>
          <a:lstStyle/>
          <a:p>
            <a:pPr marL="357188" marR="0" lvl="0" indent="-236538" algn="just" rtl="0">
              <a:lnSpc>
                <a:spcPct val="140000"/>
              </a:lnSpc>
              <a:spcBef>
                <a:spcPts val="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Introduction</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Problem Statement</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Objectives</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Literature Review</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Work Done (after Mid-Term Evaluation)</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Project Design</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Tools, Technologies and Languages</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Dataset</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Implementation</a:t>
            </a:r>
            <a:endParaRPr sz="1000"/>
          </a:p>
          <a:p>
            <a:pPr marL="357188" marR="0" lvl="0" indent="-236538" algn="just" rtl="0">
              <a:lnSpc>
                <a:spcPct val="140000"/>
              </a:lnSpc>
              <a:spcBef>
                <a:spcPts val="560"/>
              </a:spcBef>
              <a:spcAft>
                <a:spcPts val="0"/>
              </a:spcAft>
              <a:buClr>
                <a:schemeClr val="dk1"/>
              </a:buClr>
              <a:buSzPts val="1600"/>
              <a:buFont typeface="Arial"/>
              <a:buChar char="•"/>
            </a:pPr>
            <a:r>
              <a:rPr lang="en-GB" sz="1200">
                <a:solidFill>
                  <a:schemeClr val="dk1"/>
                </a:solidFill>
                <a:latin typeface="Helvetica Neue"/>
                <a:ea typeface="Helvetica Neue"/>
                <a:cs typeface="Helvetica Neue"/>
                <a:sym typeface="Helvetica Neue"/>
              </a:rPr>
              <a:t>Experimental Results and Evaluation</a:t>
            </a:r>
            <a:endParaRPr sz="1000"/>
          </a:p>
          <a:p>
            <a:pPr marL="0" marR="0" lvl="0" indent="0" algn="just" rtl="0">
              <a:lnSpc>
                <a:spcPct val="140000"/>
              </a:lnSpc>
              <a:spcBef>
                <a:spcPts val="560"/>
              </a:spcBef>
              <a:spcAft>
                <a:spcPts val="0"/>
              </a:spcAft>
              <a:buNone/>
            </a:pPr>
            <a:endParaRPr sz="600"/>
          </a:p>
          <a:p>
            <a:pPr marL="357188" marR="0" lvl="0" indent="-134938" algn="just" rtl="0">
              <a:lnSpc>
                <a:spcPct val="140000"/>
              </a:lnSpc>
              <a:spcBef>
                <a:spcPts val="560"/>
              </a:spcBef>
              <a:spcAft>
                <a:spcPts val="0"/>
              </a:spcAft>
              <a:buClr>
                <a:schemeClr val="dk1"/>
              </a:buClr>
              <a:buSzPts val="2000"/>
              <a:buFont typeface="Arial"/>
              <a:buNone/>
            </a:pPr>
            <a:endParaRPr sz="800">
              <a:solidFill>
                <a:schemeClr val="dk1"/>
              </a:solidFill>
              <a:latin typeface="Helvetica Neue"/>
              <a:ea typeface="Helvetica Neue"/>
              <a:cs typeface="Helvetica Neue"/>
              <a:sym typeface="Helvetica Neue"/>
            </a:endParaRPr>
          </a:p>
          <a:p>
            <a:pPr marL="0" marR="0" lvl="0" indent="0" algn="just" rtl="0">
              <a:lnSpc>
                <a:spcPct val="150000"/>
              </a:lnSpc>
              <a:spcBef>
                <a:spcPts val="560"/>
              </a:spcBef>
              <a:spcAft>
                <a:spcPts val="0"/>
              </a:spcAft>
              <a:buClr>
                <a:schemeClr val="dk1"/>
              </a:buClr>
              <a:buSzPts val="2000"/>
              <a:buFont typeface="Arial"/>
              <a:buNone/>
            </a:pPr>
            <a:endParaRPr sz="800">
              <a:solidFill>
                <a:schemeClr val="dk1"/>
              </a:solidFill>
              <a:latin typeface="Helvetica Neue"/>
              <a:ea typeface="Helvetica Neue"/>
              <a:cs typeface="Helvetica Neue"/>
              <a:sym typeface="Helvetica Neue"/>
            </a:endParaRPr>
          </a:p>
        </p:txBody>
      </p:sp>
      <p:sp>
        <p:nvSpPr>
          <p:cNvPr id="82" name="Google Shape;82;p17"/>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a:t>Outline</a:t>
            </a:r>
            <a:endParaRPr/>
          </a:p>
        </p:txBody>
      </p:sp>
      <p:sp>
        <p:nvSpPr>
          <p:cNvPr id="83" name="Google Shape;83;p17"/>
          <p:cNvSpPr txBox="1"/>
          <p:nvPr/>
        </p:nvSpPr>
        <p:spPr>
          <a:xfrm>
            <a:off x="5233012" y="603173"/>
            <a:ext cx="3833872" cy="4346155"/>
          </a:xfrm>
          <a:prstGeom prst="rect">
            <a:avLst/>
          </a:prstGeom>
          <a:noFill/>
          <a:ln>
            <a:noFill/>
          </a:ln>
        </p:spPr>
        <p:txBody>
          <a:bodyPr spcFirstLastPara="1" wrap="square" lIns="91425" tIns="45700" rIns="91425" bIns="45700" anchor="t" anchorCtr="0">
            <a:noAutofit/>
          </a:bodyPr>
          <a:lstStyle/>
          <a:p>
            <a:pPr marL="457200" lvl="0" indent="-304800" algn="just" rtl="0">
              <a:lnSpc>
                <a:spcPct val="140000"/>
              </a:lnSpc>
              <a:spcBef>
                <a:spcPts val="560"/>
              </a:spcBef>
              <a:spcAft>
                <a:spcPts val="0"/>
              </a:spcAft>
              <a:buClr>
                <a:schemeClr val="dk1"/>
              </a:buClr>
              <a:buSzPts val="1200"/>
              <a:buFont typeface="Helvetica Neue"/>
              <a:buChar char="•"/>
            </a:pPr>
            <a:r>
              <a:rPr lang="en-GB" sz="1200">
                <a:solidFill>
                  <a:schemeClr val="dk1"/>
                </a:solidFill>
                <a:latin typeface="Helvetica Neue"/>
                <a:ea typeface="Helvetica Neue"/>
                <a:cs typeface="Helvetica Neue"/>
                <a:sym typeface="Helvetica Neue"/>
              </a:rPr>
              <a:t>Key Learnings</a:t>
            </a:r>
            <a:endParaRPr sz="1200">
              <a:solidFill>
                <a:schemeClr val="dk1"/>
              </a:solidFill>
            </a:endParaRPr>
          </a:p>
          <a:p>
            <a:pPr marL="457200" lvl="0" indent="-304800" algn="just" rtl="0">
              <a:lnSpc>
                <a:spcPct val="140000"/>
              </a:lnSpc>
              <a:spcBef>
                <a:spcPts val="0"/>
              </a:spcBef>
              <a:spcAft>
                <a:spcPts val="0"/>
              </a:spcAft>
              <a:buClr>
                <a:schemeClr val="dk1"/>
              </a:buClr>
              <a:buSzPts val="1200"/>
              <a:buFont typeface="Helvetica Neue"/>
              <a:buChar char="•"/>
            </a:pPr>
            <a:r>
              <a:rPr lang="en-GB" sz="1200">
                <a:solidFill>
                  <a:schemeClr val="dk1"/>
                </a:solidFill>
                <a:latin typeface="Helvetica Neue"/>
                <a:ea typeface="Helvetica Neue"/>
                <a:cs typeface="Helvetica Neue"/>
                <a:sym typeface="Helvetica Neue"/>
              </a:rPr>
              <a:t>Work Contribution and Attendance</a:t>
            </a:r>
            <a:endParaRPr sz="1200">
              <a:solidFill>
                <a:schemeClr val="dk1"/>
              </a:solidFill>
            </a:endParaRPr>
          </a:p>
          <a:p>
            <a:pPr marL="457200" lvl="0" indent="-304800" algn="just" rtl="0">
              <a:lnSpc>
                <a:spcPct val="140000"/>
              </a:lnSpc>
              <a:spcBef>
                <a:spcPts val="0"/>
              </a:spcBef>
              <a:spcAft>
                <a:spcPts val="0"/>
              </a:spcAft>
              <a:buClr>
                <a:schemeClr val="dk1"/>
              </a:buClr>
              <a:buSzPts val="1200"/>
              <a:buFont typeface="Helvetica Neue"/>
              <a:buChar char="•"/>
            </a:pPr>
            <a:r>
              <a:rPr lang="en-GB" sz="1200">
                <a:solidFill>
                  <a:schemeClr val="dk1"/>
                </a:solidFill>
                <a:latin typeface="Helvetica Neue"/>
                <a:ea typeface="Helvetica Neue"/>
                <a:cs typeface="Helvetica Neue"/>
                <a:sym typeface="Helvetica Neue"/>
              </a:rPr>
              <a:t>Supervisor Interactions</a:t>
            </a:r>
            <a:endParaRPr sz="1200">
              <a:solidFill>
                <a:schemeClr val="dk1"/>
              </a:solidFill>
              <a:latin typeface="Helvetica Neue"/>
              <a:ea typeface="Helvetica Neue"/>
              <a:cs typeface="Helvetica Neue"/>
              <a:sym typeface="Helvetica Neue"/>
            </a:endParaRPr>
          </a:p>
          <a:p>
            <a:pPr marL="457200" marR="0" lvl="0" indent="-304800" algn="just" rtl="0">
              <a:lnSpc>
                <a:spcPct val="140000"/>
              </a:lnSpc>
              <a:spcBef>
                <a:spcPts val="0"/>
              </a:spcBef>
              <a:spcAft>
                <a:spcPts val="0"/>
              </a:spcAft>
              <a:buClr>
                <a:schemeClr val="dk1"/>
              </a:buClr>
              <a:buSzPts val="1200"/>
              <a:buFont typeface="Helvetica Neue"/>
              <a:buChar char="•"/>
            </a:pPr>
            <a:r>
              <a:rPr lang="en-GB" sz="1200">
                <a:solidFill>
                  <a:schemeClr val="dk1"/>
                </a:solidFill>
                <a:latin typeface="Helvetica Neue"/>
                <a:ea typeface="Helvetica Neue"/>
                <a:cs typeface="Helvetica Neue"/>
                <a:sym typeface="Helvetica Neue"/>
              </a:rPr>
              <a:t>Future Work</a:t>
            </a:r>
            <a:endParaRPr sz="1200"/>
          </a:p>
          <a:p>
            <a:pPr marL="457200" marR="0" lvl="0" indent="-304800" algn="just" rtl="0">
              <a:lnSpc>
                <a:spcPct val="140000"/>
              </a:lnSpc>
              <a:spcBef>
                <a:spcPts val="0"/>
              </a:spcBef>
              <a:spcAft>
                <a:spcPts val="0"/>
              </a:spcAft>
              <a:buClr>
                <a:schemeClr val="dk1"/>
              </a:buClr>
              <a:buSzPts val="1200"/>
              <a:buFont typeface="Helvetica Neue"/>
              <a:buChar char="•"/>
            </a:pPr>
            <a:r>
              <a:rPr lang="en-GB" sz="1200">
                <a:solidFill>
                  <a:schemeClr val="dk1"/>
                </a:solidFill>
                <a:latin typeface="Helvetica Neue"/>
                <a:ea typeface="Helvetica Neue"/>
                <a:cs typeface="Helvetica Neue"/>
                <a:sym typeface="Helvetica Neue"/>
              </a:rPr>
              <a:t>Project Plan</a:t>
            </a:r>
            <a:endParaRPr sz="1200"/>
          </a:p>
          <a:p>
            <a:pPr marL="457200" marR="0" lvl="0" indent="-304800" algn="just" rtl="0">
              <a:lnSpc>
                <a:spcPct val="140000"/>
              </a:lnSpc>
              <a:spcBef>
                <a:spcPts val="0"/>
              </a:spcBef>
              <a:spcAft>
                <a:spcPts val="0"/>
              </a:spcAft>
              <a:buClr>
                <a:schemeClr val="dk1"/>
              </a:buClr>
              <a:buSzPts val="1200"/>
              <a:buFont typeface="Helvetica Neue"/>
              <a:buChar char="•"/>
            </a:pPr>
            <a:r>
              <a:rPr lang="en-GB" sz="1200">
                <a:solidFill>
                  <a:schemeClr val="dk1"/>
                </a:solidFill>
                <a:latin typeface="Helvetica Neue"/>
                <a:ea typeface="Helvetica Neue"/>
                <a:cs typeface="Helvetica Neue"/>
                <a:sym typeface="Helvetica Neue"/>
              </a:rPr>
              <a:t>References</a:t>
            </a:r>
            <a:endParaRPr sz="1200"/>
          </a:p>
          <a:p>
            <a:pPr marL="0" marR="0" lvl="0" indent="0" algn="just" rtl="0">
              <a:lnSpc>
                <a:spcPct val="150000"/>
              </a:lnSpc>
              <a:spcBef>
                <a:spcPts val="560"/>
              </a:spcBef>
              <a:spcAft>
                <a:spcPts val="0"/>
              </a:spcAft>
              <a:buClr>
                <a:schemeClr val="dk1"/>
              </a:buClr>
              <a:buSzPts val="2000"/>
              <a:buFont typeface="Arial"/>
              <a:buNone/>
            </a:pP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a:t>Introduction</a:t>
            </a:r>
            <a:endParaRPr/>
          </a:p>
        </p:txBody>
      </p:sp>
      <p:sp>
        <p:nvSpPr>
          <p:cNvPr id="89" name="Google Shape;89;p18"/>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457200" lvl="0" indent="0" algn="just" rtl="0">
              <a:lnSpc>
                <a:spcPct val="150000"/>
              </a:lnSpc>
              <a:spcBef>
                <a:spcPts val="1200"/>
              </a:spcBef>
              <a:spcAft>
                <a:spcPts val="0"/>
              </a:spcAft>
              <a:buNone/>
            </a:pPr>
            <a:endParaRPr sz="1500">
              <a:solidFill>
                <a:schemeClr val="dk1"/>
              </a:solidFill>
              <a:latin typeface="Helvetica Neue"/>
              <a:ea typeface="Helvetica Neue"/>
              <a:cs typeface="Helvetica Neue"/>
              <a:sym typeface="Helvetica Neue"/>
            </a:endParaRPr>
          </a:p>
          <a:p>
            <a:pPr marL="457200" lvl="0" indent="-323850" algn="just" rtl="0">
              <a:lnSpc>
                <a:spcPct val="150000"/>
              </a:lnSpc>
              <a:spcBef>
                <a:spcPts val="120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The rapid growth of AI and NLP has enabled intelligent systems that help automate tasks, manage workflows, and enhance productivity. LLM-based personal assistants have become a key part of this progress, offering context-aware and efficient support for everyday activities.</a:t>
            </a:r>
            <a:endParaRPr sz="1500">
              <a:solidFill>
                <a:schemeClr val="dk1"/>
              </a:solidFill>
              <a:latin typeface="Helvetica Neue"/>
              <a:ea typeface="Helvetica Neue"/>
              <a:cs typeface="Helvetica Neue"/>
              <a:sym typeface="Helvetica Neue"/>
            </a:endParaRPr>
          </a:p>
          <a:p>
            <a:pPr marL="0" lvl="0" indent="0" algn="just" rtl="0">
              <a:lnSpc>
                <a:spcPct val="150000"/>
              </a:lnSpc>
              <a:spcBef>
                <a:spcPts val="1200"/>
              </a:spcBef>
              <a:spcAft>
                <a:spcPts val="0"/>
              </a:spcAft>
              <a:buNone/>
            </a:pPr>
            <a:endParaRPr sz="1500">
              <a:solidFill>
                <a:schemeClr val="dk1"/>
              </a:solidFill>
              <a:latin typeface="Helvetica Neue"/>
              <a:ea typeface="Helvetica Neue"/>
              <a:cs typeface="Helvetica Neue"/>
              <a:sym typeface="Helvetica Neue"/>
            </a:endParaRPr>
          </a:p>
          <a:p>
            <a:pPr marL="457200" lvl="0" indent="-323850" algn="just" rtl="0">
              <a:lnSpc>
                <a:spcPct val="150000"/>
              </a:lnSpc>
              <a:spcBef>
                <a:spcPts val="120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This project introduces a customizable personal assistant built with the Mastra TypeScript framework. It uses Google’s Gemini Flash (Gemini Pro 2.5 API) as the core LLM, providing strong reasoning, conversational capabilities, and adaptability.</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a:t>Problem Statement</a:t>
            </a:r>
            <a:endParaRPr/>
          </a:p>
        </p:txBody>
      </p:sp>
      <p:sp>
        <p:nvSpPr>
          <p:cNvPr id="95" name="Google Shape;95;p19"/>
          <p:cNvSpPr txBox="1"/>
          <p:nvPr/>
        </p:nvSpPr>
        <p:spPr>
          <a:xfrm>
            <a:off x="77118" y="603174"/>
            <a:ext cx="8956714" cy="4321367"/>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1200"/>
              </a:spcBef>
              <a:spcAft>
                <a:spcPts val="1200"/>
              </a:spcAft>
              <a:buClr>
                <a:schemeClr val="dk1"/>
              </a:buClr>
              <a:buSzPts val="1100"/>
              <a:buFont typeface="Arial"/>
              <a:buNone/>
            </a:pPr>
            <a:r>
              <a:rPr lang="en-GB" sz="1500">
                <a:solidFill>
                  <a:schemeClr val="dk1"/>
                </a:solidFill>
                <a:latin typeface="Helvetica Neue"/>
                <a:ea typeface="Helvetica Neue"/>
                <a:cs typeface="Helvetica Neue"/>
                <a:sym typeface="Helvetica Neue"/>
              </a:rPr>
              <a:t>Conventional personal assistants are restricted to basic tasks like answering questions or performing simple actions, and they cannot manage complex workflows. They also fail to integrate well with real-world productivity tools, making them inadequate for professional and academic use. As a result, there is a strong need for a scalable, customizable assistant that unites LLM-based reasoning with tool access, enabling automated document processing, task execution, and greater workflow efficiency.</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a:t>Objectives</a:t>
            </a:r>
            <a:endParaRPr/>
          </a:p>
        </p:txBody>
      </p:sp>
      <p:sp>
        <p:nvSpPr>
          <p:cNvPr id="101" name="Google Shape;101;p20"/>
          <p:cNvSpPr txBox="1"/>
          <p:nvPr/>
        </p:nvSpPr>
        <p:spPr>
          <a:xfrm>
            <a:off x="77118" y="603174"/>
            <a:ext cx="8956714" cy="4321367"/>
          </a:xfrm>
          <a:prstGeom prst="rect">
            <a:avLst/>
          </a:prstGeom>
          <a:noFill/>
          <a:ln>
            <a:noFill/>
          </a:ln>
        </p:spPr>
        <p:txBody>
          <a:bodyPr spcFirstLastPara="1" wrap="square" lIns="91425" tIns="45700" rIns="91425" bIns="45700" anchor="t" anchorCtr="0">
            <a:noAutofit/>
          </a:bodyPr>
          <a:lstStyle/>
          <a:p>
            <a:pPr marL="457200" lvl="0" indent="-349250" algn="just" rtl="0">
              <a:lnSpc>
                <a:spcPct val="115000"/>
              </a:lnSpc>
              <a:spcBef>
                <a:spcPts val="120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Design and implement a customizable AI personal assistant using the Mastra framework and Gemini Flash LLM for advanced reasoning and conversation.</a:t>
            </a:r>
            <a:endParaRPr sz="1500">
              <a:solidFill>
                <a:schemeClr val="dk1"/>
              </a:solidFill>
              <a:latin typeface="Helvetica Neue"/>
              <a:ea typeface="Helvetica Neue"/>
              <a:cs typeface="Helvetica Neue"/>
              <a:sym typeface="Helvetica Neue"/>
            </a:endParaRPr>
          </a:p>
          <a:p>
            <a:pPr marL="457200" lvl="0" indent="-349250" algn="just" rtl="0">
              <a:lnSpc>
                <a:spcPct val="115000"/>
              </a:lnSpc>
              <a:spcBef>
                <a:spcPts val="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Automate repetitive tasks such as scheduling, reminders, and document management to save time.</a:t>
            </a:r>
            <a:endParaRPr sz="1500">
              <a:solidFill>
                <a:schemeClr val="dk1"/>
              </a:solidFill>
              <a:latin typeface="Helvetica Neue"/>
              <a:ea typeface="Helvetica Neue"/>
              <a:cs typeface="Helvetica Neue"/>
              <a:sym typeface="Helvetica Neue"/>
            </a:endParaRPr>
          </a:p>
          <a:p>
            <a:pPr marL="457200" lvl="0" indent="-349250" algn="just" rtl="0">
              <a:lnSpc>
                <a:spcPct val="115000"/>
              </a:lnSpc>
              <a:spcBef>
                <a:spcPts val="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Integrate with Google Docs &amp; Drive via GCP APIs for seamless access, editing, and retrieval of files.</a:t>
            </a:r>
            <a:endParaRPr sz="1500">
              <a:solidFill>
                <a:schemeClr val="dk1"/>
              </a:solidFill>
              <a:latin typeface="Helvetica Neue"/>
              <a:ea typeface="Helvetica Neue"/>
              <a:cs typeface="Helvetica Neue"/>
              <a:sym typeface="Helvetica Neue"/>
            </a:endParaRPr>
          </a:p>
          <a:p>
            <a:pPr marL="457200" lvl="0" indent="-349250" algn="just" rtl="0">
              <a:lnSpc>
                <a:spcPct val="115000"/>
              </a:lnSpc>
              <a:spcBef>
                <a:spcPts val="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Provide context-aware assistance that adapts to user behavior and preferences.</a:t>
            </a:r>
            <a:endParaRPr sz="1500">
              <a:solidFill>
                <a:schemeClr val="dk1"/>
              </a:solidFill>
              <a:latin typeface="Helvetica Neue"/>
              <a:ea typeface="Helvetica Neue"/>
              <a:cs typeface="Helvetica Neue"/>
              <a:sym typeface="Helvetica Neue"/>
            </a:endParaRPr>
          </a:p>
          <a:p>
            <a:pPr marL="457200" lvl="0" indent="-349250" algn="just" rtl="0">
              <a:lnSpc>
                <a:spcPct val="115000"/>
              </a:lnSpc>
              <a:spcBef>
                <a:spcPts val="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Improve productivity and efficiency in professional and academic workflows.</a:t>
            </a:r>
            <a:endParaRPr sz="1500">
              <a:solidFill>
                <a:schemeClr val="dk1"/>
              </a:solidFill>
              <a:latin typeface="Helvetica Neue"/>
              <a:ea typeface="Helvetica Neue"/>
              <a:cs typeface="Helvetica Neue"/>
              <a:sym typeface="Helvetica Neue"/>
            </a:endParaRPr>
          </a:p>
          <a:p>
            <a:pPr marL="457200" lvl="0" indent="-349250" algn="just" rtl="0">
              <a:lnSpc>
                <a:spcPct val="115000"/>
              </a:lnSpc>
              <a:spcBef>
                <a:spcPts val="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Demonstrate scalability and usability for potential real-world deployment.</a:t>
            </a:r>
            <a:endParaRPr sz="1500">
              <a:solidFill>
                <a:schemeClr val="dk1"/>
              </a:solidFill>
              <a:latin typeface="Helvetica Neue"/>
              <a:ea typeface="Helvetica Neue"/>
              <a:cs typeface="Helvetica Neue"/>
              <a:sym typeface="Helvetica Neue"/>
            </a:endParaRPr>
          </a:p>
          <a:p>
            <a:pPr marL="457200" lvl="0" indent="-349250" algn="just" rtl="0">
              <a:lnSpc>
                <a:spcPct val="115000"/>
              </a:lnSpc>
              <a:spcBef>
                <a:spcPts val="0"/>
              </a:spcBef>
              <a:spcAft>
                <a:spcPts val="0"/>
              </a:spcAft>
              <a:buClr>
                <a:schemeClr val="dk1"/>
              </a:buClr>
              <a:buSzPts val="1900"/>
              <a:buChar char="•"/>
            </a:pPr>
            <a:r>
              <a:rPr lang="en-GB" sz="1500">
                <a:solidFill>
                  <a:schemeClr val="dk1"/>
                </a:solidFill>
                <a:latin typeface="Helvetica Neue"/>
                <a:ea typeface="Helvetica Neue"/>
                <a:cs typeface="Helvetica Neue"/>
                <a:sym typeface="Helvetica Neue"/>
              </a:rPr>
              <a:t>Create a flexible system that can be extended with additional APIs and functionalities in the future.</a:t>
            </a:r>
            <a:endParaRPr sz="1500">
              <a:solidFill>
                <a:schemeClr val="dk1"/>
              </a:solidFill>
              <a:latin typeface="Helvetica Neue"/>
              <a:ea typeface="Helvetica Neue"/>
              <a:cs typeface="Helvetica Neue"/>
              <a:sym typeface="Helvetica Neue"/>
            </a:endParaRPr>
          </a:p>
          <a:p>
            <a:pPr marL="457200" lvl="0" indent="0" algn="just" rtl="0">
              <a:lnSpc>
                <a:spcPct val="115000"/>
              </a:lnSpc>
              <a:spcBef>
                <a:spcPts val="1200"/>
              </a:spcBef>
              <a:spcAft>
                <a:spcPts val="0"/>
              </a:spcAft>
              <a:buNone/>
            </a:pPr>
            <a:endParaRPr sz="1500">
              <a:solidFill>
                <a:schemeClr val="dk1"/>
              </a:solidFill>
              <a:latin typeface="Helvetica Neue"/>
              <a:ea typeface="Helvetica Neue"/>
              <a:cs typeface="Helvetica Neue"/>
              <a:sym typeface="Helvetica Neue"/>
            </a:endParaRPr>
          </a:p>
          <a:p>
            <a:pPr marL="457200" marR="0" lvl="0" indent="0" algn="just" rtl="0">
              <a:lnSpc>
                <a:spcPct val="150000"/>
              </a:lnSpc>
              <a:spcBef>
                <a:spcPts val="1200"/>
              </a:spcBef>
              <a:spcAft>
                <a:spcPts val="0"/>
              </a:spcAft>
              <a:buNone/>
            </a:pP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graphicFrame>
        <p:nvGraphicFramePr>
          <p:cNvPr id="106" name="Google Shape;106;p21"/>
          <p:cNvGraphicFramePr/>
          <p:nvPr/>
        </p:nvGraphicFramePr>
        <p:xfrm>
          <a:off x="40681" y="543397"/>
          <a:ext cx="8958625" cy="4635745"/>
        </p:xfrm>
        <a:graphic>
          <a:graphicData uri="http://schemas.openxmlformats.org/drawingml/2006/table">
            <a:tbl>
              <a:tblPr firstRow="1" bandRow="1">
                <a:noFill/>
                <a:tableStyleId>{4557E0EC-133D-4962-8930-70C0B9D9C8F6}</a:tableStyleId>
              </a:tblPr>
              <a:tblGrid>
                <a:gridCol w="508175"/>
                <a:gridCol w="1389325"/>
                <a:gridCol w="1110875"/>
                <a:gridCol w="1764600"/>
                <a:gridCol w="2101450"/>
                <a:gridCol w="2084200"/>
              </a:tblGrid>
              <a:tr h="558725">
                <a:tc>
                  <a:txBody>
                    <a:bodyPr/>
                    <a:lstStyle/>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S. No.</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Author &amp; </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Paper Title </a:t>
                      </a:r>
                      <a:br>
                        <a:rPr lang="en-GB" sz="1100" b="0" i="0" u="none" strike="noStrike" cap="none">
                          <a:latin typeface="Helvetica Neue"/>
                          <a:ea typeface="Helvetica Neue"/>
                          <a:cs typeface="Helvetica Neue"/>
                          <a:sym typeface="Helvetica Neue"/>
                        </a:rPr>
                      </a:br>
                      <a:r>
                        <a:rPr lang="en-GB" sz="1100" b="0" i="0" u="none" strike="noStrike" cap="none">
                          <a:latin typeface="Helvetica Neue"/>
                          <a:ea typeface="Helvetica Neue"/>
                          <a:cs typeface="Helvetica Neue"/>
                          <a:sym typeface="Helvetica Neue"/>
                        </a:rPr>
                        <a:t>[Citation]</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Journal/</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Conference</a:t>
                      </a:r>
                      <a:br>
                        <a:rPr lang="en-GB" sz="1100" b="0" i="0" u="none" strike="noStrike" cap="none">
                          <a:latin typeface="Helvetica Neue"/>
                          <a:ea typeface="Helvetica Neue"/>
                          <a:cs typeface="Helvetica Neue"/>
                          <a:sym typeface="Helvetica Neue"/>
                        </a:rPr>
                      </a:br>
                      <a:r>
                        <a:rPr lang="en-GB" sz="1100" b="0" i="0" u="none" strike="noStrike" cap="none">
                          <a:latin typeface="Helvetica Neue"/>
                          <a:ea typeface="Helvetica Neue"/>
                          <a:cs typeface="Helvetica Neue"/>
                          <a:sym typeface="Helvetica Neue"/>
                        </a:rPr>
                        <a:t>(Year)</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Tools/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Techniques/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Dataset</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Key Findings/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Results</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Limitations/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u="none" strike="noStrike" cap="none">
                          <a:latin typeface="Helvetica Neue"/>
                          <a:ea typeface="Helvetica Neue"/>
                          <a:cs typeface="Helvetica Neue"/>
                          <a:sym typeface="Helvetica Neue"/>
                        </a:rPr>
                        <a:t>Gaps Identified</a:t>
                      </a:r>
                      <a:endParaRPr sz="1100" b="0">
                        <a:latin typeface="Helvetica Neue"/>
                        <a:ea typeface="Helvetica Neue"/>
                        <a:cs typeface="Helvetica Neue"/>
                        <a:sym typeface="Helvetica Neue"/>
                      </a:endParaRPr>
                    </a:p>
                  </a:txBody>
                  <a:tcPr marL="91450" marR="91450" marT="45725" marB="45725">
                    <a:solidFill>
                      <a:srgbClr val="606029"/>
                    </a:solidFill>
                  </a:tcPr>
                </a:tc>
              </a:tr>
              <a:tr h="1086300">
                <a:tc>
                  <a:txBody>
                    <a:bodyPr/>
                    <a:lstStyle/>
                    <a:p>
                      <a:pPr marL="0" marR="0" lvl="0" indent="0" algn="ctr" rtl="0">
                        <a:spcBef>
                          <a:spcPts val="0"/>
                        </a:spcBef>
                        <a:spcAft>
                          <a:spcPts val="0"/>
                        </a:spcAft>
                        <a:buNone/>
                      </a:pPr>
                      <a:r>
                        <a:rPr lang="en-GB" sz="1000" b="0" i="0" u="none" strike="noStrike" cap="none">
                          <a:latin typeface="Helvetica Neue"/>
                          <a:ea typeface="Helvetica Neue"/>
                          <a:cs typeface="Helvetica Neue"/>
                          <a:sym typeface="Helvetica Neue"/>
                        </a:rPr>
                        <a:t>1.</a:t>
                      </a:r>
                      <a:endParaRPr sz="1200"/>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V. Chaturvedi et al. “Development of a Virtual Personal Assistant for Enhanced Productivity and Efficiency“</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International Journal of Scientific Research &amp; Engineering Trends (2024)</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Evaluate available AI technologies, including NLP, ML, and </a:t>
                      </a:r>
                      <a:endParaRPr sz="900">
                        <a:latin typeface="Helvetica Neue"/>
                        <a:ea typeface="Helvetica Neue"/>
                        <a:cs typeface="Helvetica Neue"/>
                        <a:sym typeface="Helvetica Neue"/>
                      </a:endParaRPr>
                    </a:p>
                    <a:p>
                      <a:pPr marL="0" marR="0" lvl="0" indent="0" algn="l" rtl="0">
                        <a:spcBef>
                          <a:spcPts val="0"/>
                        </a:spcBef>
                        <a:spcAft>
                          <a:spcPts val="0"/>
                        </a:spcAft>
                        <a:buNone/>
                      </a:pPr>
                      <a:r>
                        <a:rPr lang="en-GB" sz="900">
                          <a:latin typeface="Helvetica Neue"/>
                          <a:ea typeface="Helvetica Neue"/>
                          <a:cs typeface="Helvetica Neue"/>
                          <a:sym typeface="Helvetica Neue"/>
                        </a:rPr>
                        <a:t>voice recognition, to determine the most suitable for VPA development.</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VPA systems largely bring about betterment in daily life.They can do lots of things, like opening apps, searching the web, setting alarms, and playing music, just by listening to your voice.</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The use of VPAs can pose several ethical risks. </a:t>
                      </a:r>
                      <a:endParaRPr sz="900" i="0">
                        <a:latin typeface="Helvetica Neue"/>
                        <a:ea typeface="Helvetica Neue"/>
                        <a:cs typeface="Helvetica Neue"/>
                        <a:sym typeface="Helvetica Neue"/>
                      </a:endParaRPr>
                    </a:p>
                  </a:txBody>
                  <a:tcPr marL="91450" marR="91450" marT="45725" marB="45725">
                    <a:solidFill>
                      <a:srgbClr val="D5D59B"/>
                    </a:solidFill>
                  </a:tcPr>
                </a:tc>
              </a:tr>
              <a:tr h="1030550">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2.</a:t>
                      </a:r>
                      <a:endParaRPr sz="1200"/>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M. Garg et al. “Virtual Personal Assistant using Artificial Intelligence”</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International Journal of Creative Research Thoughts (2022)</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Speech-to-Text and Text-to-Speech features. Use of Mel Frequency</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The VPA provides a single point of communication for all of the user's messages, contacts, schedule, and information sources, </a:t>
                      </a:r>
                      <a:endParaRPr sz="900">
                        <a:latin typeface="Helvetica Neue"/>
                        <a:ea typeface="Helvetica Neue"/>
                        <a:cs typeface="Helvetica Neue"/>
                        <a:sym typeface="Helvetica Neue"/>
                      </a:endParaRPr>
                    </a:p>
                    <a:p>
                      <a:pPr marL="0" marR="0" lvl="0" indent="0" algn="l" rtl="0">
                        <a:spcBef>
                          <a:spcPts val="0"/>
                        </a:spcBef>
                        <a:spcAft>
                          <a:spcPts val="0"/>
                        </a:spcAft>
                        <a:buNone/>
                      </a:pPr>
                      <a:r>
                        <a:rPr lang="en-GB" sz="900">
                          <a:latin typeface="Helvetica Neue"/>
                          <a:ea typeface="Helvetica Neue"/>
                          <a:cs typeface="Helvetica Neue"/>
                          <a:sym typeface="Helvetica Neue"/>
                        </a:rPr>
                        <a:t>reducing interruptions and enhancing time utilization. </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Time taken to compute each task is generally longer than other VPAs</a:t>
                      </a:r>
                      <a:endParaRPr sz="900" i="0">
                        <a:latin typeface="Helvetica Neue"/>
                        <a:ea typeface="Helvetica Neue"/>
                        <a:cs typeface="Helvetica Neue"/>
                        <a:sym typeface="Helvetica Neue"/>
                      </a:endParaRPr>
                    </a:p>
                  </a:txBody>
                  <a:tcPr marL="91450" marR="91450" marT="45725" marB="45725">
                    <a:solidFill>
                      <a:srgbClr val="F0F0DD"/>
                    </a:solidFill>
                  </a:tcPr>
                </a:tc>
              </a:tr>
              <a:tr h="1030550">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3.</a:t>
                      </a:r>
                      <a:endParaRPr sz="1200"/>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 Hosseini et al. “The role of agentic AI in shaping a smart future: A systematic review”</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Array 26 (2025) : Available on Sciencedirect</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Clr>
                          <a:srgbClr val="000000"/>
                        </a:buClr>
                        <a:buFont typeface="Arial"/>
                        <a:buNone/>
                      </a:pPr>
                      <a:r>
                        <a:rPr lang="en-GB" sz="900">
                          <a:latin typeface="Helvetica Neue"/>
                          <a:ea typeface="Helvetica Neue"/>
                          <a:cs typeface="Helvetica Neue"/>
                          <a:sym typeface="Helvetica Neue"/>
                        </a:rPr>
                        <a:t>Identifies LangGraph, CrewAI, AutoGen and AutoGPT as most commonly used tools. </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Adopt tools/frameworks that support agentic features. Evaluate tools based on features, not only hype. Differentiates between assistants and autonomous agents.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 lack of industry specific case studies, which can help build more tailor made assistants.</a:t>
                      </a:r>
                      <a:endParaRPr sz="900" i="0">
                        <a:latin typeface="Helvetica Neue"/>
                        <a:ea typeface="Helvetica Neue"/>
                        <a:cs typeface="Helvetica Neue"/>
                        <a:sym typeface="Helvetica Neue"/>
                      </a:endParaRPr>
                    </a:p>
                  </a:txBody>
                  <a:tcPr marL="91450" marR="91450" marT="45725" marB="45725">
                    <a:solidFill>
                      <a:srgbClr val="D5D59B"/>
                    </a:solidFill>
                  </a:tcPr>
                </a:tc>
              </a:tr>
              <a:tr h="893975">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4.</a:t>
                      </a:r>
                      <a:endParaRPr sz="1200"/>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P. S. Sawant “Agentic AI: A Quantitative Analysis of Performance and </a:t>
                      </a:r>
                      <a:endParaRPr sz="900">
                        <a:latin typeface="Helvetica Neue"/>
                        <a:ea typeface="Helvetica Neue"/>
                        <a:cs typeface="Helvetica Neue"/>
                        <a:sym typeface="Helvetica Neue"/>
                      </a:endParaRPr>
                    </a:p>
                    <a:p>
                      <a:pPr marL="0" marR="0" lvl="0" indent="0" algn="l" rtl="0">
                        <a:spcBef>
                          <a:spcPts val="0"/>
                        </a:spcBef>
                        <a:spcAft>
                          <a:spcPts val="0"/>
                        </a:spcAft>
                        <a:buNone/>
                      </a:pPr>
                      <a:r>
                        <a:rPr lang="en-GB" sz="900">
                          <a:latin typeface="Helvetica Neue"/>
                          <a:ea typeface="Helvetica Neue"/>
                          <a:cs typeface="Helvetica Neue"/>
                          <a:sym typeface="Helvetica Neue"/>
                        </a:rPr>
                        <a:t>Applications”</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Journal of Advances in Artificial Intelligence (2025)</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Consists of a Perception module, Cognitive module, Action module and Learning(Reinforcement) module.</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rgbClr val="000000"/>
                        </a:buClr>
                        <a:buFont typeface="Arial"/>
                        <a:buNone/>
                      </a:pPr>
                      <a:r>
                        <a:rPr lang="en-GB" sz="900">
                          <a:latin typeface="Helvetica Neue"/>
                          <a:ea typeface="Helvetica Neue"/>
                          <a:cs typeface="Helvetica Neue"/>
                          <a:sym typeface="Helvetica Neue"/>
                        </a:rPr>
                        <a:t>Across many organizations, agentic AI shows significant gains over more traditional AI systems. </a:t>
                      </a:r>
                      <a:endParaRPr sz="900">
                        <a:latin typeface="Helvetica Neue"/>
                        <a:ea typeface="Helvetica Neue"/>
                        <a:cs typeface="Helvetica Neue"/>
                        <a:sym typeface="Helvetica Neue"/>
                      </a:endParaRPr>
                    </a:p>
                    <a:p>
                      <a:pPr marL="0" marR="0" lvl="0" indent="0" algn="l" rtl="0">
                        <a:spcBef>
                          <a:spcPts val="0"/>
                        </a:spcBef>
                        <a:spcAft>
                          <a:spcPts val="0"/>
                        </a:spcAft>
                        <a:buNone/>
                      </a:pP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76200" marR="0" lvl="0" indent="0" algn="l" rtl="0">
                        <a:spcBef>
                          <a:spcPts val="0"/>
                        </a:spcBef>
                        <a:spcAft>
                          <a:spcPts val="0"/>
                        </a:spcAft>
                        <a:buClr>
                          <a:srgbClr val="000000"/>
                        </a:buClr>
                        <a:buSzPts val="1200"/>
                        <a:buFont typeface="Arial"/>
                        <a:buNone/>
                      </a:pPr>
                      <a:r>
                        <a:rPr lang="en-GB" sz="900">
                          <a:latin typeface="Helvetica Neue"/>
                          <a:ea typeface="Helvetica Neue"/>
                          <a:cs typeface="Helvetica Neue"/>
                          <a:sym typeface="Helvetica Neue"/>
                        </a:rPr>
                        <a:t>Data Privacy and Security, Integration with Legacy Systems, Skill Gap, Ethical Considerations</a:t>
                      </a:r>
                      <a:endParaRPr sz="900" i="0">
                        <a:latin typeface="Helvetica Neue"/>
                        <a:ea typeface="Helvetica Neue"/>
                        <a:cs typeface="Helvetica Neue"/>
                        <a:sym typeface="Helvetica Neue"/>
                      </a:endParaRPr>
                    </a:p>
                  </a:txBody>
                  <a:tcPr marL="91450" marR="91450" marT="45725" marB="45725">
                    <a:solidFill>
                      <a:srgbClr val="F0F0DD"/>
                    </a:solidFill>
                  </a:tcPr>
                </a:tc>
              </a:tr>
            </a:tbl>
          </a:graphicData>
        </a:graphic>
      </p:graphicFrame>
      <p:sp>
        <p:nvSpPr>
          <p:cNvPr id="107" name="Google Shape;107;p21"/>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Literature Review</a:t>
            </a:r>
            <a:endParaRPr b="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Literature Review (cont…)</a:t>
            </a:r>
            <a:endParaRPr b="0"/>
          </a:p>
        </p:txBody>
      </p:sp>
      <p:sp>
        <p:nvSpPr>
          <p:cNvPr id="113" name="Google Shape;113;p22"/>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114" name="Google Shape;114;p22"/>
          <p:cNvGraphicFramePr/>
          <p:nvPr>
            <p:extLst>
              <p:ext uri="{D42A27DB-BD31-4B8C-83A1-F6EECF244321}">
                <p14:modId xmlns:p14="http://schemas.microsoft.com/office/powerpoint/2010/main" val="3203433470"/>
              </p:ext>
            </p:extLst>
          </p:nvPr>
        </p:nvGraphicFramePr>
        <p:xfrm>
          <a:off x="40642" y="553218"/>
          <a:ext cx="8956700" cy="4679935"/>
        </p:xfrm>
        <a:graphic>
          <a:graphicData uri="http://schemas.openxmlformats.org/drawingml/2006/table">
            <a:tbl>
              <a:tblPr firstRow="1" bandRow="1">
                <a:noFill/>
                <a:tableStyleId>{4557E0EC-133D-4962-8930-70C0B9D9C8F6}</a:tableStyleId>
              </a:tblPr>
              <a:tblGrid>
                <a:gridCol w="505625"/>
                <a:gridCol w="1349750"/>
                <a:gridCol w="1520200"/>
                <a:gridCol w="1402300"/>
                <a:gridCol w="2114325"/>
                <a:gridCol w="2064500"/>
              </a:tblGrid>
              <a:tr h="491700">
                <a:tc>
                  <a:txBody>
                    <a:bodyPr/>
                    <a:lstStyle/>
                    <a:p>
                      <a:pPr marL="0" marR="0" lvl="0" indent="0" algn="ctr" rtl="0">
                        <a:spcBef>
                          <a:spcPts val="0"/>
                        </a:spcBef>
                        <a:spcAft>
                          <a:spcPts val="0"/>
                        </a:spcAft>
                        <a:buNone/>
                      </a:pPr>
                      <a:r>
                        <a:rPr lang="en-GB" sz="1050" b="0" i="0" dirty="0">
                          <a:latin typeface="Helvetica Neue"/>
                          <a:ea typeface="Helvetica Neue"/>
                          <a:cs typeface="Helvetica Neue"/>
                          <a:sym typeface="Helvetica Neue"/>
                        </a:rPr>
                        <a:t>S. No.</a:t>
                      </a:r>
                      <a:endParaRPr sz="1050" b="0" dirty="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050" b="0" i="0">
                          <a:latin typeface="Helvetica Neue"/>
                          <a:ea typeface="Helvetica Neue"/>
                          <a:cs typeface="Helvetica Neue"/>
                          <a:sym typeface="Helvetica Neue"/>
                        </a:rPr>
                        <a:t>Author &amp; </a:t>
                      </a:r>
                      <a:endParaRPr sz="1050" b="0">
                        <a:latin typeface="Helvetica Neue"/>
                        <a:ea typeface="Helvetica Neue"/>
                        <a:cs typeface="Helvetica Neue"/>
                        <a:sym typeface="Helvetica Neue"/>
                      </a:endParaRPr>
                    </a:p>
                    <a:p>
                      <a:pPr marL="0" marR="0" lvl="0" indent="0" algn="ctr" rtl="0">
                        <a:spcBef>
                          <a:spcPts val="0"/>
                        </a:spcBef>
                        <a:spcAft>
                          <a:spcPts val="0"/>
                        </a:spcAft>
                        <a:buNone/>
                      </a:pPr>
                      <a:r>
                        <a:rPr lang="en-GB" sz="1050" b="0" i="0">
                          <a:latin typeface="Helvetica Neue"/>
                          <a:ea typeface="Helvetica Neue"/>
                          <a:cs typeface="Helvetica Neue"/>
                          <a:sym typeface="Helvetica Neue"/>
                        </a:rPr>
                        <a:t>Paper Title </a:t>
                      </a:r>
                      <a:br>
                        <a:rPr lang="en-GB" sz="1050" b="0" i="0">
                          <a:latin typeface="Helvetica Neue"/>
                          <a:ea typeface="Helvetica Neue"/>
                          <a:cs typeface="Helvetica Neue"/>
                          <a:sym typeface="Helvetica Neue"/>
                        </a:rPr>
                      </a:br>
                      <a:r>
                        <a:rPr lang="en-GB" sz="1050" b="0" i="0">
                          <a:latin typeface="Helvetica Neue"/>
                          <a:ea typeface="Helvetica Neue"/>
                          <a:cs typeface="Helvetica Neue"/>
                          <a:sym typeface="Helvetica Neue"/>
                        </a:rPr>
                        <a:t>[Citation]</a:t>
                      </a:r>
                      <a:endParaRPr sz="105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050" b="0" i="0">
                          <a:latin typeface="Helvetica Neue"/>
                          <a:ea typeface="Helvetica Neue"/>
                          <a:cs typeface="Helvetica Neue"/>
                          <a:sym typeface="Helvetica Neue"/>
                        </a:rPr>
                        <a:t>Journal/</a:t>
                      </a:r>
                      <a:endParaRPr sz="1050" b="0">
                        <a:latin typeface="Helvetica Neue"/>
                        <a:ea typeface="Helvetica Neue"/>
                        <a:cs typeface="Helvetica Neue"/>
                        <a:sym typeface="Helvetica Neue"/>
                      </a:endParaRPr>
                    </a:p>
                    <a:p>
                      <a:pPr marL="0" marR="0" lvl="0" indent="0" algn="ctr" rtl="0">
                        <a:spcBef>
                          <a:spcPts val="0"/>
                        </a:spcBef>
                        <a:spcAft>
                          <a:spcPts val="0"/>
                        </a:spcAft>
                        <a:buNone/>
                      </a:pPr>
                      <a:r>
                        <a:rPr lang="en-GB" sz="1050" b="0" i="0">
                          <a:latin typeface="Helvetica Neue"/>
                          <a:ea typeface="Helvetica Neue"/>
                          <a:cs typeface="Helvetica Neue"/>
                          <a:sym typeface="Helvetica Neue"/>
                        </a:rPr>
                        <a:t>Conference</a:t>
                      </a:r>
                      <a:br>
                        <a:rPr lang="en-GB" sz="1050" b="0" i="0">
                          <a:latin typeface="Helvetica Neue"/>
                          <a:ea typeface="Helvetica Neue"/>
                          <a:cs typeface="Helvetica Neue"/>
                          <a:sym typeface="Helvetica Neue"/>
                        </a:rPr>
                      </a:br>
                      <a:r>
                        <a:rPr lang="en-GB" sz="1050" b="0" i="0">
                          <a:latin typeface="Helvetica Neue"/>
                          <a:ea typeface="Helvetica Neue"/>
                          <a:cs typeface="Helvetica Neue"/>
                          <a:sym typeface="Helvetica Neue"/>
                        </a:rPr>
                        <a:t>(Year)</a:t>
                      </a:r>
                      <a:endParaRPr sz="105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050" b="0" i="0">
                          <a:latin typeface="Helvetica Neue"/>
                          <a:ea typeface="Helvetica Neue"/>
                          <a:cs typeface="Helvetica Neue"/>
                          <a:sym typeface="Helvetica Neue"/>
                        </a:rPr>
                        <a:t>Tools/</a:t>
                      </a:r>
                      <a:endParaRPr sz="1050" b="0">
                        <a:latin typeface="Helvetica Neue"/>
                        <a:ea typeface="Helvetica Neue"/>
                        <a:cs typeface="Helvetica Neue"/>
                        <a:sym typeface="Helvetica Neue"/>
                      </a:endParaRPr>
                    </a:p>
                    <a:p>
                      <a:pPr marL="0" marR="0" lvl="0" indent="0" algn="ctr" rtl="0">
                        <a:spcBef>
                          <a:spcPts val="0"/>
                        </a:spcBef>
                        <a:spcAft>
                          <a:spcPts val="0"/>
                        </a:spcAft>
                        <a:buNone/>
                      </a:pPr>
                      <a:r>
                        <a:rPr lang="en-GB" sz="1050" b="0" i="0">
                          <a:latin typeface="Helvetica Neue"/>
                          <a:ea typeface="Helvetica Neue"/>
                          <a:cs typeface="Helvetica Neue"/>
                          <a:sym typeface="Helvetica Neue"/>
                        </a:rPr>
                        <a:t>Techniques/</a:t>
                      </a:r>
                      <a:endParaRPr sz="1050" b="0">
                        <a:latin typeface="Helvetica Neue"/>
                        <a:ea typeface="Helvetica Neue"/>
                        <a:cs typeface="Helvetica Neue"/>
                        <a:sym typeface="Helvetica Neue"/>
                      </a:endParaRPr>
                    </a:p>
                    <a:p>
                      <a:pPr marL="0" marR="0" lvl="0" indent="0" algn="ctr" rtl="0">
                        <a:spcBef>
                          <a:spcPts val="0"/>
                        </a:spcBef>
                        <a:spcAft>
                          <a:spcPts val="0"/>
                        </a:spcAft>
                        <a:buNone/>
                      </a:pPr>
                      <a:r>
                        <a:rPr lang="en-GB" sz="1050" b="0" i="0">
                          <a:latin typeface="Helvetica Neue"/>
                          <a:ea typeface="Helvetica Neue"/>
                          <a:cs typeface="Helvetica Neue"/>
                          <a:sym typeface="Helvetica Neue"/>
                        </a:rPr>
                        <a:t>Dataset</a:t>
                      </a:r>
                      <a:endParaRPr sz="105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050" b="0" i="0">
                          <a:latin typeface="Helvetica Neue"/>
                          <a:ea typeface="Helvetica Neue"/>
                          <a:cs typeface="Helvetica Neue"/>
                          <a:sym typeface="Helvetica Neue"/>
                        </a:rPr>
                        <a:t>Key Findings/</a:t>
                      </a:r>
                      <a:endParaRPr sz="1050" b="0">
                        <a:latin typeface="Helvetica Neue"/>
                        <a:ea typeface="Helvetica Neue"/>
                        <a:cs typeface="Helvetica Neue"/>
                        <a:sym typeface="Helvetica Neue"/>
                      </a:endParaRPr>
                    </a:p>
                    <a:p>
                      <a:pPr marL="0" marR="0" lvl="0" indent="0" algn="ctr" rtl="0">
                        <a:spcBef>
                          <a:spcPts val="0"/>
                        </a:spcBef>
                        <a:spcAft>
                          <a:spcPts val="0"/>
                        </a:spcAft>
                        <a:buNone/>
                      </a:pPr>
                      <a:r>
                        <a:rPr lang="en-GB" sz="1050" b="0" i="0">
                          <a:latin typeface="Helvetica Neue"/>
                          <a:ea typeface="Helvetica Neue"/>
                          <a:cs typeface="Helvetica Neue"/>
                          <a:sym typeface="Helvetica Neue"/>
                        </a:rPr>
                        <a:t>Results</a:t>
                      </a:r>
                      <a:endParaRPr sz="105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050" b="0" i="0">
                          <a:latin typeface="Helvetica Neue"/>
                          <a:ea typeface="Helvetica Neue"/>
                          <a:cs typeface="Helvetica Neue"/>
                          <a:sym typeface="Helvetica Neue"/>
                        </a:rPr>
                        <a:t>Limitations/</a:t>
                      </a:r>
                      <a:endParaRPr sz="1050" b="0">
                        <a:latin typeface="Helvetica Neue"/>
                        <a:ea typeface="Helvetica Neue"/>
                        <a:cs typeface="Helvetica Neue"/>
                        <a:sym typeface="Helvetica Neue"/>
                      </a:endParaRPr>
                    </a:p>
                    <a:p>
                      <a:pPr marL="0" marR="0" lvl="0" indent="0" algn="ctr" rtl="0">
                        <a:spcBef>
                          <a:spcPts val="0"/>
                        </a:spcBef>
                        <a:spcAft>
                          <a:spcPts val="0"/>
                        </a:spcAft>
                        <a:buNone/>
                      </a:pPr>
                      <a:r>
                        <a:rPr lang="en-GB" sz="1050" b="0" i="0">
                          <a:latin typeface="Helvetica Neue"/>
                          <a:ea typeface="Helvetica Neue"/>
                          <a:cs typeface="Helvetica Neue"/>
                          <a:sym typeface="Helvetica Neue"/>
                        </a:rPr>
                        <a:t>Gaps Identified</a:t>
                      </a:r>
                      <a:endParaRPr sz="1050" b="0">
                        <a:latin typeface="Helvetica Neue"/>
                        <a:ea typeface="Helvetica Neue"/>
                        <a:cs typeface="Helvetica Neue"/>
                        <a:sym typeface="Helvetica Neue"/>
                      </a:endParaRPr>
                    </a:p>
                  </a:txBody>
                  <a:tcPr marL="91450" marR="91450" marT="45725" marB="45725">
                    <a:solidFill>
                      <a:srgbClr val="606029"/>
                    </a:solidFill>
                  </a:tcPr>
                </a:tc>
              </a:tr>
              <a:tr h="906925">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5.</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Y. Shavit, S. Agarwal, M. Brundage et. al. “Practices for Governing AgenticAI Systems”</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OpenAI whitepaper (2023)</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Evaluate Suitability for the Task, Setting Agents’ Default Behaviors.</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Governance across the life-cycle (developer, deployer, user) is crucial. Simpler measures are practical near-term steps. </a:t>
                      </a:r>
                      <a:endParaRPr sz="8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Operationalization Uncertainty, Trade-offs Between Safety vs Usability / Cost, Dependence on Context &amp; Domain</a:t>
                      </a:r>
                      <a:endParaRPr sz="800" i="0">
                        <a:latin typeface="Helvetica Neue"/>
                        <a:ea typeface="Helvetica Neue"/>
                        <a:cs typeface="Helvetica Neue"/>
                        <a:sym typeface="Helvetica Neue"/>
                      </a:endParaRPr>
                    </a:p>
                  </a:txBody>
                  <a:tcPr marL="91450" marR="91450" marT="45725" marB="45725">
                    <a:solidFill>
                      <a:srgbClr val="D5D59B"/>
                    </a:solidFill>
                  </a:tcPr>
                </a:tc>
              </a:tr>
              <a:tr h="1027100">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6.</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Arun Kumar N, Valarmathy B – </a:t>
                      </a:r>
                      <a:r>
                        <a:rPr lang="en-GB" sz="800" i="1">
                          <a:latin typeface="Helvetica Neue"/>
                          <a:ea typeface="Helvetica Neue"/>
                          <a:cs typeface="Helvetica Neue"/>
                          <a:sym typeface="Helvetica Neue"/>
                        </a:rPr>
                        <a:t>AI Based Virtual Assistant</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International Research Journal of Modernization in Engineering, Technology and Science (IRJMETS), Vol. 05, Issue 03, March 2023</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SzPts val="1100"/>
                        <a:buNone/>
                      </a:pPr>
                      <a:r>
                        <a:rPr lang="en-GB" sz="800">
                          <a:latin typeface="Helvetica Neue"/>
                          <a:ea typeface="Helvetica Neue"/>
                          <a:cs typeface="Helvetica Neue"/>
                          <a:sym typeface="Helvetica Neue"/>
                        </a:rPr>
                        <a:t>- Python libraries</a:t>
                      </a:r>
                      <a:endParaRPr sz="800">
                        <a:latin typeface="Helvetica Neue"/>
                        <a:ea typeface="Helvetica Neue"/>
                        <a:cs typeface="Helvetica Neue"/>
                        <a:sym typeface="Helvetica Neue"/>
                      </a:endParaRPr>
                    </a:p>
                    <a:p>
                      <a:pPr marL="0" lvl="0" indent="0" algn="l" rtl="0">
                        <a:spcBef>
                          <a:spcPts val="0"/>
                        </a:spcBef>
                        <a:spcAft>
                          <a:spcPts val="0"/>
                        </a:spcAft>
                        <a:buSzPts val="1100"/>
                        <a:buNone/>
                      </a:pPr>
                      <a:r>
                        <a:rPr lang="en-GB" sz="800">
                          <a:latin typeface="Helvetica Neue"/>
                          <a:ea typeface="Helvetica Neue"/>
                          <a:cs typeface="Helvetica Neue"/>
                          <a:sym typeface="Helvetica Neue"/>
                        </a:rPr>
                        <a:t>- Speech recognition APIs</a:t>
                      </a:r>
                      <a:endParaRPr sz="800">
                        <a:latin typeface="Helvetica Neue"/>
                        <a:ea typeface="Helvetica Neue"/>
                        <a:cs typeface="Helvetica Neue"/>
                        <a:sym typeface="Helvetica Neue"/>
                      </a:endParaRPr>
                    </a:p>
                    <a:p>
                      <a:pPr marL="0" lvl="0" indent="0" algn="l" rtl="0">
                        <a:spcBef>
                          <a:spcPts val="0"/>
                        </a:spcBef>
                        <a:spcAft>
                          <a:spcPts val="0"/>
                        </a:spcAft>
                        <a:buSzPts val="1100"/>
                        <a:buNone/>
                      </a:pPr>
                      <a:r>
                        <a:rPr lang="en-GB" sz="800">
                          <a:latin typeface="Helvetica Neue"/>
                          <a:ea typeface="Helvetica Neue"/>
                          <a:cs typeface="Helvetica Neue"/>
                          <a:sym typeface="Helvetica Neue"/>
                        </a:rPr>
                        <a:t>- Speech-to-text model</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 NLP techniques</a:t>
                      </a: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SzPts val="1100"/>
                        <a:buNone/>
                      </a:pPr>
                      <a:r>
                        <a:rPr lang="en-GB" sz="800">
                          <a:latin typeface="Helvetica Neue"/>
                          <a:ea typeface="Helvetica Neue"/>
                          <a:cs typeface="Helvetica Neue"/>
                          <a:sym typeface="Helvetica Neue"/>
                        </a:rPr>
                        <a:t>- Developed a Windows-based AI virtual assistant capable of executing commands through voice input (e.g., sending emails, reminders, WhatsApp messages)</a:t>
                      </a: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None/>
                      </a:pPr>
                      <a:r>
                        <a:rPr lang="en-GB" sz="800">
                          <a:latin typeface="Helvetica Neue"/>
                          <a:ea typeface="Helvetica Neue"/>
                          <a:cs typeface="Helvetica Neue"/>
                          <a:sym typeface="Helvetica Neue"/>
                        </a:rPr>
                        <a:t>Mainly designed for Windows system (platform-limited).</a:t>
                      </a:r>
                      <a:endParaRPr sz="800">
                        <a:latin typeface="Helvetica Neue"/>
                        <a:ea typeface="Helvetica Neue"/>
                        <a:cs typeface="Helvetica Neue"/>
                        <a:sym typeface="Helvetica Neue"/>
                      </a:endParaRPr>
                    </a:p>
                    <a:p>
                      <a:pPr marL="0" lvl="0" indent="0" algn="l" rtl="0">
                        <a:spcBef>
                          <a:spcPts val="0"/>
                        </a:spcBef>
                        <a:spcAft>
                          <a:spcPts val="0"/>
                        </a:spcAft>
                        <a:buNone/>
                      </a:pPr>
                      <a:r>
                        <a:rPr lang="en-GB" sz="800">
                          <a:latin typeface="Helvetica Neue"/>
                          <a:ea typeface="Helvetica Neue"/>
                          <a:cs typeface="Helvetica Neue"/>
                          <a:sym typeface="Helvetica Neue"/>
                        </a:rPr>
                        <a:t>Lacks large-scale testing and evaluation.</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Limited detail on performance metrics</a:t>
                      </a:r>
                      <a:endParaRPr sz="800">
                        <a:latin typeface="Helvetica Neue"/>
                        <a:ea typeface="Helvetica Neue"/>
                        <a:cs typeface="Helvetica Neue"/>
                        <a:sym typeface="Helvetica Neue"/>
                      </a:endParaRPr>
                    </a:p>
                  </a:txBody>
                  <a:tcPr marL="91450" marR="91450" marT="45725" marB="45725">
                    <a:solidFill>
                      <a:srgbClr val="F0F0DD"/>
                    </a:solidFill>
                  </a:tcPr>
                </a:tc>
              </a:tr>
              <a:tr h="1147300">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7.</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Shubham Thorbole, Anuradha Pandit, Gayatri Raut, Tejas Sirsat — </a:t>
                      </a:r>
                      <a:r>
                        <a:rPr lang="en-GB" sz="800" i="1">
                          <a:latin typeface="Helvetica Neue"/>
                          <a:ea typeface="Helvetica Neue"/>
                          <a:cs typeface="Helvetica Neue"/>
                          <a:sym typeface="Helvetica Neue"/>
                        </a:rPr>
                        <a:t>AI-Based Desktop Voice Assistant</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Journal of Emerging Technologies and Innovative Research (JETIR), Vol. 10, Issue 5, May 2023</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Python (OOPs, high-level language)</a:t>
                      </a:r>
                      <a:endParaRPr sz="80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Speech Recognition</a:t>
                      </a:r>
                      <a:endParaRPr sz="80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Pyttsx3</a:t>
                      </a:r>
                      <a:endParaRPr sz="800">
                        <a:latin typeface="Helvetica Neue"/>
                        <a:ea typeface="Helvetica Neue"/>
                        <a:cs typeface="Helvetica Neue"/>
                        <a:sym typeface="Helvetica Neue"/>
                      </a:endParaRPr>
                    </a:p>
                    <a:p>
                      <a:pPr marL="0" lvl="0" indent="0" algn="l" rtl="0">
                        <a:spcBef>
                          <a:spcPts val="0"/>
                        </a:spcBef>
                        <a:spcAft>
                          <a:spcPts val="0"/>
                        </a:spcAft>
                        <a:buSzPts val="1100"/>
                        <a:buNone/>
                      </a:pPr>
                      <a:r>
                        <a:rPr lang="en-GB" sz="800">
                          <a:latin typeface="Helvetica Neue"/>
                          <a:ea typeface="Helvetica Neue"/>
                          <a:cs typeface="Helvetica Neue"/>
                          <a:sym typeface="Helvetica Neue"/>
                        </a:rPr>
                        <a:t>- Que.py</a:t>
                      </a:r>
                      <a:endParaRPr sz="80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Clr>
                          <a:srgbClr val="000000"/>
                        </a:buClr>
                        <a:buSzPts val="1100"/>
                        <a:buFont typeface="Arial"/>
                        <a:buNone/>
                      </a:pPr>
                      <a:r>
                        <a:rPr lang="en-GB" sz="800" dirty="0">
                          <a:latin typeface="Helvetica Neue"/>
                          <a:ea typeface="Helvetica Neue"/>
                          <a:cs typeface="Helvetica Neue"/>
                          <a:sym typeface="Helvetica Neue"/>
                        </a:rPr>
                        <a:t>- Implemented Jarvis AI, a desktop-based voice assistant.</a:t>
                      </a:r>
                      <a:endParaRPr sz="800" dirty="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dirty="0">
                          <a:latin typeface="Helvetica Neue"/>
                          <a:ea typeface="Helvetica Neue"/>
                          <a:cs typeface="Helvetica Neue"/>
                          <a:sym typeface="Helvetica Neue"/>
                        </a:rPr>
                        <a:t>- Understands natural language, executes tasks (e.g., open YouTube, send mail, fetch Wikipedia info).</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 Enhances productivity by automating repetitive tasks.</a:t>
                      </a:r>
                      <a:endParaRPr sz="800" dirty="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None/>
                      </a:pPr>
                      <a:r>
                        <a:rPr lang="en-GB" sz="800">
                          <a:latin typeface="Helvetica Neue"/>
                          <a:ea typeface="Helvetica Neue"/>
                          <a:cs typeface="Helvetica Neue"/>
                          <a:sym typeface="Helvetica Neue"/>
                        </a:rPr>
                        <a:t>Ethical &amp; privacy issues.</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Limited scalability to complex decision-making compared to commercial assistants</a:t>
                      </a:r>
                      <a:endParaRPr sz="800">
                        <a:latin typeface="Helvetica Neue"/>
                        <a:ea typeface="Helvetica Neue"/>
                        <a:cs typeface="Helvetica Neue"/>
                        <a:sym typeface="Helvetica Neue"/>
                      </a:endParaRPr>
                    </a:p>
                  </a:txBody>
                  <a:tcPr marL="91450" marR="91450" marT="45725" marB="45725">
                    <a:solidFill>
                      <a:srgbClr val="D5D59B"/>
                    </a:solidFill>
                  </a:tcPr>
                </a:tc>
              </a:tr>
              <a:tr h="1027100">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8.</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Sakshi R. Jain, Prof. Feon Jason — </a:t>
                      </a:r>
                      <a:r>
                        <a:rPr lang="en-GB" sz="800" i="1">
                          <a:latin typeface="Helvetica Neue"/>
                          <a:ea typeface="Helvetica Neue"/>
                          <a:cs typeface="Helvetica Neue"/>
                          <a:sym typeface="Helvetica Neue"/>
                        </a:rPr>
                        <a:t>Personal Desktop Voice Assistant - Research Paper</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International Journal of Advanced Research in Computer and Communication Engineering (IJARCCE), Vol. 12, Issue 3, March 2023</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Python</a:t>
                      </a:r>
                      <a:endParaRPr sz="80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Google Speech-to-Text &amp; gTTS</a:t>
                      </a:r>
                      <a:endParaRPr sz="80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-SpeechRecognition library</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 NLP (NLTK, spaCy, CoreNLP)</a:t>
                      </a: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Designed for visually impaired users and seniors for accessibility.</a:t>
                      </a:r>
                      <a:endParaRPr sz="80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Enhances independence, usability, and productivity.</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 Case study shows healthcare potential (patient outcomes, cost reduction).</a:t>
                      </a: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None/>
                      </a:pPr>
                      <a:r>
                        <a:rPr lang="en-GB" sz="800" dirty="0">
                          <a:latin typeface="Helvetica Neue"/>
                          <a:ea typeface="Helvetica Neue"/>
                          <a:cs typeface="Helvetica Neue"/>
                          <a:sym typeface="Helvetica Neue"/>
                        </a:rPr>
                        <a:t>Requires stable internet for APIs (web search, weather, music).</a:t>
                      </a:r>
                      <a:endParaRPr sz="800" dirty="0">
                        <a:latin typeface="Helvetica Neue"/>
                        <a:ea typeface="Helvetica Neue"/>
                        <a:cs typeface="Helvetica Neue"/>
                        <a:sym typeface="Helvetica Neue"/>
                      </a:endParaRPr>
                    </a:p>
                    <a:p>
                      <a:pPr marL="0" lvl="0" indent="0" algn="l" rtl="0">
                        <a:spcBef>
                          <a:spcPts val="0"/>
                        </a:spcBef>
                        <a:spcAft>
                          <a:spcPts val="0"/>
                        </a:spcAft>
                        <a:buNone/>
                      </a:pPr>
                      <a:r>
                        <a:rPr lang="en-GB" sz="800" dirty="0">
                          <a:latin typeface="Helvetica Neue"/>
                          <a:ea typeface="Helvetica Neue"/>
                          <a:cs typeface="Helvetica Neue"/>
                          <a:sym typeface="Helvetica Neue"/>
                        </a:rPr>
                        <a:t>Privacy &amp; security concerns with data collection.</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Limited multimodal interaction</a:t>
                      </a:r>
                      <a:endParaRPr sz="800" dirty="0">
                        <a:latin typeface="Helvetica Neue"/>
                        <a:ea typeface="Helvetica Neue"/>
                        <a:cs typeface="Helvetica Neue"/>
                        <a:sym typeface="Helvetica Neue"/>
                      </a:endParaRPr>
                    </a:p>
                  </a:txBody>
                  <a:tcPr marL="91450" marR="91450" marT="45725" marB="45725">
                    <a:solidFill>
                      <a:srgbClr val="F0F0DD"/>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Literature Review (cont…)</a:t>
            </a:r>
            <a:endParaRPr b="0"/>
          </a:p>
        </p:txBody>
      </p:sp>
      <p:sp>
        <p:nvSpPr>
          <p:cNvPr id="120" name="Google Shape;120;p23"/>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121" name="Google Shape;121;p23"/>
          <p:cNvGraphicFramePr/>
          <p:nvPr>
            <p:extLst>
              <p:ext uri="{D42A27DB-BD31-4B8C-83A1-F6EECF244321}">
                <p14:modId xmlns:p14="http://schemas.microsoft.com/office/powerpoint/2010/main" val="2184488559"/>
              </p:ext>
            </p:extLst>
          </p:nvPr>
        </p:nvGraphicFramePr>
        <p:xfrm>
          <a:off x="40656" y="553218"/>
          <a:ext cx="8937500" cy="4702795"/>
        </p:xfrm>
        <a:graphic>
          <a:graphicData uri="http://schemas.openxmlformats.org/drawingml/2006/table">
            <a:tbl>
              <a:tblPr firstRow="1" bandRow="1">
                <a:noFill/>
                <a:tableStyleId>{4557E0EC-133D-4962-8930-70C0B9D9C8F6}</a:tableStyleId>
              </a:tblPr>
              <a:tblGrid>
                <a:gridCol w="508900"/>
                <a:gridCol w="1531275"/>
                <a:gridCol w="1391225"/>
                <a:gridCol w="1445275"/>
                <a:gridCol w="2158650"/>
                <a:gridCol w="1902175"/>
              </a:tblGrid>
              <a:tr h="491700">
                <a:tc>
                  <a:txBody>
                    <a:bodyPr/>
                    <a:lstStyle/>
                    <a:p>
                      <a:pPr marL="0" marR="0" lvl="0" indent="0" algn="ctr" rtl="0">
                        <a:spcBef>
                          <a:spcPts val="0"/>
                        </a:spcBef>
                        <a:spcAft>
                          <a:spcPts val="0"/>
                        </a:spcAft>
                        <a:buNone/>
                      </a:pPr>
                      <a:r>
                        <a:rPr lang="en-GB" sz="1100" b="0" i="0" dirty="0">
                          <a:latin typeface="Helvetica Neue"/>
                          <a:ea typeface="Helvetica Neue"/>
                          <a:cs typeface="Helvetica Neue"/>
                          <a:sym typeface="Helvetica Neue"/>
                        </a:rPr>
                        <a:t>S. N</a:t>
                      </a:r>
                      <a:r>
                        <a:rPr lang="en-GB" sz="1100" b="0" dirty="0">
                          <a:latin typeface="Helvetica Neue"/>
                          <a:ea typeface="Helvetica Neue"/>
                          <a:cs typeface="Helvetica Neue"/>
                          <a:sym typeface="Helvetica Neue"/>
                        </a:rPr>
                        <a:t>o</a:t>
                      </a:r>
                      <a:r>
                        <a:rPr lang="en-GB" sz="1100" b="0" i="0" dirty="0">
                          <a:latin typeface="Helvetica Neue"/>
                          <a:ea typeface="Helvetica Neue"/>
                          <a:cs typeface="Helvetica Neue"/>
                          <a:sym typeface="Helvetica Neue"/>
                        </a:rPr>
                        <a:t>.</a:t>
                      </a:r>
                      <a:endParaRPr sz="1100" b="0" dirty="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Author &amp; </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Paper Title </a:t>
                      </a:r>
                      <a:br>
                        <a:rPr lang="en-GB" sz="1100" b="0" i="0">
                          <a:latin typeface="Helvetica Neue"/>
                          <a:ea typeface="Helvetica Neue"/>
                          <a:cs typeface="Helvetica Neue"/>
                          <a:sym typeface="Helvetica Neue"/>
                        </a:rPr>
                      </a:br>
                      <a:r>
                        <a:rPr lang="en-GB" sz="1100" b="0" i="0">
                          <a:latin typeface="Helvetica Neue"/>
                          <a:ea typeface="Helvetica Neue"/>
                          <a:cs typeface="Helvetica Neue"/>
                          <a:sym typeface="Helvetica Neue"/>
                        </a:rPr>
                        <a:t>[Citation]</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Journal/</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Conference</a:t>
                      </a:r>
                      <a:br>
                        <a:rPr lang="en-GB" sz="1100" b="0" i="0">
                          <a:latin typeface="Helvetica Neue"/>
                          <a:ea typeface="Helvetica Neue"/>
                          <a:cs typeface="Helvetica Neue"/>
                          <a:sym typeface="Helvetica Neue"/>
                        </a:rPr>
                      </a:br>
                      <a:r>
                        <a:rPr lang="en-GB" sz="1100" b="0" i="0">
                          <a:latin typeface="Helvetica Neue"/>
                          <a:ea typeface="Helvetica Neue"/>
                          <a:cs typeface="Helvetica Neue"/>
                          <a:sym typeface="Helvetica Neue"/>
                        </a:rPr>
                        <a:t>(Year)</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Tools/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Techniques/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Dataset</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Key Findings/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Results</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Limitations/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Gaps Identified</a:t>
                      </a:r>
                      <a:endParaRPr sz="1100" b="0">
                        <a:latin typeface="Helvetica Neue"/>
                        <a:ea typeface="Helvetica Neue"/>
                        <a:cs typeface="Helvetica Neue"/>
                        <a:sym typeface="Helvetica Neue"/>
                      </a:endParaRPr>
                    </a:p>
                  </a:txBody>
                  <a:tcPr marL="91450" marR="91450" marT="45725" marB="45725">
                    <a:solidFill>
                      <a:srgbClr val="606029"/>
                    </a:solidFill>
                  </a:tcPr>
                </a:tc>
              </a:tr>
              <a:tr h="1027100">
                <a:tc>
                  <a:txBody>
                    <a:bodyPr/>
                    <a:lstStyle/>
                    <a:p>
                      <a:pPr marL="0" marR="0" lvl="0" indent="0" algn="ctr" rtl="0">
                        <a:spcBef>
                          <a:spcPts val="0"/>
                        </a:spcBef>
                        <a:spcAft>
                          <a:spcPts val="0"/>
                        </a:spcAft>
                        <a:buNone/>
                      </a:pPr>
                      <a:r>
                        <a:rPr lang="en-GB" sz="1050" i="0" dirty="0">
                          <a:latin typeface="Helvetica Neue"/>
                          <a:ea typeface="Helvetica Neue"/>
                          <a:cs typeface="Helvetica Neue"/>
                          <a:sym typeface="Helvetica Neue"/>
                        </a:rPr>
                        <a:t>9.</a:t>
                      </a:r>
                      <a:endParaRPr sz="1050" dirty="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dirty="0" err="1">
                          <a:latin typeface="Helvetica Neue"/>
                          <a:ea typeface="Helvetica Neue"/>
                          <a:cs typeface="Helvetica Neue"/>
                          <a:sym typeface="Helvetica Neue"/>
                        </a:rPr>
                        <a:t>Gayatri</a:t>
                      </a:r>
                      <a:r>
                        <a:rPr lang="en-GB" sz="800" dirty="0">
                          <a:latin typeface="Helvetica Neue"/>
                          <a:ea typeface="Helvetica Neue"/>
                          <a:cs typeface="Helvetica Neue"/>
                          <a:sym typeface="Helvetica Neue"/>
                        </a:rPr>
                        <a:t> Nair, </a:t>
                      </a:r>
                      <a:r>
                        <a:rPr lang="en-GB" sz="800" dirty="0" err="1">
                          <a:latin typeface="Helvetica Neue"/>
                          <a:ea typeface="Helvetica Neue"/>
                          <a:cs typeface="Helvetica Neue"/>
                          <a:sym typeface="Helvetica Neue"/>
                        </a:rPr>
                        <a:t>Soumya</a:t>
                      </a:r>
                      <a:r>
                        <a:rPr lang="en-GB" sz="800" dirty="0">
                          <a:latin typeface="Helvetica Neue"/>
                          <a:ea typeface="Helvetica Neue"/>
                          <a:cs typeface="Helvetica Neue"/>
                          <a:sym typeface="Helvetica Neue"/>
                        </a:rPr>
                        <a:t> Johnson, V. </a:t>
                      </a:r>
                      <a:r>
                        <a:rPr lang="en-GB" sz="800" dirty="0" err="1">
                          <a:latin typeface="Helvetica Neue"/>
                          <a:ea typeface="Helvetica Neue"/>
                          <a:cs typeface="Helvetica Neue"/>
                          <a:sym typeface="Helvetica Neue"/>
                        </a:rPr>
                        <a:t>Sathya</a:t>
                      </a:r>
                      <a:r>
                        <a:rPr lang="en-GB" sz="800" dirty="0">
                          <a:latin typeface="Helvetica Neue"/>
                          <a:ea typeface="Helvetica Neue"/>
                          <a:cs typeface="Helvetica Neue"/>
                          <a:sym typeface="Helvetica Neue"/>
                        </a:rPr>
                        <a:t> — </a:t>
                      </a:r>
                      <a:r>
                        <a:rPr lang="en-GB" sz="800" i="1" dirty="0" err="1">
                          <a:latin typeface="Helvetica Neue"/>
                          <a:ea typeface="Helvetica Neue"/>
                          <a:cs typeface="Helvetica Neue"/>
                          <a:sym typeface="Helvetica Neue"/>
                        </a:rPr>
                        <a:t>Chatbot</a:t>
                      </a:r>
                      <a:r>
                        <a:rPr lang="en-GB" sz="800" i="1" dirty="0">
                          <a:latin typeface="Helvetica Neue"/>
                          <a:ea typeface="Helvetica Neue"/>
                          <a:cs typeface="Helvetica Neue"/>
                          <a:sym typeface="Helvetica Neue"/>
                        </a:rPr>
                        <a:t> as a Personal Assistant</a:t>
                      </a:r>
                      <a:endParaRPr sz="800" i="0" dirty="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dirty="0">
                          <a:latin typeface="Helvetica Neue"/>
                          <a:ea typeface="Helvetica Neue"/>
                          <a:cs typeface="Helvetica Neue"/>
                          <a:sym typeface="Helvetica Neue"/>
                        </a:rPr>
                        <a:t>International Journal of Applied Engineering Research (IJAER), Vol. 13, No. 20, 2018</a:t>
                      </a:r>
                      <a:endParaRPr sz="800" i="0" dirty="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Clr>
                          <a:srgbClr val="000000"/>
                        </a:buClr>
                        <a:buSzPts val="1100"/>
                        <a:buFont typeface="Arial"/>
                        <a:buNone/>
                      </a:pPr>
                      <a:r>
                        <a:rPr lang="en-GB" sz="800" dirty="0">
                          <a:latin typeface="Helvetica Neue"/>
                          <a:ea typeface="Helvetica Neue"/>
                          <a:cs typeface="Helvetica Neue"/>
                          <a:sym typeface="Helvetica Neue"/>
                        </a:rPr>
                        <a:t>- Java (Eclipse IDE)</a:t>
                      </a:r>
                      <a:endParaRPr sz="800" dirty="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dirty="0">
                          <a:latin typeface="Helvetica Neue"/>
                          <a:ea typeface="Helvetica Neue"/>
                          <a:cs typeface="Helvetica Neue"/>
                          <a:sym typeface="Helvetica Neue"/>
                        </a:rPr>
                        <a:t>- AIML (Artificial Intelligence </a:t>
                      </a:r>
                      <a:r>
                        <a:rPr lang="en-GB" sz="800" dirty="0" err="1">
                          <a:latin typeface="Helvetica Neue"/>
                          <a:ea typeface="Helvetica Neue"/>
                          <a:cs typeface="Helvetica Neue"/>
                          <a:sym typeface="Helvetica Neue"/>
                        </a:rPr>
                        <a:t>Markup</a:t>
                      </a:r>
                      <a:r>
                        <a:rPr lang="en-GB" sz="800" dirty="0">
                          <a:latin typeface="Helvetica Neue"/>
                          <a:ea typeface="Helvetica Neue"/>
                          <a:cs typeface="Helvetica Neue"/>
                          <a:sym typeface="Helvetica Neue"/>
                        </a:rPr>
                        <a:t> Language)</a:t>
                      </a:r>
                      <a:endParaRPr sz="800" dirty="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dirty="0">
                          <a:latin typeface="Helvetica Neue"/>
                          <a:ea typeface="Helvetica Neue"/>
                          <a:cs typeface="Helvetica Neue"/>
                          <a:sym typeface="Helvetica Neue"/>
                        </a:rPr>
                        <a:t>- Pattern Matching, NLP, ANN</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 APIs (Google Calendar, Gmail)</a:t>
                      </a:r>
                      <a:endParaRPr sz="800" dirty="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Clr>
                          <a:srgbClr val="000000"/>
                        </a:buClr>
                        <a:buSzPts val="1100"/>
                        <a:buFont typeface="Arial"/>
                        <a:buNone/>
                      </a:pPr>
                      <a:r>
                        <a:rPr lang="en-GB" sz="800" dirty="0">
                          <a:latin typeface="Helvetica Neue"/>
                          <a:ea typeface="Helvetica Neue"/>
                          <a:cs typeface="Helvetica Neue"/>
                          <a:sym typeface="Helvetica Neue"/>
                        </a:rPr>
                        <a:t>- Proposed </a:t>
                      </a:r>
                      <a:r>
                        <a:rPr lang="en-GB" sz="800" dirty="0" err="1">
                          <a:latin typeface="Helvetica Neue"/>
                          <a:ea typeface="Helvetica Neue"/>
                          <a:cs typeface="Helvetica Neue"/>
                          <a:sym typeface="Helvetica Neue"/>
                        </a:rPr>
                        <a:t>ResumeBot</a:t>
                      </a:r>
                      <a:r>
                        <a:rPr lang="en-GB" sz="800" dirty="0">
                          <a:latin typeface="Helvetica Neue"/>
                          <a:ea typeface="Helvetica Neue"/>
                          <a:cs typeface="Helvetica Neue"/>
                          <a:sym typeface="Helvetica Neue"/>
                        </a:rPr>
                        <a:t>: </a:t>
                      </a:r>
                      <a:r>
                        <a:rPr lang="en-GB" sz="800" dirty="0" err="1">
                          <a:latin typeface="Helvetica Neue"/>
                          <a:ea typeface="Helvetica Neue"/>
                          <a:cs typeface="Helvetica Neue"/>
                          <a:sym typeface="Helvetica Neue"/>
                        </a:rPr>
                        <a:t>chatbot</a:t>
                      </a:r>
                      <a:r>
                        <a:rPr lang="en-GB" sz="800" dirty="0">
                          <a:latin typeface="Helvetica Neue"/>
                          <a:ea typeface="Helvetica Neue"/>
                          <a:cs typeface="Helvetica Neue"/>
                          <a:sym typeface="Helvetica Neue"/>
                        </a:rPr>
                        <a:t>-based interactive resume.</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 Functions as a personal assistant: scheduling meetings, managing calendars, answering queries.</a:t>
                      </a:r>
                      <a:endParaRPr sz="800" dirty="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None/>
                      </a:pPr>
                      <a:r>
                        <a:rPr lang="en-GB" sz="800" dirty="0">
                          <a:latin typeface="Helvetica Neue"/>
                          <a:ea typeface="Helvetica Neue"/>
                          <a:cs typeface="Helvetica Neue"/>
                          <a:sym typeface="Helvetica Neue"/>
                        </a:rPr>
                        <a:t>Accuracy limitations in pattern matching </a:t>
                      </a:r>
                      <a:endParaRPr sz="800" dirty="0">
                        <a:latin typeface="Helvetica Neue"/>
                        <a:ea typeface="Helvetica Neue"/>
                        <a:cs typeface="Helvetica Neue"/>
                        <a:sym typeface="Helvetica Neue"/>
                      </a:endParaRPr>
                    </a:p>
                    <a:p>
                      <a:pPr marL="0" lvl="0" indent="0" algn="l" rtl="0">
                        <a:spcBef>
                          <a:spcPts val="0"/>
                        </a:spcBef>
                        <a:spcAft>
                          <a:spcPts val="0"/>
                        </a:spcAft>
                        <a:buNone/>
                      </a:pPr>
                      <a:r>
                        <a:rPr lang="en-GB" sz="800" dirty="0">
                          <a:latin typeface="Helvetica Neue"/>
                          <a:ea typeface="Helvetica Neue"/>
                          <a:cs typeface="Helvetica Neue"/>
                          <a:sym typeface="Helvetica Neue"/>
                        </a:rPr>
                        <a:t>Lacks continuous learning.</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Limited to text-based chat, less voice integration.</a:t>
                      </a:r>
                      <a:endParaRPr sz="800" dirty="0">
                        <a:latin typeface="Helvetica Neue"/>
                        <a:ea typeface="Helvetica Neue"/>
                        <a:cs typeface="Helvetica Neue"/>
                        <a:sym typeface="Helvetica Neue"/>
                      </a:endParaRPr>
                    </a:p>
                  </a:txBody>
                  <a:tcPr marL="91450" marR="91450" marT="45725" marB="45725">
                    <a:solidFill>
                      <a:srgbClr val="D5D59B"/>
                    </a:solidFill>
                  </a:tcPr>
                </a:tc>
              </a:tr>
              <a:tr h="786725">
                <a:tc>
                  <a:txBody>
                    <a:bodyPr/>
                    <a:lstStyle/>
                    <a:p>
                      <a:pPr marL="0" marR="0" lvl="0" indent="0" algn="ctr" rtl="0">
                        <a:spcBef>
                          <a:spcPts val="0"/>
                        </a:spcBef>
                        <a:spcAft>
                          <a:spcPts val="0"/>
                        </a:spcAft>
                        <a:buNone/>
                      </a:pPr>
                      <a:r>
                        <a:rPr lang="en-GB" sz="900" b="0" i="0">
                          <a:latin typeface="Helvetica Neue"/>
                          <a:ea typeface="Helvetica Neue"/>
                          <a:cs typeface="Helvetica Neue"/>
                          <a:sym typeface="Helvetica Neue"/>
                        </a:rPr>
                        <a:t>10.</a:t>
                      </a:r>
                      <a:endParaRPr sz="1100"/>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Khalid M. Jaber, Mohammed Laf, Mohammad A. Jawad</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A Comparative Study for Virtual Personal Assistants (VPA) </a:t>
                      </a: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IJCESEN, Vol. 10, No. 3, 2024</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NLP, ASR</a:t>
                      </a:r>
                      <a:br>
                        <a:rPr lang="en-GB" sz="800">
                          <a:latin typeface="Helvetica Neue"/>
                          <a:ea typeface="Helvetica Neue"/>
                          <a:cs typeface="Helvetica Neue"/>
                          <a:sym typeface="Helvetica Neue"/>
                        </a:rPr>
                      </a:br>
                      <a:r>
                        <a:rPr lang="en-GB" sz="800">
                          <a:latin typeface="Helvetica Neue"/>
                          <a:ea typeface="Helvetica Neue"/>
                          <a:cs typeface="Helvetica Neue"/>
                          <a:sym typeface="Helvetica Neue"/>
                        </a:rPr>
                        <a:t>Comparative study Literature-based review</a:t>
                      </a:r>
                      <a:endParaRPr sz="800">
                        <a:latin typeface="Helvetica Neue"/>
                        <a:ea typeface="Helvetica Neue"/>
                        <a:cs typeface="Helvetica Neue"/>
                        <a:sym typeface="Helvetica Neue"/>
                      </a:endParaRPr>
                    </a:p>
                    <a:p>
                      <a:pPr marL="0" marR="0" lvl="0" indent="0" algn="l" rtl="0">
                        <a:spcBef>
                          <a:spcPts val="0"/>
                        </a:spcBef>
                        <a:spcAft>
                          <a:spcPts val="0"/>
                        </a:spcAft>
                        <a:buNone/>
                      </a:pP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Google Assistant best in interaction; Alexa weakest</a:t>
                      </a:r>
                      <a:br>
                        <a:rPr lang="en-GB" sz="800">
                          <a:latin typeface="Helvetica Neue"/>
                          <a:ea typeface="Helvetica Neue"/>
                          <a:cs typeface="Helvetica Neue"/>
                          <a:sym typeface="Helvetica Neue"/>
                        </a:rPr>
                      </a:br>
                      <a:r>
                        <a:rPr lang="en-GB" sz="800">
                          <a:latin typeface="Helvetica Neue"/>
                          <a:ea typeface="Helvetica Neue"/>
                          <a:cs typeface="Helvetica Neue"/>
                          <a:sym typeface="Helvetica Neue"/>
                        </a:rPr>
                        <a:t>Siri &amp; Cortana use NLP + CI</a:t>
                      </a:r>
                      <a:br>
                        <a:rPr lang="en-GB" sz="800">
                          <a:latin typeface="Helvetica Neue"/>
                          <a:ea typeface="Helvetica Neue"/>
                          <a:cs typeface="Helvetica Neue"/>
                          <a:sym typeface="Helvetica Neue"/>
                        </a:rPr>
                      </a:br>
                      <a:r>
                        <a:rPr lang="en-GB" sz="800">
                          <a:latin typeface="Helvetica Neue"/>
                          <a:ea typeface="Helvetica Neue"/>
                          <a:cs typeface="Helvetica Neue"/>
                          <a:sym typeface="Helvetica Neue"/>
                        </a:rPr>
                        <a:t>Device-specific compatibility</a:t>
                      </a:r>
                      <a:endParaRPr sz="800">
                        <a:latin typeface="Helvetica Neue"/>
                        <a:ea typeface="Helvetica Neue"/>
                        <a:cs typeface="Helvetica Neue"/>
                        <a:sym typeface="Helvetica Neue"/>
                      </a:endParaRPr>
                    </a:p>
                    <a:p>
                      <a:pPr marL="0" marR="0" lvl="0" indent="0" algn="l" rtl="0">
                        <a:spcBef>
                          <a:spcPts val="0"/>
                        </a:spcBef>
                        <a:spcAft>
                          <a:spcPts val="0"/>
                        </a:spcAft>
                        <a:buNone/>
                      </a:pP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None/>
                      </a:pPr>
                      <a:r>
                        <a:rPr lang="en-GB" sz="800" dirty="0">
                          <a:latin typeface="Helvetica Neue"/>
                          <a:ea typeface="Helvetica Neue"/>
                          <a:cs typeface="Helvetica Neue"/>
                          <a:sym typeface="Helvetica Neue"/>
                        </a:rPr>
                        <a:t>Weak human-like interaction</a:t>
                      </a:r>
                      <a:endParaRPr sz="800" dirty="0">
                        <a:latin typeface="Helvetica Neue"/>
                        <a:ea typeface="Helvetica Neue"/>
                        <a:cs typeface="Helvetica Neue"/>
                        <a:sym typeface="Helvetica Neue"/>
                      </a:endParaRPr>
                    </a:p>
                    <a:p>
                      <a:pPr marL="0" lvl="0" indent="0" algn="l" rtl="0">
                        <a:spcBef>
                          <a:spcPts val="0"/>
                        </a:spcBef>
                        <a:spcAft>
                          <a:spcPts val="0"/>
                        </a:spcAft>
                        <a:buNone/>
                      </a:pPr>
                      <a:r>
                        <a:rPr lang="en-GB" sz="800" dirty="0">
                          <a:latin typeface="Helvetica Neue"/>
                          <a:ea typeface="Helvetica Neue"/>
                          <a:cs typeface="Helvetica Neue"/>
                          <a:sym typeface="Helvetica Neue"/>
                        </a:rPr>
                        <a:t>Privacy/security risks</a:t>
                      </a:r>
                      <a:endParaRPr sz="800" dirty="0">
                        <a:latin typeface="Helvetica Neue"/>
                        <a:ea typeface="Helvetica Neue"/>
                        <a:cs typeface="Helvetica Neue"/>
                        <a:sym typeface="Helvetica Neue"/>
                      </a:endParaRPr>
                    </a:p>
                    <a:p>
                      <a:pPr marL="0" lvl="0" indent="0" algn="l" rtl="0">
                        <a:spcBef>
                          <a:spcPts val="0"/>
                        </a:spcBef>
                        <a:spcAft>
                          <a:spcPts val="0"/>
                        </a:spcAft>
                        <a:buNone/>
                      </a:pPr>
                      <a:r>
                        <a:rPr lang="en-GB" sz="800" dirty="0">
                          <a:latin typeface="Helvetica Neue"/>
                          <a:ea typeface="Helvetica Neue"/>
                          <a:cs typeface="Helvetica Neue"/>
                          <a:sym typeface="Helvetica Neue"/>
                        </a:rPr>
                        <a:t>Device exclusivity (e.g., Siri on Apple only)</a:t>
                      </a:r>
                      <a:endParaRPr sz="800" dirty="0">
                        <a:latin typeface="Helvetica Neue"/>
                        <a:ea typeface="Helvetica Neue"/>
                        <a:cs typeface="Helvetica Neue"/>
                        <a:sym typeface="Helvetica Neue"/>
                      </a:endParaRPr>
                    </a:p>
                    <a:p>
                      <a:pPr marL="0" marR="0" lvl="0" indent="0" algn="l" rtl="0">
                        <a:spcBef>
                          <a:spcPts val="0"/>
                        </a:spcBef>
                        <a:spcAft>
                          <a:spcPts val="0"/>
                        </a:spcAft>
                        <a:buNone/>
                      </a:pPr>
                      <a:endParaRPr sz="800" dirty="0">
                        <a:latin typeface="Helvetica Neue"/>
                        <a:ea typeface="Helvetica Neue"/>
                        <a:cs typeface="Helvetica Neue"/>
                        <a:sym typeface="Helvetica Neue"/>
                      </a:endParaRPr>
                    </a:p>
                  </a:txBody>
                  <a:tcPr marL="91450" marR="91450" marT="45725" marB="45725">
                    <a:solidFill>
                      <a:srgbClr val="F0F0DD"/>
                    </a:solidFill>
                  </a:tcPr>
                </a:tc>
              </a:tr>
              <a:tr h="1147300">
                <a:tc>
                  <a:txBody>
                    <a:bodyPr/>
                    <a:lstStyle/>
                    <a:p>
                      <a:pPr marL="0" marR="0" lvl="0" indent="0" algn="ctr" rtl="0">
                        <a:spcBef>
                          <a:spcPts val="0"/>
                        </a:spcBef>
                        <a:spcAft>
                          <a:spcPts val="0"/>
                        </a:spcAft>
                        <a:buNone/>
                      </a:pPr>
                      <a:r>
                        <a:rPr lang="en-GB" sz="900" b="0" i="0">
                          <a:latin typeface="Helvetica Neue"/>
                          <a:ea typeface="Helvetica Neue"/>
                          <a:cs typeface="Helvetica Neue"/>
                          <a:sym typeface="Helvetica Neue"/>
                        </a:rPr>
                        <a:t>11.</a:t>
                      </a:r>
                      <a:endParaRPr sz="1100"/>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Shuaihang Chen et al. — </a:t>
                      </a:r>
                      <a:r>
                        <a:rPr lang="en-GB" sz="800" i="1">
                          <a:latin typeface="Helvetica Neue"/>
                          <a:ea typeface="Helvetica Neue"/>
                          <a:cs typeface="Helvetica Neue"/>
                          <a:sym typeface="Helvetica Neue"/>
                        </a:rPr>
                        <a:t>A Survey on LLM-based Multi-Agent System: Recent Advances and New Frontiers in Application</a:t>
                      </a:r>
                      <a:r>
                        <a:rPr lang="en-GB" sz="800">
                          <a:latin typeface="Helvetica Neue"/>
                          <a:ea typeface="Helvetica Neue"/>
                          <a:cs typeface="Helvetica Neue"/>
                          <a:sym typeface="Helvetica Neue"/>
                        </a:rPr>
                        <a:t> [arXiv:2412.17481]</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arXiv preprint (2024, revised 2025)</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Looked at many research papers, grouped them into categories, compared systems and uses</a:t>
                      </a:r>
                      <a:endParaRPr sz="8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SzPts val="1100"/>
                        <a:buNone/>
                      </a:pPr>
                      <a:r>
                        <a:rPr lang="en-GB" sz="800">
                          <a:latin typeface="Helvetica Neue"/>
                          <a:ea typeface="Helvetica Neue"/>
                          <a:cs typeface="Helvetica Neue"/>
                          <a:sym typeface="Helvetica Neue"/>
                        </a:rPr>
                        <a:t>• Gave a clear definition and types of LLM-based Multi-Agent Systems (MAS)</a:t>
                      </a:r>
                      <a:endParaRPr sz="800">
                        <a:latin typeface="Helvetica Neue"/>
                        <a:ea typeface="Helvetica Neue"/>
                        <a:cs typeface="Helvetica Neue"/>
                        <a:sym typeface="Helvetica Neue"/>
                      </a:endParaRPr>
                    </a:p>
                    <a:p>
                      <a:pPr marL="0" lvl="0" indent="0" algn="l" rtl="0">
                        <a:spcBef>
                          <a:spcPts val="0"/>
                        </a:spcBef>
                        <a:spcAft>
                          <a:spcPts val="0"/>
                        </a:spcAft>
                        <a:buSzPts val="1100"/>
                        <a:buNone/>
                      </a:pPr>
                      <a:r>
                        <a:rPr lang="en-GB" sz="800">
                          <a:latin typeface="Helvetica Neue"/>
                          <a:ea typeface="Helvetica Neue"/>
                          <a:cs typeface="Helvetica Neue"/>
                          <a:sym typeface="Helvetica Neue"/>
                        </a:rPr>
                        <a:t>• Showed how they are used: solving complex problems, simulations, evaluations</a:t>
                      </a:r>
                      <a:endParaRPr sz="800">
                        <a:latin typeface="Helvetica Neue"/>
                        <a:ea typeface="Helvetica Neue"/>
                        <a:cs typeface="Helvetica Neue"/>
                        <a:sym typeface="Helvetica Neue"/>
                      </a:endParaRPr>
                    </a:p>
                    <a:p>
                      <a:pPr marL="0" lvl="0" indent="0" algn="l" rtl="0">
                        <a:spcBef>
                          <a:spcPts val="0"/>
                        </a:spcBef>
                        <a:spcAft>
                          <a:spcPts val="0"/>
                        </a:spcAft>
                        <a:buSzPts val="1100"/>
                        <a:buNone/>
                      </a:pPr>
                      <a:r>
                        <a:rPr lang="en-GB" sz="800">
                          <a:latin typeface="Helvetica Neue"/>
                          <a:ea typeface="Helvetica Neue"/>
                          <a:cs typeface="Helvetica Neue"/>
                          <a:sym typeface="Helvetica Neue"/>
                        </a:rPr>
                        <a:t>• Pointed out challenges like coordination, alignment, and communication</a:t>
                      </a:r>
                      <a:endParaRPr sz="800">
                        <a:latin typeface="Helvetica Neue"/>
                        <a:ea typeface="Helvetica Neue"/>
                        <a:cs typeface="Helvetica Neue"/>
                        <a:sym typeface="Helvetica Neue"/>
                      </a:endParaRPr>
                    </a:p>
                  </a:txBody>
                  <a:tcPr marL="91450" marR="91450" marT="45725" marB="45725">
                    <a:solidFill>
                      <a:srgbClr val="D5D59B"/>
                    </a:solidFill>
                  </a:tcPr>
                </a:tc>
                <a:tc>
                  <a:txBody>
                    <a:bodyPr/>
                    <a:lstStyle/>
                    <a:p>
                      <a:pPr marL="0" lvl="0" indent="0" algn="l" rtl="0">
                        <a:spcBef>
                          <a:spcPts val="0"/>
                        </a:spcBef>
                        <a:spcAft>
                          <a:spcPts val="0"/>
                        </a:spcAft>
                        <a:buNone/>
                      </a:pPr>
                      <a:r>
                        <a:rPr lang="en-GB" sz="800" dirty="0">
                          <a:latin typeface="Helvetica Neue"/>
                          <a:ea typeface="Helvetica Neue"/>
                          <a:cs typeface="Helvetica Neue"/>
                          <a:sym typeface="Helvetica Neue"/>
                        </a:rPr>
                        <a:t>No new experiments, only a review</a:t>
                      </a:r>
                      <a:endParaRPr sz="800" dirty="0">
                        <a:latin typeface="Helvetica Neue"/>
                        <a:ea typeface="Helvetica Neue"/>
                        <a:cs typeface="Helvetica Neue"/>
                        <a:sym typeface="Helvetica Neue"/>
                      </a:endParaRPr>
                    </a:p>
                    <a:p>
                      <a:pPr marL="0" lvl="0" indent="0" algn="l" rtl="0">
                        <a:spcBef>
                          <a:spcPts val="0"/>
                        </a:spcBef>
                        <a:spcAft>
                          <a:spcPts val="0"/>
                        </a:spcAft>
                        <a:buNone/>
                      </a:pPr>
                      <a:r>
                        <a:rPr lang="en-GB" sz="800" dirty="0">
                          <a:latin typeface="Helvetica Neue"/>
                          <a:ea typeface="Helvetica Neue"/>
                          <a:cs typeface="Helvetica Neue"/>
                          <a:sym typeface="Helvetica Neue"/>
                        </a:rPr>
                        <a:t>May miss very new works (fast-moving field)</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Does not measure or compare actual performance in detail</a:t>
                      </a:r>
                      <a:endParaRPr sz="800" dirty="0">
                        <a:latin typeface="Helvetica Neue"/>
                        <a:ea typeface="Helvetica Neue"/>
                        <a:cs typeface="Helvetica Neue"/>
                        <a:sym typeface="Helvetica Neue"/>
                      </a:endParaRPr>
                    </a:p>
                  </a:txBody>
                  <a:tcPr marL="91450" marR="91450" marT="45725" marB="45725">
                    <a:solidFill>
                      <a:srgbClr val="D5D59B"/>
                    </a:solidFill>
                  </a:tcPr>
                </a:tc>
              </a:tr>
              <a:tr h="1147300">
                <a:tc>
                  <a:txBody>
                    <a:bodyPr/>
                    <a:lstStyle/>
                    <a:p>
                      <a:pPr marL="0" marR="0" lvl="0" indent="0" algn="ctr" rtl="0">
                        <a:spcBef>
                          <a:spcPts val="0"/>
                        </a:spcBef>
                        <a:spcAft>
                          <a:spcPts val="0"/>
                        </a:spcAft>
                        <a:buNone/>
                      </a:pPr>
                      <a:r>
                        <a:rPr lang="en-GB" sz="900" b="0" i="0">
                          <a:latin typeface="Helvetica Neue"/>
                          <a:ea typeface="Helvetica Neue"/>
                          <a:cs typeface="Helvetica Neue"/>
                          <a:sym typeface="Helvetica Neue"/>
                        </a:rPr>
                        <a:t>12.</a:t>
                      </a:r>
                      <a:endParaRPr sz="1100"/>
                    </a:p>
                  </a:txBody>
                  <a:tcPr marL="91450" marR="91450" marT="45725" marB="45725">
                    <a:solidFill>
                      <a:srgbClr val="F0F0DD"/>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Satyadhar Joshi — </a:t>
                      </a:r>
                      <a:r>
                        <a:rPr lang="en-GB" sz="800" i="1">
                          <a:latin typeface="Helvetica Neue"/>
                          <a:ea typeface="Helvetica Neue"/>
                          <a:cs typeface="Helvetica Neue"/>
                          <a:sym typeface="Helvetica Neue"/>
                        </a:rPr>
                        <a:t>Review of Autonomous and Collaborative Agentic AI and Multi-Agent Systems for Enterprise Applications</a:t>
                      </a:r>
                      <a:r>
                        <a:rPr lang="en-GB" sz="800">
                          <a:latin typeface="Helvetica Neue"/>
                          <a:ea typeface="Helvetica Neue"/>
                          <a:cs typeface="Helvetica Neue"/>
                          <a:sym typeface="Helvetica Neue"/>
                        </a:rPr>
                        <a:t> [PhilPapers record]</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i="1">
                          <a:latin typeface="Helvetica Neue"/>
                          <a:ea typeface="Helvetica Neue"/>
                          <a:cs typeface="Helvetica Neue"/>
                          <a:sym typeface="Helvetica Neue"/>
                        </a:rPr>
                        <a:t>International Journal of Innovative Research in Engineering and Management</a:t>
                      </a:r>
                      <a:r>
                        <a:rPr lang="en-GB" sz="800">
                          <a:latin typeface="Helvetica Neue"/>
                          <a:ea typeface="Helvetica Neue"/>
                          <a:cs typeface="Helvetica Neue"/>
                          <a:sym typeface="Helvetica Neue"/>
                        </a:rPr>
                        <a:t>, Vol. 12, No. 3 (2025)</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800">
                          <a:latin typeface="Helvetica Neue"/>
                          <a:ea typeface="Helvetica Neue"/>
                          <a:cs typeface="Helvetica Neue"/>
                          <a:sym typeface="Helvetica Neue"/>
                        </a:rPr>
                        <a:t>Reviewed about 65 papers, grouped by themes like architecture, collaboration, governance</a:t>
                      </a:r>
                      <a:endParaRPr sz="8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Explained how enterprise AI is moving from passive tools to active autonomous agents</a:t>
                      </a:r>
                      <a:endParaRPr sz="800">
                        <a:latin typeface="Helvetica Neue"/>
                        <a:ea typeface="Helvetica Neue"/>
                        <a:cs typeface="Helvetica Neue"/>
                        <a:sym typeface="Helvetica Neue"/>
                      </a:endParaRPr>
                    </a:p>
                    <a:p>
                      <a:pPr marL="0" lvl="0" indent="0" algn="l" rtl="0">
                        <a:spcBef>
                          <a:spcPts val="0"/>
                        </a:spcBef>
                        <a:spcAft>
                          <a:spcPts val="0"/>
                        </a:spcAft>
                        <a:buClr>
                          <a:srgbClr val="000000"/>
                        </a:buClr>
                        <a:buSzPts val="1100"/>
                        <a:buFont typeface="Arial"/>
                        <a:buNone/>
                      </a:pPr>
                      <a:r>
                        <a:rPr lang="en-GB" sz="800">
                          <a:latin typeface="Helvetica Neue"/>
                          <a:ea typeface="Helvetica Neue"/>
                          <a:cs typeface="Helvetica Neue"/>
                          <a:sym typeface="Helvetica Neue"/>
                        </a:rPr>
                        <a:t>• Shared reported efficiency gains (40–60%) in business processes</a:t>
                      </a:r>
                      <a:endParaRPr sz="800">
                        <a:latin typeface="Helvetica Neue"/>
                        <a:ea typeface="Helvetica Neue"/>
                        <a:cs typeface="Helvetica Neue"/>
                        <a:sym typeface="Helvetica Neue"/>
                      </a:endParaRPr>
                    </a:p>
                    <a:p>
                      <a:pPr marL="0" marR="0" lvl="0" indent="0" algn="l" rtl="0">
                        <a:spcBef>
                          <a:spcPts val="0"/>
                        </a:spcBef>
                        <a:spcAft>
                          <a:spcPts val="0"/>
                        </a:spcAft>
                        <a:buNone/>
                      </a:pPr>
                      <a:r>
                        <a:rPr lang="en-GB" sz="800">
                          <a:latin typeface="Helvetica Neue"/>
                          <a:ea typeface="Helvetica Neue"/>
                          <a:cs typeface="Helvetica Neue"/>
                          <a:sym typeface="Helvetica Neue"/>
                        </a:rPr>
                        <a:t>• Stressed need for governance, collaboration, and human supervision</a:t>
                      </a:r>
                      <a:endParaRPr sz="80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None/>
                      </a:pPr>
                      <a:r>
                        <a:rPr lang="en-GB" sz="800" dirty="0">
                          <a:latin typeface="Helvetica Neue"/>
                          <a:ea typeface="Helvetica Neue"/>
                          <a:cs typeface="Helvetica Neue"/>
                          <a:sym typeface="Helvetica Neue"/>
                        </a:rPr>
                        <a:t>Efficiency numbers are only from other sources, not tested by the author</a:t>
                      </a:r>
                      <a:endParaRPr sz="800" dirty="0">
                        <a:latin typeface="Helvetica Neue"/>
                        <a:ea typeface="Helvetica Neue"/>
                        <a:cs typeface="Helvetica Neue"/>
                        <a:sym typeface="Helvetica Neue"/>
                      </a:endParaRPr>
                    </a:p>
                    <a:p>
                      <a:pPr marL="0" lvl="0" indent="0" algn="l" rtl="0">
                        <a:spcBef>
                          <a:spcPts val="0"/>
                        </a:spcBef>
                        <a:spcAft>
                          <a:spcPts val="0"/>
                        </a:spcAft>
                        <a:buNone/>
                      </a:pPr>
                      <a:r>
                        <a:rPr lang="en-GB" sz="800" dirty="0">
                          <a:latin typeface="Helvetica Neue"/>
                          <a:ea typeface="Helvetica Neue"/>
                          <a:cs typeface="Helvetica Neue"/>
                          <a:sym typeface="Helvetica Neue"/>
                        </a:rPr>
                        <a:t>Very high-level discussion, little technical detail</a:t>
                      </a:r>
                      <a:endParaRPr sz="800" dirty="0">
                        <a:latin typeface="Helvetica Neue"/>
                        <a:ea typeface="Helvetica Neue"/>
                        <a:cs typeface="Helvetica Neue"/>
                        <a:sym typeface="Helvetica Neue"/>
                      </a:endParaRPr>
                    </a:p>
                    <a:p>
                      <a:pPr marL="0" marR="0" lvl="0" indent="0" algn="l" rtl="0">
                        <a:spcBef>
                          <a:spcPts val="0"/>
                        </a:spcBef>
                        <a:spcAft>
                          <a:spcPts val="0"/>
                        </a:spcAft>
                        <a:buNone/>
                      </a:pPr>
                      <a:r>
                        <a:rPr lang="en-GB" sz="800" dirty="0">
                          <a:latin typeface="Helvetica Neue"/>
                          <a:ea typeface="Helvetica Neue"/>
                          <a:cs typeface="Helvetica Neue"/>
                          <a:sym typeface="Helvetica Neue"/>
                        </a:rPr>
                        <a:t>Doesn’t deeply discuss risks like scalability or failures</a:t>
                      </a:r>
                      <a:endParaRPr sz="800" dirty="0">
                        <a:latin typeface="Helvetica Neue"/>
                        <a:ea typeface="Helvetica Neue"/>
                        <a:cs typeface="Helvetica Neue"/>
                        <a:sym typeface="Helvetica Neue"/>
                      </a:endParaRPr>
                    </a:p>
                  </a:txBody>
                  <a:tcPr marL="91450" marR="91450" marT="45725" marB="45725">
                    <a:solidFill>
                      <a:srgbClr val="F0F0DD"/>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Literature Review (cont…)</a:t>
            </a:r>
            <a:endParaRPr b="0"/>
          </a:p>
        </p:txBody>
      </p:sp>
      <p:sp>
        <p:nvSpPr>
          <p:cNvPr id="127" name="Google Shape;127;p24"/>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128" name="Google Shape;128;p24"/>
          <p:cNvGraphicFramePr/>
          <p:nvPr/>
        </p:nvGraphicFramePr>
        <p:xfrm>
          <a:off x="40656" y="553218"/>
          <a:ext cx="8940975" cy="4661645"/>
        </p:xfrm>
        <a:graphic>
          <a:graphicData uri="http://schemas.openxmlformats.org/drawingml/2006/table">
            <a:tbl>
              <a:tblPr firstRow="1" bandRow="1">
                <a:noFill/>
                <a:tableStyleId>{4557E0EC-133D-4962-8930-70C0B9D9C8F6}</a:tableStyleId>
              </a:tblPr>
              <a:tblGrid>
                <a:gridCol w="501600"/>
                <a:gridCol w="1760275"/>
                <a:gridCol w="1465250"/>
                <a:gridCol w="1421175"/>
                <a:gridCol w="1828800"/>
                <a:gridCol w="1963875"/>
              </a:tblGrid>
              <a:tr h="532825">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S. No.</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Author &amp; </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Paper Title </a:t>
                      </a:r>
                      <a:br>
                        <a:rPr lang="en-GB" sz="1100" b="0" i="0">
                          <a:latin typeface="Helvetica Neue"/>
                          <a:ea typeface="Helvetica Neue"/>
                          <a:cs typeface="Helvetica Neue"/>
                          <a:sym typeface="Helvetica Neue"/>
                        </a:rPr>
                      </a:br>
                      <a:r>
                        <a:rPr lang="en-GB" sz="1100" b="0" i="0">
                          <a:latin typeface="Helvetica Neue"/>
                          <a:ea typeface="Helvetica Neue"/>
                          <a:cs typeface="Helvetica Neue"/>
                          <a:sym typeface="Helvetica Neue"/>
                        </a:rPr>
                        <a:t>[Citation]</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Journal/</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Conference</a:t>
                      </a:r>
                      <a:br>
                        <a:rPr lang="en-GB" sz="1100" b="0" i="0">
                          <a:latin typeface="Helvetica Neue"/>
                          <a:ea typeface="Helvetica Neue"/>
                          <a:cs typeface="Helvetica Neue"/>
                          <a:sym typeface="Helvetica Neue"/>
                        </a:rPr>
                      </a:br>
                      <a:r>
                        <a:rPr lang="en-GB" sz="1100" b="0" i="0">
                          <a:latin typeface="Helvetica Neue"/>
                          <a:ea typeface="Helvetica Neue"/>
                          <a:cs typeface="Helvetica Neue"/>
                          <a:sym typeface="Helvetica Neue"/>
                        </a:rPr>
                        <a:t>(Year)</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Tools/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Techniques/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Dataset</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Key Findings/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Results</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Limitations/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Gaps Identified</a:t>
                      </a:r>
                      <a:endParaRPr sz="1100" b="0">
                        <a:latin typeface="Helvetica Neue"/>
                        <a:ea typeface="Helvetica Neue"/>
                        <a:cs typeface="Helvetica Neue"/>
                        <a:sym typeface="Helvetica Neue"/>
                      </a:endParaRPr>
                    </a:p>
                  </a:txBody>
                  <a:tcPr marL="91450" marR="91450" marT="45725" marB="45725">
                    <a:solidFill>
                      <a:srgbClr val="606029"/>
                    </a:solidFill>
                  </a:tcPr>
                </a:tc>
              </a:tr>
              <a:tr h="1183925">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13.</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 Singh et al. — </a:t>
                      </a:r>
                      <a:r>
                        <a:rPr lang="en-GB" sz="900" i="1">
                          <a:latin typeface="Helvetica Neue"/>
                          <a:ea typeface="Helvetica Neue"/>
                          <a:cs typeface="Helvetica Neue"/>
                          <a:sym typeface="Helvetica Neue"/>
                        </a:rPr>
                        <a:t>SafeMate: A Model Context Protocol-Based Multimodal Agent for Emergency Preparedness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arXiv preprint (2025)</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Model Context Protocol (MCP), multimodal agents, tool integration (retrieval, summarization, checklists)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Demonstrates MCP as a framework for integrating multiple tools, enabling an emergency assistant to respond dynamically. Validates MCP’s scalability in real-world applications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Still early-stage, limited to emergency preparedness scenario. Needs broader validation across domains</a:t>
                      </a:r>
                      <a:endParaRPr sz="900" i="0">
                        <a:latin typeface="Helvetica Neue"/>
                        <a:ea typeface="Helvetica Neue"/>
                        <a:cs typeface="Helvetica Neue"/>
                        <a:sym typeface="Helvetica Neue"/>
                      </a:endParaRPr>
                    </a:p>
                  </a:txBody>
                  <a:tcPr marL="91450" marR="91450" marT="45725" marB="45725">
                    <a:solidFill>
                      <a:srgbClr val="D5D59B"/>
                    </a:solidFill>
                  </a:tcPr>
                </a:tc>
              </a:tr>
              <a:tr h="852525">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14.</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D. Madotto et al. — </a:t>
                      </a:r>
                      <a:r>
                        <a:rPr lang="en-GB" sz="900" i="1">
                          <a:latin typeface="Helvetica Neue"/>
                          <a:ea typeface="Helvetica Neue"/>
                          <a:cs typeface="Helvetica Neue"/>
                          <a:sym typeface="Helvetica Neue"/>
                        </a:rPr>
                        <a:t>Plug-and-Play Conversational Models</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EMNLP Findings (2020)</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Plug-and-Play Language Models, controllable generation, API-based modular design</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Shows how conversational systems can flexibly integrate features or tools without retraining the entire model.</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Primarily tested on text-based tasks; lacks evaluation on multi-modal or real-time assistants</a:t>
                      </a:r>
                      <a:endParaRPr sz="900" i="0">
                        <a:latin typeface="Helvetica Neue"/>
                        <a:ea typeface="Helvetica Neue"/>
                        <a:cs typeface="Helvetica Neue"/>
                        <a:sym typeface="Helvetica Neue"/>
                      </a:endParaRPr>
                    </a:p>
                  </a:txBody>
                  <a:tcPr marL="91450" marR="91450" marT="45725" marB="45725">
                    <a:solidFill>
                      <a:srgbClr val="F0F0DD"/>
                    </a:solidFill>
                  </a:tcPr>
                </a:tc>
              </a:tr>
              <a:tr h="722275">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15.</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 Hosseini et al. — </a:t>
                      </a:r>
                      <a:r>
                        <a:rPr lang="en-GB" sz="900" i="1">
                          <a:latin typeface="Helvetica Neue"/>
                          <a:ea typeface="Helvetica Neue"/>
                          <a:cs typeface="Helvetica Neue"/>
                          <a:sym typeface="Helvetica Neue"/>
                        </a:rPr>
                        <a:t>Insert-expansions for Tool-enabled Conversational Agents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arXiv preprint (2023)</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Insert-expansion method, tool-augmented dialogue systems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Improves coherence of conversations when agents invoke external tools, ensuring minimal disruption to flow.</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Needs large-scale deployment studies; mostly lab experiments</a:t>
                      </a:r>
                      <a:endParaRPr sz="900" i="0">
                        <a:latin typeface="Helvetica Neue"/>
                        <a:ea typeface="Helvetica Neue"/>
                        <a:cs typeface="Helvetica Neue"/>
                        <a:sym typeface="Helvetica Neue"/>
                      </a:endParaRPr>
                    </a:p>
                  </a:txBody>
                  <a:tcPr marL="91450" marR="91450" marT="45725" marB="45725">
                    <a:solidFill>
                      <a:srgbClr val="D5D59B"/>
                    </a:solidFill>
                  </a:tcPr>
                </a:tc>
              </a:tr>
              <a:tr h="1308550">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16.</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 Sharma et al. — </a:t>
                      </a:r>
                      <a:r>
                        <a:rPr lang="en-GB" sz="900" i="1">
                          <a:latin typeface="Helvetica Neue"/>
                          <a:ea typeface="Helvetica Neue"/>
                          <a:cs typeface="Helvetica Neue"/>
                          <a:sym typeface="Helvetica Neue"/>
                        </a:rPr>
                        <a:t>AI Based Virtual Personal Assistant</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Clr>
                          <a:srgbClr val="000000"/>
                        </a:buClr>
                        <a:buFont typeface="Arial"/>
                        <a:buNone/>
                      </a:pPr>
                      <a:r>
                        <a:rPr lang="en-GB" sz="900">
                          <a:latin typeface="Helvetica Neue"/>
                          <a:ea typeface="Helvetica Neue"/>
                          <a:cs typeface="Helvetica Neue"/>
                          <a:sym typeface="Helvetica Neue"/>
                        </a:rPr>
                        <a:t>International Journal of Innovative Science and Research Technology (IJISRT), 2024</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Python-based implementation, Speech Recognition, Pattern Matching for intents, API integrations (News, YouTube, Weather, Search)</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Developed a functional voice-controlled assistant capable of executing basic tasks (e.g., searching, fetching news, playing YouTube, providing location info). </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Uses rule-based intent parsing (less scalable), lacks MCP or standardized tool integration, limited evaluation (no accuracy/latency metrics), narrow scope of supported tasks, basic journal</a:t>
                      </a:r>
                      <a:endParaRPr sz="900" i="0">
                        <a:latin typeface="Helvetica Neue"/>
                        <a:ea typeface="Helvetica Neue"/>
                        <a:cs typeface="Helvetica Neue"/>
                        <a:sym typeface="Helvetica Neue"/>
                      </a:endParaRPr>
                    </a:p>
                  </a:txBody>
                  <a:tcPr marL="91450" marR="91450" marT="45725" marB="45725">
                    <a:solidFill>
                      <a:srgbClr val="F0F0DD"/>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Literature Review (cont…)</a:t>
            </a:r>
            <a:endParaRPr b="0"/>
          </a:p>
        </p:txBody>
      </p:sp>
      <p:sp>
        <p:nvSpPr>
          <p:cNvPr id="134" name="Google Shape;134;p25"/>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135" name="Google Shape;135;p25"/>
          <p:cNvGraphicFramePr/>
          <p:nvPr/>
        </p:nvGraphicFramePr>
        <p:xfrm>
          <a:off x="40659" y="553218"/>
          <a:ext cx="8923675" cy="4661220"/>
        </p:xfrm>
        <a:graphic>
          <a:graphicData uri="http://schemas.openxmlformats.org/drawingml/2006/table">
            <a:tbl>
              <a:tblPr firstRow="1" bandRow="1">
                <a:noFill/>
                <a:tableStyleId>{4557E0EC-133D-4962-8930-70C0B9D9C8F6}</a:tableStyleId>
              </a:tblPr>
              <a:tblGrid>
                <a:gridCol w="512800"/>
                <a:gridCol w="1789725"/>
                <a:gridCol w="1465250"/>
                <a:gridCol w="1421175"/>
                <a:gridCol w="1828800"/>
                <a:gridCol w="1905925"/>
              </a:tblGrid>
              <a:tr h="533250">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S. No.</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Author &amp; </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Paper Title </a:t>
                      </a:r>
                      <a:br>
                        <a:rPr lang="en-GB" sz="1100" b="0" i="0">
                          <a:latin typeface="Helvetica Neue"/>
                          <a:ea typeface="Helvetica Neue"/>
                          <a:cs typeface="Helvetica Neue"/>
                          <a:sym typeface="Helvetica Neue"/>
                        </a:rPr>
                      </a:br>
                      <a:r>
                        <a:rPr lang="en-GB" sz="1100" b="0" i="0">
                          <a:latin typeface="Helvetica Neue"/>
                          <a:ea typeface="Helvetica Neue"/>
                          <a:cs typeface="Helvetica Neue"/>
                          <a:sym typeface="Helvetica Neue"/>
                        </a:rPr>
                        <a:t>[Citation]</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Journal/</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Conference</a:t>
                      </a:r>
                      <a:br>
                        <a:rPr lang="en-GB" sz="1100" b="0" i="0">
                          <a:latin typeface="Helvetica Neue"/>
                          <a:ea typeface="Helvetica Neue"/>
                          <a:cs typeface="Helvetica Neue"/>
                          <a:sym typeface="Helvetica Neue"/>
                        </a:rPr>
                      </a:br>
                      <a:r>
                        <a:rPr lang="en-GB" sz="1100" b="0" i="0">
                          <a:latin typeface="Helvetica Neue"/>
                          <a:ea typeface="Helvetica Neue"/>
                          <a:cs typeface="Helvetica Neue"/>
                          <a:sym typeface="Helvetica Neue"/>
                        </a:rPr>
                        <a:t>(Year)</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Tools/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Techniques/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Dataset</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Key Findings/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Results</a:t>
                      </a:r>
                      <a:endParaRPr sz="1100" b="0">
                        <a:latin typeface="Helvetica Neue"/>
                        <a:ea typeface="Helvetica Neue"/>
                        <a:cs typeface="Helvetica Neue"/>
                        <a:sym typeface="Helvetica Neue"/>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GB" sz="1100" b="0" i="0">
                          <a:latin typeface="Helvetica Neue"/>
                          <a:ea typeface="Helvetica Neue"/>
                          <a:cs typeface="Helvetica Neue"/>
                          <a:sym typeface="Helvetica Neue"/>
                        </a:rPr>
                        <a:t>Limitations/</a:t>
                      </a:r>
                      <a:endParaRPr sz="1100" b="0">
                        <a:latin typeface="Helvetica Neue"/>
                        <a:ea typeface="Helvetica Neue"/>
                        <a:cs typeface="Helvetica Neue"/>
                        <a:sym typeface="Helvetica Neue"/>
                      </a:endParaRPr>
                    </a:p>
                    <a:p>
                      <a:pPr marL="0" marR="0" lvl="0" indent="0" algn="ctr" rtl="0">
                        <a:spcBef>
                          <a:spcPts val="0"/>
                        </a:spcBef>
                        <a:spcAft>
                          <a:spcPts val="0"/>
                        </a:spcAft>
                        <a:buNone/>
                      </a:pPr>
                      <a:r>
                        <a:rPr lang="en-GB" sz="1100" b="0" i="0">
                          <a:latin typeface="Helvetica Neue"/>
                          <a:ea typeface="Helvetica Neue"/>
                          <a:cs typeface="Helvetica Neue"/>
                          <a:sym typeface="Helvetica Neue"/>
                        </a:rPr>
                        <a:t>Gaps Identified</a:t>
                      </a:r>
                      <a:endParaRPr sz="1100" b="0">
                        <a:latin typeface="Helvetica Neue"/>
                        <a:ea typeface="Helvetica Neue"/>
                        <a:cs typeface="Helvetica Neue"/>
                        <a:sym typeface="Helvetica Neue"/>
                      </a:endParaRPr>
                    </a:p>
                  </a:txBody>
                  <a:tcPr marL="91450" marR="91450" marT="45725" marB="45725">
                    <a:solidFill>
                      <a:srgbClr val="606029"/>
                    </a:solidFill>
                  </a:tcPr>
                </a:tc>
              </a:tr>
              <a:tr h="1272725">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17.</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Shanshan Han, Qifan Zhang, Yuhang Yao et al. — </a:t>
                      </a:r>
                      <a:r>
                        <a:rPr lang="en-GB" sz="900" i="1">
                          <a:latin typeface="Helvetica Neue"/>
                          <a:ea typeface="Helvetica Neue"/>
                          <a:cs typeface="Helvetica Neue"/>
                          <a:sym typeface="Helvetica Neue"/>
                        </a:rPr>
                        <a:t>LLM Multi-Agent Systems: Challenges and Open Problems</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arXiv (2024)</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Survey of multi-agent LLM systems, context &amp; memory modeling, task allocation, tool invocation</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Presents a structured overview of major challenges in designing multi-agent LLM systems: how to decompose tasks, allocate work, share context and memory, coordinate tool usage</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Being a survey, it does not propose a concrete MCP-based implementation; lacks experimental validation or detailed case studies. Focus is general MAS rather than focused personal assistant design</a:t>
                      </a:r>
                      <a:endParaRPr sz="900" i="0">
                        <a:latin typeface="Helvetica Neue"/>
                        <a:ea typeface="Helvetica Neue"/>
                        <a:cs typeface="Helvetica Neue"/>
                        <a:sym typeface="Helvetica Neue"/>
                      </a:endParaRPr>
                    </a:p>
                  </a:txBody>
                  <a:tcPr marL="91450" marR="91450" marT="45725" marB="45725">
                    <a:solidFill>
                      <a:srgbClr val="D5D59B"/>
                    </a:solidFill>
                  </a:tcPr>
                </a:tc>
              </a:tr>
              <a:tr h="807950">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18.</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M. Hasan et al. “Model Context Protocol (MCP) at First Glance: Studying the Security and Maintainability of MCP Servers”</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arXiv Preprint (2025)</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Analyzed ~1,900 open-source MCP servers for security and maintainability</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Found MCP adoption is growing, but many servers have vulnerabilities like outdated dependencies and tool poisoning</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Focuses only on open-source MCP servers, not enterprise/closed systems</a:t>
                      </a:r>
                      <a:endParaRPr sz="900" i="0">
                        <a:latin typeface="Helvetica Neue"/>
                        <a:ea typeface="Helvetica Neue"/>
                        <a:cs typeface="Helvetica Neue"/>
                        <a:sym typeface="Helvetica Neue"/>
                      </a:endParaRPr>
                    </a:p>
                  </a:txBody>
                  <a:tcPr marL="91450" marR="91450" marT="45725" marB="45725">
                    <a:solidFill>
                      <a:srgbClr val="F0F0DD"/>
                    </a:solidFill>
                  </a:tcPr>
                </a:tc>
              </a:tr>
              <a:tr h="931375">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19.</a:t>
                      </a:r>
                      <a:endParaRPr sz="9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S. Rasal “A Multi-LLM Orchestration Engine for Personalized, Context-Rich Assistance”</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arXiv Preprint (2024)</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Architecture with multiple LLMs, graph database, and vector database; supports orchestration and iterative reasoning</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Improves personalization, reduces hallucinations, handles multi-step workflows better</a:t>
                      </a:r>
                      <a:endParaRPr sz="90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Requires high computing resources; still experimental for large-scale real-world use</a:t>
                      </a:r>
                      <a:endParaRPr sz="900" i="0">
                        <a:latin typeface="Helvetica Neue"/>
                        <a:ea typeface="Helvetica Neue"/>
                        <a:cs typeface="Helvetica Neue"/>
                        <a:sym typeface="Helvetica Neue"/>
                      </a:endParaRPr>
                    </a:p>
                  </a:txBody>
                  <a:tcPr marL="91450" marR="91450" marT="45725" marB="45725">
                    <a:solidFill>
                      <a:srgbClr val="D5D59B"/>
                    </a:solidFill>
                  </a:tcPr>
                </a:tc>
              </a:tr>
              <a:tr h="1054800">
                <a:tc>
                  <a:txBody>
                    <a:bodyPr/>
                    <a:lstStyle/>
                    <a:p>
                      <a:pPr marL="0" marR="0" lvl="0" indent="0" algn="ctr" rtl="0">
                        <a:spcBef>
                          <a:spcPts val="0"/>
                        </a:spcBef>
                        <a:spcAft>
                          <a:spcPts val="0"/>
                        </a:spcAft>
                        <a:buNone/>
                      </a:pPr>
                      <a:r>
                        <a:rPr lang="en-GB" sz="900" i="0">
                          <a:latin typeface="Helvetica Neue"/>
                          <a:ea typeface="Helvetica Neue"/>
                          <a:cs typeface="Helvetica Neue"/>
                          <a:sym typeface="Helvetica Neue"/>
                        </a:rPr>
                        <a:t>20.</a:t>
                      </a:r>
                      <a:endParaRPr sz="9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J. Zhang et al. “WorkflowLLM: Enhancing Workflow Orchestration Capability of Large Language Models”</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arXiv Preprint (2024)</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Built WorkflowBench dataset of real-world workflows; fine-tuned WorkflowLlama model</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Boosts LLM ability to manage multi-step tasks, cross-API workflows, and orchestration</a:t>
                      </a:r>
                      <a:endParaRPr sz="90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GB" sz="900">
                          <a:latin typeface="Helvetica Neue"/>
                          <a:ea typeface="Helvetica Neue"/>
                          <a:cs typeface="Helvetica Neue"/>
                          <a:sym typeface="Helvetica Neue"/>
                        </a:rPr>
                        <a:t>Dataset still limited in scope; real-world deployment challenges remain</a:t>
                      </a:r>
                      <a:endParaRPr sz="900" i="0">
                        <a:latin typeface="Helvetica Neue"/>
                        <a:ea typeface="Helvetica Neue"/>
                        <a:cs typeface="Helvetica Neue"/>
                        <a:sym typeface="Helvetica Neue"/>
                      </a:endParaRPr>
                    </a:p>
                  </a:txBody>
                  <a:tcPr marL="91450" marR="91450" marT="45725" marB="45725">
                    <a:solidFill>
                      <a:srgbClr val="F0F0DD"/>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a:t>Work Done (after Mid-Term Evaluation)</a:t>
            </a:r>
            <a:endParaRPr/>
          </a:p>
        </p:txBody>
      </p:sp>
      <p:sp>
        <p:nvSpPr>
          <p:cNvPr id="141" name="Google Shape;141;p26"/>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357187" marR="0" lvl="0" indent="-242887" algn="just" rtl="0">
              <a:lnSpc>
                <a:spcPct val="150000"/>
              </a:lnSpc>
              <a:spcBef>
                <a:spcPts val="0"/>
              </a:spcBef>
              <a:spcAft>
                <a:spcPts val="0"/>
              </a:spcAft>
              <a:buClr>
                <a:schemeClr val="dk1"/>
              </a:buClr>
              <a:buSzPts val="1950"/>
              <a:buFont typeface="Arial"/>
              <a:buChar char="•"/>
            </a:pPr>
            <a:r>
              <a:rPr lang="en-GB" sz="1500">
                <a:solidFill>
                  <a:schemeClr val="dk1"/>
                </a:solidFill>
                <a:latin typeface="Helvetica Neue"/>
                <a:ea typeface="Helvetica Neue"/>
                <a:cs typeface="Helvetica Neue"/>
                <a:sym typeface="Helvetica Neue"/>
              </a:rPr>
              <a:t>Created a vector query tool- uses Google’s text embedding 4 model, to find embeddings from the vector database that match the context. Returns top 5 results to the agent.</a:t>
            </a:r>
            <a:endParaRPr sz="1500">
              <a:solidFill>
                <a:schemeClr val="dk1"/>
              </a:solidFill>
              <a:latin typeface="Helvetica Neue"/>
              <a:ea typeface="Helvetica Neue"/>
              <a:cs typeface="Helvetica Neue"/>
              <a:sym typeface="Helvetica Neue"/>
            </a:endParaRPr>
          </a:p>
          <a:p>
            <a:pPr marL="457200" marR="0" lvl="0" indent="0" algn="just" rtl="0">
              <a:lnSpc>
                <a:spcPct val="150000"/>
              </a:lnSpc>
              <a:spcBef>
                <a:spcPts val="0"/>
              </a:spcBef>
              <a:spcAft>
                <a:spcPts val="0"/>
              </a:spcAft>
              <a:buNone/>
            </a:pPr>
            <a:endParaRPr sz="1500">
              <a:solidFill>
                <a:schemeClr val="dk1"/>
              </a:solidFill>
              <a:latin typeface="Helvetica Neue"/>
              <a:ea typeface="Helvetica Neue"/>
              <a:cs typeface="Helvetica Neue"/>
              <a:sym typeface="Helvetica Neue"/>
            </a:endParaRPr>
          </a:p>
          <a:p>
            <a:pPr marL="357187" marR="0" lvl="0" indent="-214312" algn="just" rtl="0">
              <a:lnSpc>
                <a:spcPct val="150000"/>
              </a:lnSpc>
              <a:spcBef>
                <a:spcPts val="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Create a mind maps tool- saves a snapshot of the mind map locally. Mermaid script is created by the LLM and rendered using Puppeteer. </a:t>
            </a:r>
            <a:endParaRPr sz="1500">
              <a:solidFill>
                <a:schemeClr val="dk1"/>
              </a:solidFill>
              <a:latin typeface="Helvetica Neue"/>
              <a:ea typeface="Helvetica Neue"/>
              <a:cs typeface="Helvetica Neue"/>
              <a:sym typeface="Helvetica Neue"/>
            </a:endParaRPr>
          </a:p>
          <a:p>
            <a:pPr marL="457200" marR="0" lvl="0" indent="0" algn="just" rtl="0">
              <a:lnSpc>
                <a:spcPct val="150000"/>
              </a:lnSpc>
              <a:spcBef>
                <a:spcPts val="0"/>
              </a:spcBef>
              <a:spcAft>
                <a:spcPts val="0"/>
              </a:spcAft>
              <a:buNone/>
            </a:pPr>
            <a:endParaRPr sz="1500">
              <a:solidFill>
                <a:schemeClr val="dk1"/>
              </a:solidFill>
              <a:latin typeface="Helvetica Neue"/>
              <a:ea typeface="Helvetica Neue"/>
              <a:cs typeface="Helvetica Neue"/>
              <a:sym typeface="Helvetica Neue"/>
            </a:endParaRPr>
          </a:p>
          <a:p>
            <a:pPr marL="357188" marR="0" lvl="0" indent="-214313" algn="just" rtl="0">
              <a:lnSpc>
                <a:spcPct val="150000"/>
              </a:lnSpc>
              <a:spcBef>
                <a:spcPts val="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Wrote a research paper under the supervision of our mentor.</a:t>
            </a:r>
            <a:endParaRPr sz="1500">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Project Design </a:t>
            </a:r>
            <a:r>
              <a:rPr lang="en-GB" sz="2400" b="0"/>
              <a:t>(cont…)</a:t>
            </a:r>
            <a:endParaRPr b="0"/>
          </a:p>
        </p:txBody>
      </p:sp>
      <p:sp>
        <p:nvSpPr>
          <p:cNvPr id="147" name="Google Shape;147;p27"/>
          <p:cNvSpPr txBox="1"/>
          <p:nvPr/>
        </p:nvSpPr>
        <p:spPr>
          <a:xfrm>
            <a:off x="77125" y="603175"/>
            <a:ext cx="8719200" cy="579600"/>
          </a:xfrm>
          <a:prstGeom prst="rect">
            <a:avLst/>
          </a:prstGeom>
          <a:noFill/>
          <a:ln>
            <a:noFill/>
          </a:ln>
        </p:spPr>
        <p:txBody>
          <a:bodyPr spcFirstLastPara="1" wrap="square" lIns="91425" tIns="45700" rIns="91425" bIns="45700" anchor="t" anchorCtr="0">
            <a:noAutofit/>
          </a:bodyPr>
          <a:lstStyle/>
          <a:p>
            <a:pPr marL="457200" lvl="0" indent="0" algn="ctr" rtl="0">
              <a:spcBef>
                <a:spcPts val="0"/>
              </a:spcBef>
              <a:spcAft>
                <a:spcPts val="0"/>
              </a:spcAft>
              <a:buNone/>
            </a:pPr>
            <a:r>
              <a:rPr lang="en-GB" sz="1800" b="1">
                <a:solidFill>
                  <a:schemeClr val="dk1"/>
                </a:solidFill>
                <a:latin typeface="Helvetica Neue"/>
                <a:ea typeface="Helvetica Neue"/>
                <a:cs typeface="Helvetica Neue"/>
                <a:sym typeface="Helvetica Neue"/>
              </a:rPr>
              <a:t>AI Agent Workflow</a:t>
            </a:r>
            <a:endParaRPr sz="1800" b="1">
              <a:solidFill>
                <a:schemeClr val="dk1"/>
              </a:solidFill>
              <a:latin typeface="Helvetica Neue"/>
              <a:ea typeface="Helvetica Neue"/>
              <a:cs typeface="Helvetica Neue"/>
              <a:sym typeface="Helvetica Neue"/>
            </a:endParaRPr>
          </a:p>
          <a:p>
            <a:pPr marL="457200" marR="0" lvl="0" indent="0" algn="just" rtl="0">
              <a:lnSpc>
                <a:spcPct val="150000"/>
              </a:lnSpc>
              <a:spcBef>
                <a:spcPts val="630"/>
              </a:spcBef>
              <a:spcAft>
                <a:spcPts val="0"/>
              </a:spcAft>
              <a:buNone/>
            </a:pPr>
            <a:endParaRPr sz="1800">
              <a:solidFill>
                <a:schemeClr val="dk1"/>
              </a:solidFill>
              <a:latin typeface="Helvetica Neue"/>
              <a:ea typeface="Helvetica Neue"/>
              <a:cs typeface="Helvetica Neue"/>
              <a:sym typeface="Helvetica Neue"/>
            </a:endParaRPr>
          </a:p>
        </p:txBody>
      </p:sp>
      <p:pic>
        <p:nvPicPr>
          <p:cNvPr id="148" name="Google Shape;148;p27"/>
          <p:cNvPicPr preferRelativeResize="0"/>
          <p:nvPr/>
        </p:nvPicPr>
        <p:blipFill>
          <a:blip r:embed="rId3">
            <a:alphaModFix/>
          </a:blip>
          <a:stretch>
            <a:fillRect/>
          </a:stretch>
        </p:blipFill>
        <p:spPr>
          <a:xfrm>
            <a:off x="1062850" y="949375"/>
            <a:ext cx="6985351" cy="4023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Project Design </a:t>
            </a:r>
            <a:r>
              <a:rPr lang="en-GB" sz="2400" b="0"/>
              <a:t>(cont…)</a:t>
            </a:r>
            <a:endParaRPr b="0"/>
          </a:p>
        </p:txBody>
      </p:sp>
      <p:sp>
        <p:nvSpPr>
          <p:cNvPr id="154" name="Google Shape;154;p28"/>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630"/>
              </a:spcBef>
              <a:spcAft>
                <a:spcPts val="0"/>
              </a:spcAft>
              <a:buNone/>
            </a:pPr>
            <a:r>
              <a:rPr lang="en-GB" sz="1800" b="1">
                <a:solidFill>
                  <a:schemeClr val="dk1"/>
                </a:solidFill>
                <a:latin typeface="Helvetica Neue"/>
                <a:ea typeface="Helvetica Neue"/>
                <a:cs typeface="Helvetica Neue"/>
                <a:sym typeface="Helvetica Neue"/>
              </a:rPr>
              <a:t>System Design</a:t>
            </a:r>
            <a:endParaRPr sz="1800" b="1">
              <a:solidFill>
                <a:schemeClr val="dk1"/>
              </a:solidFill>
              <a:latin typeface="Helvetica Neue"/>
              <a:ea typeface="Helvetica Neue"/>
              <a:cs typeface="Helvetica Neue"/>
              <a:sym typeface="Helvetica Neue"/>
            </a:endParaRPr>
          </a:p>
        </p:txBody>
      </p:sp>
      <p:pic>
        <p:nvPicPr>
          <p:cNvPr id="155" name="Google Shape;155;p28" title="MajorDiagram.drawio.png"/>
          <p:cNvPicPr preferRelativeResize="0"/>
          <p:nvPr/>
        </p:nvPicPr>
        <p:blipFill rotWithShape="1">
          <a:blip r:embed="rId3">
            <a:alphaModFix/>
          </a:blip>
          <a:srcRect b="7415"/>
          <a:stretch/>
        </p:blipFill>
        <p:spPr>
          <a:xfrm>
            <a:off x="2144573" y="558350"/>
            <a:ext cx="4821802" cy="4435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Tools, Technologies and Languages</a:t>
            </a:r>
            <a:endParaRPr b="0"/>
          </a:p>
        </p:txBody>
      </p:sp>
      <p:sp>
        <p:nvSpPr>
          <p:cNvPr id="161" name="Google Shape;161;p29"/>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0"/>
              </a:spcBef>
              <a:spcAft>
                <a:spcPts val="0"/>
              </a:spcAft>
              <a:buNone/>
            </a:pPr>
            <a:endParaRPr/>
          </a:p>
        </p:txBody>
      </p:sp>
      <p:graphicFrame>
        <p:nvGraphicFramePr>
          <p:cNvPr id="162" name="Google Shape;162;p29"/>
          <p:cNvGraphicFramePr/>
          <p:nvPr/>
        </p:nvGraphicFramePr>
        <p:xfrm>
          <a:off x="680063" y="1903925"/>
          <a:ext cx="7783875" cy="2401000"/>
        </p:xfrm>
        <a:graphic>
          <a:graphicData uri="http://schemas.openxmlformats.org/drawingml/2006/table">
            <a:tbl>
              <a:tblPr>
                <a:noFill/>
                <a:tableStyleId>{4A8300B5-029A-4B6F-8EBC-1A94DEF8384E}</a:tableStyleId>
              </a:tblPr>
              <a:tblGrid>
                <a:gridCol w="2594625"/>
                <a:gridCol w="2594625"/>
                <a:gridCol w="2594625"/>
              </a:tblGrid>
              <a:tr h="501700">
                <a:tc>
                  <a:txBody>
                    <a:bodyPr/>
                    <a:lstStyle/>
                    <a:p>
                      <a:pPr marL="0" lvl="0" indent="0" algn="just" rtl="0">
                        <a:lnSpc>
                          <a:spcPct val="115000"/>
                        </a:lnSpc>
                        <a:spcBef>
                          <a:spcPts val="0"/>
                        </a:spcBef>
                        <a:spcAft>
                          <a:spcPts val="0"/>
                        </a:spcAft>
                        <a:buNone/>
                      </a:pPr>
                      <a:r>
                        <a:rPr lang="en-GB" sz="1600" b="1">
                          <a:latin typeface="Helvetica Neue"/>
                          <a:ea typeface="Helvetica Neue"/>
                          <a:cs typeface="Helvetica Neue"/>
                          <a:sym typeface="Helvetica Neue"/>
                        </a:rPr>
                        <a:t>Component</a:t>
                      </a:r>
                      <a:endParaRPr sz="1600" b="1">
                        <a:latin typeface="Helvetica Neue"/>
                        <a:ea typeface="Helvetica Neue"/>
                        <a:cs typeface="Helvetica Neue"/>
                        <a:sym typeface="Helvetica Neue"/>
                      </a:endParaRPr>
                    </a:p>
                  </a:txBody>
                  <a:tcPr marL="91425" marR="91425" marT="91425" marB="91425"/>
                </a:tc>
                <a:tc>
                  <a:txBody>
                    <a:bodyPr/>
                    <a:lstStyle/>
                    <a:p>
                      <a:pPr marL="0" lvl="0" indent="0" algn="just" rtl="0">
                        <a:lnSpc>
                          <a:spcPct val="115000"/>
                        </a:lnSpc>
                        <a:spcBef>
                          <a:spcPts val="0"/>
                        </a:spcBef>
                        <a:spcAft>
                          <a:spcPts val="0"/>
                        </a:spcAft>
                        <a:buNone/>
                      </a:pPr>
                      <a:r>
                        <a:rPr lang="en-GB" sz="1600" b="1">
                          <a:latin typeface="Helvetica Neue"/>
                          <a:ea typeface="Helvetica Neue"/>
                          <a:cs typeface="Helvetica Neue"/>
                          <a:sym typeface="Helvetica Neue"/>
                        </a:rPr>
                        <a:t>Description</a:t>
                      </a:r>
                      <a:endParaRPr sz="1600" b="1">
                        <a:latin typeface="Helvetica Neue"/>
                        <a:ea typeface="Helvetica Neue"/>
                        <a:cs typeface="Helvetica Neue"/>
                        <a:sym typeface="Helvetica Neue"/>
                      </a:endParaRPr>
                    </a:p>
                  </a:txBody>
                  <a:tcPr marL="91425" marR="91425" marT="91425" marB="91425"/>
                </a:tc>
                <a:tc>
                  <a:txBody>
                    <a:bodyPr/>
                    <a:lstStyle/>
                    <a:p>
                      <a:pPr marL="0" lvl="0" indent="0" algn="just" rtl="0">
                        <a:lnSpc>
                          <a:spcPct val="115000"/>
                        </a:lnSpc>
                        <a:spcBef>
                          <a:spcPts val="0"/>
                        </a:spcBef>
                        <a:spcAft>
                          <a:spcPts val="0"/>
                        </a:spcAft>
                        <a:buNone/>
                      </a:pPr>
                      <a:r>
                        <a:rPr lang="en-GB" sz="1600" b="1">
                          <a:latin typeface="Helvetica Neue"/>
                          <a:ea typeface="Helvetica Neue"/>
                          <a:cs typeface="Helvetica Neue"/>
                          <a:sym typeface="Helvetica Neue"/>
                        </a:rPr>
                        <a:t>Version / Details</a:t>
                      </a:r>
                      <a:endParaRPr sz="1600" b="1">
                        <a:latin typeface="Helvetica Neue"/>
                        <a:ea typeface="Helvetica Neue"/>
                        <a:cs typeface="Helvetica Neue"/>
                        <a:sym typeface="Helvetica Neue"/>
                      </a:endParaRPr>
                    </a:p>
                  </a:txBody>
                  <a:tcPr marL="91425" marR="91425" marT="91425" marB="91425"/>
                </a:tc>
              </a:tr>
              <a:tr h="716725">
                <a:tc>
                  <a:txBody>
                    <a:bodyPr/>
                    <a:lstStyle/>
                    <a:p>
                      <a:pPr marL="0" lvl="0" indent="0" algn="just" rtl="0">
                        <a:spcBef>
                          <a:spcPts val="0"/>
                        </a:spcBef>
                        <a:spcAft>
                          <a:spcPts val="0"/>
                        </a:spcAft>
                        <a:buNone/>
                      </a:pPr>
                      <a:r>
                        <a:rPr lang="en-GB">
                          <a:latin typeface="Helvetica Neue"/>
                          <a:ea typeface="Helvetica Neue"/>
                          <a:cs typeface="Helvetica Neue"/>
                          <a:sym typeface="Helvetica Neue"/>
                        </a:rPr>
                        <a:t>Framework</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Mastra(TypeScript Framework)</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Latest stable version</a:t>
                      </a:r>
                      <a:endParaRPr>
                        <a:latin typeface="Helvetica Neue"/>
                        <a:ea typeface="Helvetica Neue"/>
                        <a:cs typeface="Helvetica Neue"/>
                        <a:sym typeface="Helvetica Neue"/>
                      </a:endParaRPr>
                    </a:p>
                  </a:txBody>
                  <a:tcPr marL="91425" marR="91425" marT="91425" marB="91425"/>
                </a:tc>
              </a:tr>
              <a:tr h="465850">
                <a:tc>
                  <a:txBody>
                    <a:bodyPr/>
                    <a:lstStyle/>
                    <a:p>
                      <a:pPr marL="0" lvl="0" indent="0" algn="just" rtl="0">
                        <a:spcBef>
                          <a:spcPts val="0"/>
                        </a:spcBef>
                        <a:spcAft>
                          <a:spcPts val="0"/>
                        </a:spcAft>
                        <a:buNone/>
                      </a:pPr>
                      <a:r>
                        <a:rPr lang="en-GB">
                          <a:latin typeface="Helvetica Neue"/>
                          <a:ea typeface="Helvetica Neue"/>
                          <a:cs typeface="Helvetica Neue"/>
                          <a:sym typeface="Helvetica Neue"/>
                        </a:rPr>
                        <a:t>Base LLM Model</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Google Gemini Flash</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Gemini Pro 2.5</a:t>
                      </a:r>
                      <a:endParaRPr>
                        <a:latin typeface="Helvetica Neue"/>
                        <a:ea typeface="Helvetica Neue"/>
                        <a:cs typeface="Helvetica Neue"/>
                        <a:sym typeface="Helvetica Neue"/>
                      </a:endParaRPr>
                    </a:p>
                  </a:txBody>
                  <a:tcPr marL="91425" marR="91425" marT="91425" marB="91425"/>
                </a:tc>
              </a:tr>
              <a:tr h="716725">
                <a:tc>
                  <a:txBody>
                    <a:bodyPr/>
                    <a:lstStyle/>
                    <a:p>
                      <a:pPr marL="0" lvl="0" indent="0" algn="just" rtl="0">
                        <a:spcBef>
                          <a:spcPts val="0"/>
                        </a:spcBef>
                        <a:spcAft>
                          <a:spcPts val="0"/>
                        </a:spcAft>
                        <a:buNone/>
                      </a:pPr>
                      <a:r>
                        <a:rPr lang="en-GB">
                          <a:latin typeface="Helvetica Neue"/>
                          <a:ea typeface="Helvetica Neue"/>
                          <a:cs typeface="Helvetica Neue"/>
                          <a:sym typeface="Helvetica Neue"/>
                        </a:rPr>
                        <a:t>Programming Languages</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TypeScript, JavaScript</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TypeScript 5.x / JavaScript ES2023</a:t>
                      </a:r>
                      <a:endParaRPr>
                        <a:latin typeface="Helvetica Neue"/>
                        <a:ea typeface="Helvetica Neue"/>
                        <a:cs typeface="Helvetica Neue"/>
                        <a:sym typeface="Helvetica Neue"/>
                      </a:endParaRPr>
                    </a:p>
                  </a:txBody>
                  <a:tcPr marL="91425" marR="91425" marT="91425" marB="91425"/>
                </a:tc>
              </a:tr>
            </a:tbl>
          </a:graphicData>
        </a:graphic>
      </p:graphicFrame>
      <p:sp>
        <p:nvSpPr>
          <p:cNvPr id="163" name="Google Shape;163;p29"/>
          <p:cNvSpPr txBox="1"/>
          <p:nvPr/>
        </p:nvSpPr>
        <p:spPr>
          <a:xfrm>
            <a:off x="1695913" y="838575"/>
            <a:ext cx="5752200" cy="598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GB" sz="2700">
                <a:solidFill>
                  <a:srgbClr val="000000"/>
                </a:solidFill>
                <a:latin typeface="Helvetica Neue"/>
                <a:ea typeface="Helvetica Neue"/>
                <a:cs typeface="Helvetica Neue"/>
                <a:sym typeface="Helvetica Neue"/>
              </a:rPr>
              <a:t>Framework &amp; Base Language Model</a:t>
            </a:r>
            <a:endParaRPr sz="2700">
              <a:solidFill>
                <a:srgbClr val="000000"/>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0"/>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Tools, Technologies and Languages (cont…)</a:t>
            </a:r>
            <a:endParaRPr b="0"/>
          </a:p>
        </p:txBody>
      </p:sp>
      <p:sp>
        <p:nvSpPr>
          <p:cNvPr id="169" name="Google Shape;169;p30"/>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0"/>
              </a:spcBef>
              <a:spcAft>
                <a:spcPts val="0"/>
              </a:spcAft>
              <a:buNone/>
            </a:pPr>
            <a:endParaRPr/>
          </a:p>
        </p:txBody>
      </p:sp>
      <p:sp>
        <p:nvSpPr>
          <p:cNvPr id="170" name="Google Shape;170;p30"/>
          <p:cNvSpPr txBox="1"/>
          <p:nvPr/>
        </p:nvSpPr>
        <p:spPr>
          <a:xfrm>
            <a:off x="3119924" y="909200"/>
            <a:ext cx="2296137" cy="6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700" dirty="0">
                <a:solidFill>
                  <a:srgbClr val="000000"/>
                </a:solidFill>
                <a:latin typeface="Helvetica Neue"/>
                <a:ea typeface="Helvetica Neue"/>
                <a:cs typeface="Helvetica Neue"/>
                <a:sym typeface="Helvetica Neue"/>
              </a:rPr>
              <a:t>Tools &amp; APIs</a:t>
            </a:r>
            <a:endParaRPr sz="2700" dirty="0">
              <a:solidFill>
                <a:srgbClr val="000000"/>
              </a:solidFill>
              <a:latin typeface="Helvetica Neue"/>
              <a:ea typeface="Helvetica Neue"/>
              <a:cs typeface="Helvetica Neue"/>
              <a:sym typeface="Helvetica Neue"/>
            </a:endParaRPr>
          </a:p>
        </p:txBody>
      </p:sp>
      <p:graphicFrame>
        <p:nvGraphicFramePr>
          <p:cNvPr id="171" name="Google Shape;171;p30"/>
          <p:cNvGraphicFramePr/>
          <p:nvPr>
            <p:extLst>
              <p:ext uri="{D42A27DB-BD31-4B8C-83A1-F6EECF244321}">
                <p14:modId xmlns:p14="http://schemas.microsoft.com/office/powerpoint/2010/main" val="1876359082"/>
              </p:ext>
            </p:extLst>
          </p:nvPr>
        </p:nvGraphicFramePr>
        <p:xfrm>
          <a:off x="634237" y="1978983"/>
          <a:ext cx="7742650" cy="2291976"/>
        </p:xfrm>
        <a:graphic>
          <a:graphicData uri="http://schemas.openxmlformats.org/drawingml/2006/table">
            <a:tbl>
              <a:tblPr>
                <a:noFill/>
                <a:tableStyleId>{4A8300B5-029A-4B6F-8EBC-1A94DEF8384E}</a:tableStyleId>
              </a:tblPr>
              <a:tblGrid>
                <a:gridCol w="2642925"/>
                <a:gridCol w="2413000"/>
                <a:gridCol w="2686725"/>
              </a:tblGrid>
              <a:tr h="414250">
                <a:tc>
                  <a:txBody>
                    <a:bodyPr/>
                    <a:lstStyle/>
                    <a:p>
                      <a:pPr marL="0" lvl="0" indent="0" algn="just" rtl="0">
                        <a:lnSpc>
                          <a:spcPct val="115000"/>
                        </a:lnSpc>
                        <a:spcBef>
                          <a:spcPts val="0"/>
                        </a:spcBef>
                        <a:spcAft>
                          <a:spcPts val="0"/>
                        </a:spcAft>
                        <a:buNone/>
                      </a:pPr>
                      <a:r>
                        <a:rPr lang="en-GB" sz="1600" b="1" dirty="0">
                          <a:latin typeface="Helvetica Neue"/>
                          <a:ea typeface="Helvetica Neue"/>
                          <a:cs typeface="Helvetica Neue"/>
                          <a:sym typeface="Helvetica Neue"/>
                        </a:rPr>
                        <a:t>Tool / Integration</a:t>
                      </a:r>
                      <a:endParaRPr sz="1600" b="1" dirty="0">
                        <a:latin typeface="Helvetica Neue"/>
                        <a:ea typeface="Helvetica Neue"/>
                        <a:cs typeface="Helvetica Neue"/>
                        <a:sym typeface="Helvetica Neue"/>
                      </a:endParaRPr>
                    </a:p>
                  </a:txBody>
                  <a:tcPr marL="91425" marR="91425" marT="91425" marB="91425"/>
                </a:tc>
                <a:tc>
                  <a:txBody>
                    <a:bodyPr/>
                    <a:lstStyle/>
                    <a:p>
                      <a:pPr marL="0" lvl="0" indent="0" algn="just" rtl="0">
                        <a:lnSpc>
                          <a:spcPct val="115000"/>
                        </a:lnSpc>
                        <a:spcBef>
                          <a:spcPts val="0"/>
                        </a:spcBef>
                        <a:spcAft>
                          <a:spcPts val="0"/>
                        </a:spcAft>
                        <a:buNone/>
                      </a:pPr>
                      <a:r>
                        <a:rPr lang="en-GB" sz="1600" b="1" dirty="0">
                          <a:latin typeface="Helvetica Neue"/>
                          <a:ea typeface="Helvetica Neue"/>
                          <a:cs typeface="Helvetica Neue"/>
                          <a:sym typeface="Helvetica Neue"/>
                        </a:rPr>
                        <a:t>Purpose</a:t>
                      </a:r>
                      <a:endParaRPr sz="1600" b="1" dirty="0">
                        <a:latin typeface="Helvetica Neue"/>
                        <a:ea typeface="Helvetica Neue"/>
                        <a:cs typeface="Helvetica Neue"/>
                        <a:sym typeface="Helvetica Neue"/>
                      </a:endParaRPr>
                    </a:p>
                  </a:txBody>
                  <a:tcPr marL="91425" marR="91425" marT="91425" marB="91425"/>
                </a:tc>
                <a:tc>
                  <a:txBody>
                    <a:bodyPr/>
                    <a:lstStyle/>
                    <a:p>
                      <a:pPr marL="0" lvl="0" indent="0" algn="just" rtl="0">
                        <a:lnSpc>
                          <a:spcPct val="115000"/>
                        </a:lnSpc>
                        <a:spcBef>
                          <a:spcPts val="0"/>
                        </a:spcBef>
                        <a:spcAft>
                          <a:spcPts val="0"/>
                        </a:spcAft>
                        <a:buNone/>
                      </a:pPr>
                      <a:r>
                        <a:rPr lang="en-GB" sz="1600" b="1">
                          <a:latin typeface="Helvetica Neue"/>
                          <a:ea typeface="Helvetica Neue"/>
                          <a:cs typeface="Helvetica Neue"/>
                          <a:sym typeface="Helvetica Neue"/>
                        </a:rPr>
                        <a:t>Version / Details</a:t>
                      </a:r>
                      <a:endParaRPr sz="1600" b="1">
                        <a:latin typeface="Helvetica Neue"/>
                        <a:ea typeface="Helvetica Neue"/>
                        <a:cs typeface="Helvetica Neue"/>
                        <a:sym typeface="Helvetica Neue"/>
                      </a:endParaRPr>
                    </a:p>
                  </a:txBody>
                  <a:tcPr marL="91425" marR="91425" marT="91425" marB="91425"/>
                </a:tc>
              </a:tr>
              <a:tr h="591800">
                <a:tc>
                  <a:txBody>
                    <a:bodyPr/>
                    <a:lstStyle/>
                    <a:p>
                      <a:pPr marL="0" lvl="0" indent="0" algn="just" rtl="0">
                        <a:spcBef>
                          <a:spcPts val="0"/>
                        </a:spcBef>
                        <a:spcAft>
                          <a:spcPts val="0"/>
                        </a:spcAft>
                        <a:buNone/>
                      </a:pPr>
                      <a:r>
                        <a:rPr lang="en-GB">
                          <a:latin typeface="Helvetica Neue"/>
                          <a:ea typeface="Helvetica Neue"/>
                          <a:cs typeface="Helvetica Neue"/>
                          <a:sym typeface="Helvetica Neue"/>
                        </a:rPr>
                        <a:t>Google Docs Integration</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Read, write, and manage Google Docs</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Google Docs API v1, Drive API v3</a:t>
                      </a:r>
                      <a:endParaRPr>
                        <a:latin typeface="Helvetica Neue"/>
                        <a:ea typeface="Helvetica Neue"/>
                        <a:cs typeface="Helvetica Neue"/>
                        <a:sym typeface="Helvetica Neue"/>
                      </a:endParaRPr>
                    </a:p>
                  </a:txBody>
                  <a:tcPr marL="91425" marR="91425" marT="91425" marB="91425"/>
                </a:tc>
              </a:tr>
              <a:tr h="591800">
                <a:tc>
                  <a:txBody>
                    <a:bodyPr/>
                    <a:lstStyle/>
                    <a:p>
                      <a:pPr marL="0" lvl="0" indent="0" algn="just" rtl="0">
                        <a:spcBef>
                          <a:spcPts val="0"/>
                        </a:spcBef>
                        <a:spcAft>
                          <a:spcPts val="0"/>
                        </a:spcAft>
                        <a:buNone/>
                      </a:pPr>
                      <a:r>
                        <a:rPr lang="en-GB">
                          <a:latin typeface="Helvetica Neue"/>
                          <a:ea typeface="Helvetica Neue"/>
                          <a:cs typeface="Helvetica Neue"/>
                          <a:sym typeface="Helvetica Neue"/>
                        </a:rPr>
                        <a:t>Google Cloud Platform API</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Authentication &amp; API management</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Gemini Pro 2.5</a:t>
                      </a:r>
                      <a:endParaRPr>
                        <a:latin typeface="Helvetica Neue"/>
                        <a:ea typeface="Helvetica Neue"/>
                        <a:cs typeface="Helvetica Neue"/>
                        <a:sym typeface="Helvetica Neue"/>
                      </a:endParaRPr>
                    </a:p>
                  </a:txBody>
                  <a:tcPr marL="91425" marR="91425" marT="91425" marB="91425"/>
                </a:tc>
              </a:tr>
              <a:tr h="591800">
                <a:tc>
                  <a:txBody>
                    <a:bodyPr/>
                    <a:lstStyle/>
                    <a:p>
                      <a:pPr marL="0" lvl="0" indent="0" algn="just" rtl="0">
                        <a:spcBef>
                          <a:spcPts val="0"/>
                        </a:spcBef>
                        <a:spcAft>
                          <a:spcPts val="0"/>
                        </a:spcAft>
                        <a:buNone/>
                      </a:pPr>
                      <a:r>
                        <a:rPr lang="en-GB">
                          <a:latin typeface="Helvetica Neue"/>
                          <a:ea typeface="Helvetica Neue"/>
                          <a:cs typeface="Helvetica Neue"/>
                          <a:sym typeface="Helvetica Neue"/>
                        </a:rPr>
                        <a:t>Custom Tools</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a:latin typeface="Helvetica Neue"/>
                          <a:ea typeface="Helvetica Neue"/>
                          <a:cs typeface="Helvetica Neue"/>
                          <a:sym typeface="Helvetica Neue"/>
                        </a:rPr>
                        <a:t>User-defined automation functions</a:t>
                      </a:r>
                      <a:endParaRPr>
                        <a:latin typeface="Helvetica Neue"/>
                        <a:ea typeface="Helvetica Neue"/>
                        <a:cs typeface="Helvetica Neue"/>
                        <a:sym typeface="Helvetica Neue"/>
                      </a:endParaRPr>
                    </a:p>
                  </a:txBody>
                  <a:tcPr marL="91425" marR="91425" marT="91425" marB="91425"/>
                </a:tc>
                <a:tc>
                  <a:txBody>
                    <a:bodyPr/>
                    <a:lstStyle/>
                    <a:p>
                      <a:pPr marL="0" lvl="0" indent="0" algn="just" rtl="0">
                        <a:spcBef>
                          <a:spcPts val="0"/>
                        </a:spcBef>
                        <a:spcAft>
                          <a:spcPts val="0"/>
                        </a:spcAft>
                        <a:buNone/>
                      </a:pPr>
                      <a:r>
                        <a:rPr lang="en-GB" dirty="0">
                          <a:latin typeface="Helvetica Neue"/>
                          <a:ea typeface="Helvetica Neue"/>
                          <a:cs typeface="Helvetica Neue"/>
                          <a:sym typeface="Helvetica Neue"/>
                        </a:rPr>
                        <a:t>N/A (built-in via </a:t>
                      </a:r>
                      <a:r>
                        <a:rPr lang="en-GB" dirty="0" err="1">
                          <a:latin typeface="Helvetica Neue"/>
                          <a:ea typeface="Helvetica Neue"/>
                          <a:cs typeface="Helvetica Neue"/>
                          <a:sym typeface="Helvetica Neue"/>
                        </a:rPr>
                        <a:t>Mastra</a:t>
                      </a:r>
                      <a:r>
                        <a:rPr lang="en-GB" dirty="0">
                          <a:latin typeface="Helvetica Neue"/>
                          <a:ea typeface="Helvetica Neue"/>
                          <a:cs typeface="Helvetica Neue"/>
                          <a:sym typeface="Helvetica Neue"/>
                        </a:rPr>
                        <a:t>)</a:t>
                      </a:r>
                      <a:endParaRPr dirty="0">
                        <a:latin typeface="Helvetica Neue"/>
                        <a:ea typeface="Helvetica Neue"/>
                        <a:cs typeface="Helvetica Neue"/>
                        <a:sym typeface="Helvetica Neue"/>
                      </a:endParaRPr>
                    </a:p>
                  </a:txBody>
                  <a:tcPr marL="91425" marR="91425" marT="91425" marB="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1"/>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Dataset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Implementation</a:t>
            </a:r>
            <a:endParaRPr/>
          </a:p>
        </p:txBody>
      </p:sp>
      <p:sp>
        <p:nvSpPr>
          <p:cNvPr id="182" name="Google Shape;182;p32"/>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GB" b="1">
                <a:solidFill>
                  <a:schemeClr val="dk1"/>
                </a:solidFill>
                <a:latin typeface="Helvetica Neue"/>
                <a:ea typeface="Helvetica Neue"/>
                <a:cs typeface="Helvetica Neue"/>
                <a:sym typeface="Helvetica Neue"/>
              </a:rPr>
              <a:t>APIs &amp; Tools:</a:t>
            </a:r>
            <a:endParaRPr b="1">
              <a:solidFill>
                <a:schemeClr val="dk1"/>
              </a:solidFill>
              <a:latin typeface="Helvetica Neue"/>
              <a:ea typeface="Helvetica Neue"/>
              <a:cs typeface="Helvetica Neue"/>
              <a:sym typeface="Helvetica Neue"/>
            </a:endParaRPr>
          </a:p>
          <a:p>
            <a:pPr marL="457200" lvl="0" indent="-304800" algn="l" rtl="0">
              <a:lnSpc>
                <a:spcPct val="115000"/>
              </a:lnSpc>
              <a:spcBef>
                <a:spcPts val="1200"/>
              </a:spcBef>
              <a:spcAft>
                <a:spcPts val="0"/>
              </a:spcAft>
              <a:buClr>
                <a:schemeClr val="dk1"/>
              </a:buClr>
              <a:buSzPts val="1200"/>
              <a:buChar char="●"/>
            </a:pPr>
            <a:r>
              <a:rPr lang="en-GB" sz="1200">
                <a:solidFill>
                  <a:schemeClr val="dk1"/>
                </a:solidFill>
                <a:latin typeface="Helvetica Neue"/>
                <a:ea typeface="Helvetica Neue"/>
                <a:cs typeface="Helvetica Neue"/>
                <a:sym typeface="Helvetica Neue"/>
              </a:rPr>
              <a:t>Google Docs &amp; Drive API – authentication &amp; integration, used to create a Write/Create google doc tool for a student agent in Mastra.</a:t>
            </a:r>
            <a:endParaRPr sz="1200">
              <a:solidFill>
                <a:schemeClr val="dk1"/>
              </a:solidFill>
              <a:latin typeface="Helvetica Neue"/>
              <a:ea typeface="Helvetica Neue"/>
              <a:cs typeface="Helvetica Neue"/>
              <a:sym typeface="Helvetica Neue"/>
            </a:endParaRPr>
          </a:p>
          <a:p>
            <a:pPr marL="457200" lvl="0" indent="-285750" algn="l" rtl="0">
              <a:lnSpc>
                <a:spcPct val="115000"/>
              </a:lnSpc>
              <a:spcBef>
                <a:spcPts val="0"/>
              </a:spcBef>
              <a:spcAft>
                <a:spcPts val="0"/>
              </a:spcAft>
              <a:buClr>
                <a:schemeClr val="dk1"/>
              </a:buClr>
              <a:buSzPts val="900"/>
              <a:buFont typeface="Helvetica Neue"/>
              <a:buChar char="●"/>
            </a:pPr>
            <a:r>
              <a:rPr lang="en-GB" sz="1200">
                <a:solidFill>
                  <a:schemeClr val="dk1"/>
                </a:solidFill>
                <a:latin typeface="Helvetica Neue"/>
                <a:ea typeface="Helvetica Neue"/>
                <a:cs typeface="Helvetica Neue"/>
                <a:sym typeface="Helvetica Neue"/>
              </a:rPr>
              <a:t>Vector Query  – Uses google’s text embedding 4 model to search uploaded documents and returns the top 5 results.</a:t>
            </a:r>
            <a:endParaRPr sz="1200">
              <a:solidFill>
                <a:schemeClr val="dk1"/>
              </a:solidFill>
              <a:latin typeface="Helvetica Neue"/>
              <a:ea typeface="Helvetica Neue"/>
              <a:cs typeface="Helvetica Neue"/>
              <a:sym typeface="Helvetica Neue"/>
            </a:endParaRPr>
          </a:p>
          <a:p>
            <a:pPr marL="457200" lvl="0" indent="-285750" algn="l" rtl="0">
              <a:lnSpc>
                <a:spcPct val="115000"/>
              </a:lnSpc>
              <a:spcBef>
                <a:spcPts val="0"/>
              </a:spcBef>
              <a:spcAft>
                <a:spcPts val="0"/>
              </a:spcAft>
              <a:buClr>
                <a:schemeClr val="dk1"/>
              </a:buClr>
              <a:buSzPts val="900"/>
              <a:buFont typeface="Helvetica Neue"/>
              <a:buChar char="●"/>
            </a:pPr>
            <a:r>
              <a:rPr lang="en-GB" sz="1200">
                <a:solidFill>
                  <a:schemeClr val="dk1"/>
                </a:solidFill>
                <a:latin typeface="Helvetica Neue"/>
                <a:ea typeface="Helvetica Neue"/>
                <a:cs typeface="Helvetica Neue"/>
                <a:sym typeface="Helvetica Neue"/>
              </a:rPr>
              <a:t>Mind Maps – </a:t>
            </a:r>
            <a:r>
              <a:rPr lang="en-GB" sz="1200" u="sng">
                <a:solidFill>
                  <a:schemeClr val="hlink"/>
                </a:solidFill>
                <a:latin typeface="Helvetica Neue"/>
                <a:ea typeface="Helvetica Neue"/>
                <a:cs typeface="Helvetica Neue"/>
                <a:sym typeface="Helvetica Neue"/>
                <a:hlinkClick r:id="rId3"/>
              </a:rPr>
              <a:t>Mermaid.js</a:t>
            </a:r>
            <a:r>
              <a:rPr lang="en-GB" sz="1200">
                <a:solidFill>
                  <a:schemeClr val="dk1"/>
                </a:solidFill>
                <a:latin typeface="Helvetica Neue"/>
                <a:ea typeface="Helvetica Neue"/>
                <a:cs typeface="Helvetica Neue"/>
                <a:sym typeface="Helvetica Neue"/>
              </a:rPr>
              <a:t> library is used to generate mermaid script for mind maps which is rendered using puppeteer and saved locally as a png screenshot.</a:t>
            </a:r>
            <a:endParaRPr sz="1200">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GB" b="1">
                <a:solidFill>
                  <a:schemeClr val="dk1"/>
                </a:solidFill>
                <a:latin typeface="Helvetica Neue"/>
                <a:ea typeface="Helvetica Neue"/>
                <a:cs typeface="Helvetica Neue"/>
                <a:sym typeface="Helvetica Neue"/>
              </a:rPr>
              <a:t>Workflow:</a:t>
            </a:r>
            <a:endParaRPr b="1">
              <a:solidFill>
                <a:schemeClr val="dk1"/>
              </a:solidFill>
              <a:latin typeface="Helvetica Neue"/>
              <a:ea typeface="Helvetica Neue"/>
              <a:cs typeface="Helvetica Neue"/>
              <a:sym typeface="Helvetica Neue"/>
            </a:endParaRPr>
          </a:p>
          <a:p>
            <a:pPr marL="457200" lvl="0" indent="-323850" algn="l" rtl="0">
              <a:lnSpc>
                <a:spcPct val="115000"/>
              </a:lnSpc>
              <a:spcBef>
                <a:spcPts val="1200"/>
              </a:spcBef>
              <a:spcAft>
                <a:spcPts val="0"/>
              </a:spcAft>
              <a:buClr>
                <a:schemeClr val="dk1"/>
              </a:buClr>
              <a:buSzPts val="1500"/>
              <a:buAutoNum type="arabicPeriod"/>
            </a:pPr>
            <a:r>
              <a:rPr lang="en-GB" sz="1200" b="1">
                <a:solidFill>
                  <a:schemeClr val="dk1"/>
                </a:solidFill>
                <a:latin typeface="Helvetica Neue"/>
                <a:ea typeface="Helvetica Neue"/>
                <a:cs typeface="Helvetica Neue"/>
                <a:sym typeface="Helvetica Neue"/>
              </a:rPr>
              <a:t>User Query Input – </a:t>
            </a:r>
            <a:r>
              <a:rPr lang="en-GB" sz="1200">
                <a:solidFill>
                  <a:schemeClr val="dk1"/>
                </a:solidFill>
                <a:latin typeface="Helvetica Neue"/>
                <a:ea typeface="Helvetica Neue"/>
                <a:cs typeface="Helvetica Neue"/>
                <a:sym typeface="Helvetica Neue"/>
              </a:rPr>
              <a:t>user initiates the process with a query</a:t>
            </a:r>
            <a:endParaRPr sz="1200">
              <a:solidFill>
                <a:schemeClr val="dk1"/>
              </a:solidFill>
              <a:latin typeface="Helvetica Neue"/>
              <a:ea typeface="Helvetica Neue"/>
              <a:cs typeface="Helvetica Neue"/>
              <a:sym typeface="Helvetica Neue"/>
            </a:endParaRPr>
          </a:p>
          <a:p>
            <a:pPr marL="457200" lvl="0" indent="-323850" algn="l" rtl="0">
              <a:lnSpc>
                <a:spcPct val="115000"/>
              </a:lnSpc>
              <a:spcBef>
                <a:spcPts val="0"/>
              </a:spcBef>
              <a:spcAft>
                <a:spcPts val="0"/>
              </a:spcAft>
              <a:buClr>
                <a:schemeClr val="dk1"/>
              </a:buClr>
              <a:buSzPts val="1500"/>
              <a:buAutoNum type="arabicPeriod"/>
            </a:pPr>
            <a:r>
              <a:rPr lang="en-GB" sz="1200" b="1">
                <a:solidFill>
                  <a:schemeClr val="dk1"/>
                </a:solidFill>
                <a:latin typeface="Helvetica Neue"/>
                <a:ea typeface="Helvetica Neue"/>
                <a:cs typeface="Helvetica Neue"/>
                <a:sym typeface="Helvetica Neue"/>
              </a:rPr>
              <a:t>Intent Detection &amp; Parsing –</a:t>
            </a:r>
            <a:r>
              <a:rPr lang="en-GB" sz="1200">
                <a:solidFill>
                  <a:schemeClr val="dk1"/>
                </a:solidFill>
                <a:latin typeface="Helvetica Neue"/>
                <a:ea typeface="Helvetica Neue"/>
                <a:cs typeface="Helvetica Neue"/>
                <a:sym typeface="Helvetica Neue"/>
              </a:rPr>
              <a:t> Gemini analyzes the query to extract intent</a:t>
            </a:r>
            <a:endParaRPr sz="1200">
              <a:solidFill>
                <a:schemeClr val="dk1"/>
              </a:solidFill>
              <a:latin typeface="Helvetica Neue"/>
              <a:ea typeface="Helvetica Neue"/>
              <a:cs typeface="Helvetica Neue"/>
              <a:sym typeface="Helvetica Neue"/>
            </a:endParaRPr>
          </a:p>
          <a:p>
            <a:pPr marL="457200" lvl="0" indent="-323850" algn="l" rtl="0">
              <a:lnSpc>
                <a:spcPct val="115000"/>
              </a:lnSpc>
              <a:spcBef>
                <a:spcPts val="0"/>
              </a:spcBef>
              <a:spcAft>
                <a:spcPts val="0"/>
              </a:spcAft>
              <a:buClr>
                <a:schemeClr val="dk1"/>
              </a:buClr>
              <a:buSzPts val="1500"/>
              <a:buAutoNum type="arabicPeriod"/>
            </a:pPr>
            <a:r>
              <a:rPr lang="en-GB" sz="1200" b="1">
                <a:solidFill>
                  <a:schemeClr val="dk1"/>
                </a:solidFill>
                <a:latin typeface="Helvetica Neue"/>
                <a:ea typeface="Helvetica Neue"/>
                <a:cs typeface="Helvetica Neue"/>
                <a:sym typeface="Helvetica Neue"/>
              </a:rPr>
              <a:t>MCP Orchestration Layer –</a:t>
            </a:r>
            <a:r>
              <a:rPr lang="en-GB" sz="1200">
                <a:solidFill>
                  <a:schemeClr val="dk1"/>
                </a:solidFill>
                <a:latin typeface="Helvetica Neue"/>
                <a:ea typeface="Helvetica Neue"/>
                <a:cs typeface="Helvetica Neue"/>
                <a:sym typeface="Helvetica Neue"/>
              </a:rPr>
              <a:t> MCP decides which tools are needed</a:t>
            </a:r>
            <a:endParaRPr sz="1200">
              <a:solidFill>
                <a:schemeClr val="dk1"/>
              </a:solidFill>
              <a:latin typeface="Helvetica Neue"/>
              <a:ea typeface="Helvetica Neue"/>
              <a:cs typeface="Helvetica Neue"/>
              <a:sym typeface="Helvetica Neue"/>
            </a:endParaRPr>
          </a:p>
          <a:p>
            <a:pPr marL="457200" lvl="0" indent="-323850" algn="l" rtl="0">
              <a:lnSpc>
                <a:spcPct val="115000"/>
              </a:lnSpc>
              <a:spcBef>
                <a:spcPts val="0"/>
              </a:spcBef>
              <a:spcAft>
                <a:spcPts val="0"/>
              </a:spcAft>
              <a:buClr>
                <a:schemeClr val="dk1"/>
              </a:buClr>
              <a:buSzPts val="1500"/>
              <a:buAutoNum type="arabicPeriod"/>
            </a:pPr>
            <a:r>
              <a:rPr lang="en-GB" sz="1200" b="1">
                <a:solidFill>
                  <a:schemeClr val="dk1"/>
                </a:solidFill>
                <a:latin typeface="Helvetica Neue"/>
                <a:ea typeface="Helvetica Neue"/>
                <a:cs typeface="Helvetica Neue"/>
                <a:sym typeface="Helvetica Neue"/>
              </a:rPr>
              <a:t>Mastra Integration –</a:t>
            </a:r>
            <a:r>
              <a:rPr lang="en-GB" sz="1200">
                <a:solidFill>
                  <a:schemeClr val="dk1"/>
                </a:solidFill>
                <a:latin typeface="Helvetica Neue"/>
                <a:ea typeface="Helvetica Neue"/>
                <a:cs typeface="Helvetica Neue"/>
                <a:sym typeface="Helvetica Neue"/>
              </a:rPr>
              <a:t> Mastra executes the selected tools</a:t>
            </a:r>
            <a:endParaRPr sz="1200">
              <a:solidFill>
                <a:schemeClr val="dk1"/>
              </a:solidFill>
              <a:latin typeface="Helvetica Neue"/>
              <a:ea typeface="Helvetica Neue"/>
              <a:cs typeface="Helvetica Neue"/>
              <a:sym typeface="Helvetica Neue"/>
            </a:endParaRPr>
          </a:p>
          <a:p>
            <a:pPr marL="457200" lvl="0" indent="-323850" algn="l" rtl="0">
              <a:lnSpc>
                <a:spcPct val="115000"/>
              </a:lnSpc>
              <a:spcBef>
                <a:spcPts val="0"/>
              </a:spcBef>
              <a:spcAft>
                <a:spcPts val="0"/>
              </a:spcAft>
              <a:buClr>
                <a:schemeClr val="dk1"/>
              </a:buClr>
              <a:buSzPts val="1500"/>
              <a:buAutoNum type="arabicPeriod"/>
            </a:pPr>
            <a:r>
              <a:rPr lang="en-GB" sz="1200" b="1">
                <a:solidFill>
                  <a:schemeClr val="dk1"/>
                </a:solidFill>
                <a:latin typeface="Helvetica Neue"/>
                <a:ea typeface="Helvetica Neue"/>
                <a:cs typeface="Helvetica Neue"/>
                <a:sym typeface="Helvetica Neue"/>
              </a:rPr>
              <a:t>Tool Execution &amp; Results Processing –</a:t>
            </a:r>
            <a:r>
              <a:rPr lang="en-GB" sz="1200">
                <a:solidFill>
                  <a:schemeClr val="dk1"/>
                </a:solidFill>
                <a:latin typeface="Helvetica Neue"/>
                <a:ea typeface="Helvetica Neue"/>
                <a:cs typeface="Helvetica Neue"/>
                <a:sym typeface="Helvetica Neue"/>
              </a:rPr>
              <a:t> external tools perform tasks and return results</a:t>
            </a:r>
            <a:endParaRPr sz="1200">
              <a:solidFill>
                <a:schemeClr val="dk1"/>
              </a:solidFill>
              <a:latin typeface="Helvetica Neue"/>
              <a:ea typeface="Helvetica Neue"/>
              <a:cs typeface="Helvetica Neue"/>
              <a:sym typeface="Helvetica Neue"/>
            </a:endParaRPr>
          </a:p>
          <a:p>
            <a:pPr marL="457200" lvl="0" indent="-323850" algn="l" rtl="0">
              <a:lnSpc>
                <a:spcPct val="115000"/>
              </a:lnSpc>
              <a:spcBef>
                <a:spcPts val="0"/>
              </a:spcBef>
              <a:spcAft>
                <a:spcPts val="0"/>
              </a:spcAft>
              <a:buClr>
                <a:schemeClr val="dk1"/>
              </a:buClr>
              <a:buSzPts val="1500"/>
              <a:buAutoNum type="arabicPeriod"/>
            </a:pPr>
            <a:r>
              <a:rPr lang="en-GB" sz="1200" b="1">
                <a:solidFill>
                  <a:schemeClr val="dk1"/>
                </a:solidFill>
                <a:latin typeface="Helvetica Neue"/>
                <a:ea typeface="Helvetica Neue"/>
                <a:cs typeface="Helvetica Neue"/>
                <a:sym typeface="Helvetica Neue"/>
              </a:rPr>
              <a:t>Final Response Generation &amp; Delivery – </a:t>
            </a:r>
            <a:r>
              <a:rPr lang="en-GB" sz="1200">
                <a:solidFill>
                  <a:schemeClr val="dk1"/>
                </a:solidFill>
                <a:latin typeface="Helvetica Neue"/>
                <a:ea typeface="Helvetica Neue"/>
                <a:cs typeface="Helvetica Neue"/>
                <a:sym typeface="Helvetica Neue"/>
              </a:rPr>
              <a:t>AI composes and delivers response to the user</a:t>
            </a:r>
            <a:endParaRPr sz="1500">
              <a:solidFill>
                <a:schemeClr val="dk1"/>
              </a:solidFill>
              <a:latin typeface="Helvetica Neue"/>
              <a:ea typeface="Helvetica Neue"/>
              <a:cs typeface="Helvetica Neue"/>
              <a:sym typeface="Helvetica Neue"/>
            </a:endParaRPr>
          </a:p>
          <a:p>
            <a:pPr marL="0" marR="0" lvl="0" indent="0" algn="just" rtl="0">
              <a:lnSpc>
                <a:spcPct val="150000"/>
              </a:lnSpc>
              <a:spcBef>
                <a:spcPts val="1200"/>
              </a:spcBef>
              <a:spcAft>
                <a:spcPts val="0"/>
              </a:spcAft>
              <a:buNone/>
            </a:pP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xfrm>
            <a:off x="40640" y="22860"/>
            <a:ext cx="8328900" cy="520500"/>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Implementation (cont…)</a:t>
            </a:r>
            <a:endParaRPr/>
          </a:p>
        </p:txBody>
      </p:sp>
      <p:sp>
        <p:nvSpPr>
          <p:cNvPr id="188" name="Google Shape;188;p33"/>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0" marR="0" lvl="0" indent="0" algn="just" rtl="0">
              <a:lnSpc>
                <a:spcPct val="6000"/>
              </a:lnSpc>
              <a:spcBef>
                <a:spcPts val="1800"/>
              </a:spcBef>
              <a:spcAft>
                <a:spcPts val="0"/>
              </a:spcAft>
              <a:buNone/>
            </a:pPr>
            <a:endParaRPr sz="1700" b="1">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Code Snippets</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Main Components</a:t>
            </a:r>
            <a:endParaRPr sz="1300" b="1">
              <a:solidFill>
                <a:schemeClr val="dk1"/>
              </a:solidFill>
            </a:endParaRPr>
          </a:p>
          <a:p>
            <a:pPr marL="457200" lvl="0" indent="-298450" algn="l" rtl="0">
              <a:lnSpc>
                <a:spcPct val="115000"/>
              </a:lnSpc>
              <a:spcBef>
                <a:spcPts val="400"/>
              </a:spcBef>
              <a:spcAft>
                <a:spcPts val="0"/>
              </a:spcAft>
              <a:buClr>
                <a:schemeClr val="dk1"/>
              </a:buClr>
              <a:buSzPts val="1100"/>
              <a:buChar char="●"/>
            </a:pPr>
            <a:r>
              <a:rPr lang="en-GB" sz="1100" b="1">
                <a:solidFill>
                  <a:schemeClr val="dk1"/>
                </a:solidFill>
              </a:rPr>
              <a:t>Student Agent (Mastra + Gemini 2.5 Pro)</a:t>
            </a:r>
            <a:endParaRPr sz="1100">
              <a:solidFill>
                <a:schemeClr val="dk1"/>
              </a:solidFill>
            </a:endParaRPr>
          </a:p>
          <a:p>
            <a:pPr marL="914400" lvl="0" indent="0" algn="l" rtl="0">
              <a:lnSpc>
                <a:spcPct val="115000"/>
              </a:lnSpc>
              <a:spcBef>
                <a:spcPts val="1200"/>
              </a:spcBef>
              <a:spcAft>
                <a:spcPts val="0"/>
              </a:spcAft>
              <a:buNone/>
            </a:pPr>
            <a:endParaRPr sz="1100">
              <a:solidFill>
                <a:schemeClr val="dk1"/>
              </a:solidFill>
            </a:endParaRPr>
          </a:p>
          <a:p>
            <a:pPr marL="0" marR="0" lvl="0" indent="0" algn="just" rtl="0">
              <a:lnSpc>
                <a:spcPct val="115000"/>
              </a:lnSpc>
              <a:spcBef>
                <a:spcPts val="1800"/>
              </a:spcBef>
              <a:spcAft>
                <a:spcPts val="400"/>
              </a:spcAft>
              <a:buNone/>
            </a:pPr>
            <a:endParaRPr sz="1700" b="1">
              <a:solidFill>
                <a:schemeClr val="dk1"/>
              </a:solidFill>
            </a:endParaRPr>
          </a:p>
        </p:txBody>
      </p:sp>
      <p:pic>
        <p:nvPicPr>
          <p:cNvPr id="189" name="Google Shape;189;p33"/>
          <p:cNvPicPr preferRelativeResize="0"/>
          <p:nvPr/>
        </p:nvPicPr>
        <p:blipFill>
          <a:blip r:embed="rId3">
            <a:alphaModFix/>
          </a:blip>
          <a:stretch>
            <a:fillRect/>
          </a:stretch>
        </p:blipFill>
        <p:spPr>
          <a:xfrm>
            <a:off x="625850" y="1884939"/>
            <a:ext cx="7743701" cy="30840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40640" y="22860"/>
            <a:ext cx="8328900" cy="520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GB"/>
              <a:t> Implementation (cont…)</a:t>
            </a:r>
            <a:endParaRPr/>
          </a:p>
        </p:txBody>
      </p:sp>
      <p:sp>
        <p:nvSpPr>
          <p:cNvPr id="195" name="Google Shape;195;p34"/>
          <p:cNvSpPr txBox="1">
            <a:spLocks noGrp="1"/>
          </p:cNvSpPr>
          <p:nvPr>
            <p:ph type="body" idx="1"/>
          </p:nvPr>
        </p:nvSpPr>
        <p:spPr>
          <a:xfrm>
            <a:off x="86197" y="586741"/>
            <a:ext cx="8953500" cy="4482300"/>
          </a:xfrm>
          <a:prstGeom prst="rect">
            <a:avLst/>
          </a:prstGeom>
        </p:spPr>
        <p:txBody>
          <a:bodyPr spcFirstLastPara="1" wrap="square" lIns="91425" tIns="45700" rIns="91425" bIns="45700" anchor="t" anchorCtr="0">
            <a:noAutofit/>
          </a:bodyPr>
          <a:lstStyle/>
          <a:p>
            <a:pPr marL="457200" lvl="0" indent="-298450" algn="l" rtl="0">
              <a:lnSpc>
                <a:spcPct val="115000"/>
              </a:lnSpc>
              <a:spcBef>
                <a:spcPts val="1200"/>
              </a:spcBef>
              <a:spcAft>
                <a:spcPts val="0"/>
              </a:spcAft>
              <a:buSzPts val="1100"/>
              <a:buChar char="●"/>
            </a:pPr>
            <a:r>
              <a:rPr lang="en-GB" sz="1100" b="1">
                <a:latin typeface="Arial"/>
                <a:ea typeface="Arial"/>
                <a:cs typeface="Arial"/>
                <a:sym typeface="Arial"/>
              </a:rPr>
              <a:t>Tool Layer</a:t>
            </a:r>
            <a:br>
              <a:rPr lang="en-GB" sz="1100" b="1">
                <a:latin typeface="Arial"/>
                <a:ea typeface="Arial"/>
                <a:cs typeface="Arial"/>
                <a:sym typeface="Arial"/>
              </a:rPr>
            </a:br>
            <a:endParaRPr sz="1100" b="1">
              <a:latin typeface="Arial"/>
              <a:ea typeface="Arial"/>
              <a:cs typeface="Arial"/>
              <a:sym typeface="Arial"/>
            </a:endParaRPr>
          </a:p>
          <a:p>
            <a:pPr marL="914400" lvl="1" indent="-298450" algn="l" rtl="0">
              <a:lnSpc>
                <a:spcPct val="115000"/>
              </a:lnSpc>
              <a:spcBef>
                <a:spcPts val="0"/>
              </a:spcBef>
              <a:spcAft>
                <a:spcPts val="0"/>
              </a:spcAft>
              <a:buSzPts val="1100"/>
              <a:buFont typeface="Arial"/>
              <a:buChar char="○"/>
            </a:pPr>
            <a:r>
              <a:rPr lang="en-GB" sz="1100" b="1">
                <a:latin typeface="Arial"/>
                <a:ea typeface="Arial"/>
                <a:cs typeface="Arial"/>
                <a:sym typeface="Arial"/>
              </a:rPr>
              <a:t>Google Docs Tools:</a:t>
            </a:r>
            <a:r>
              <a:rPr lang="en-GB" sz="1100">
                <a:latin typeface="Arial"/>
                <a:ea typeface="Arial"/>
                <a:cs typeface="Arial"/>
                <a:sym typeface="Arial"/>
              </a:rPr>
              <a:t> </a:t>
            </a:r>
            <a:endParaRPr sz="1100">
              <a:latin typeface="Arial"/>
              <a:ea typeface="Arial"/>
              <a:cs typeface="Arial"/>
              <a:sym typeface="Arial"/>
            </a:endParaRPr>
          </a:p>
          <a:p>
            <a:pPr marL="914400" lvl="0" indent="0" algn="l" rtl="0">
              <a:lnSpc>
                <a:spcPct val="115000"/>
              </a:lnSpc>
              <a:spcBef>
                <a:spcPts val="1200"/>
              </a:spcBef>
              <a:spcAft>
                <a:spcPts val="0"/>
              </a:spcAft>
              <a:buNone/>
            </a:pPr>
            <a:endParaRPr sz="1100">
              <a:latin typeface="Arial"/>
              <a:ea typeface="Arial"/>
              <a:cs typeface="Arial"/>
              <a:sym typeface="Arial"/>
            </a:endParaRPr>
          </a:p>
          <a:p>
            <a:pPr marL="914400" lvl="0" indent="0" algn="l" rtl="0">
              <a:lnSpc>
                <a:spcPct val="115000"/>
              </a:lnSpc>
              <a:spcBef>
                <a:spcPts val="1200"/>
              </a:spcBef>
              <a:spcAft>
                <a:spcPts val="0"/>
              </a:spcAft>
              <a:buNone/>
            </a:pPr>
            <a:endParaRPr sz="1100">
              <a:latin typeface="Arial"/>
              <a:ea typeface="Arial"/>
              <a:cs typeface="Arial"/>
              <a:sym typeface="Arial"/>
            </a:endParaRPr>
          </a:p>
          <a:p>
            <a:pPr marL="914400" lvl="0" indent="0" algn="l" rtl="0">
              <a:lnSpc>
                <a:spcPct val="115000"/>
              </a:lnSpc>
              <a:spcBef>
                <a:spcPts val="1200"/>
              </a:spcBef>
              <a:spcAft>
                <a:spcPts val="0"/>
              </a:spcAft>
              <a:buNone/>
            </a:pPr>
            <a:endParaRPr sz="1100">
              <a:latin typeface="Arial"/>
              <a:ea typeface="Arial"/>
              <a:cs typeface="Arial"/>
              <a:sym typeface="Arial"/>
            </a:endParaRPr>
          </a:p>
          <a:p>
            <a:pPr marL="0" lvl="0" indent="0" algn="just" rtl="0">
              <a:spcBef>
                <a:spcPts val="1200"/>
              </a:spcBef>
              <a:spcAft>
                <a:spcPts val="0"/>
              </a:spcAft>
              <a:buNone/>
            </a:pPr>
            <a:endParaRPr/>
          </a:p>
        </p:txBody>
      </p:sp>
      <p:pic>
        <p:nvPicPr>
          <p:cNvPr id="196" name="Google Shape;196;p34"/>
          <p:cNvPicPr preferRelativeResize="0"/>
          <p:nvPr/>
        </p:nvPicPr>
        <p:blipFill rotWithShape="1">
          <a:blip r:embed="rId3">
            <a:alphaModFix/>
          </a:blip>
          <a:srcRect b="24862"/>
          <a:stretch/>
        </p:blipFill>
        <p:spPr>
          <a:xfrm>
            <a:off x="793500" y="1223375"/>
            <a:ext cx="2882175" cy="1805075"/>
          </a:xfrm>
          <a:prstGeom prst="rect">
            <a:avLst/>
          </a:prstGeom>
          <a:noFill/>
          <a:ln>
            <a:noFill/>
          </a:ln>
        </p:spPr>
      </p:pic>
      <p:pic>
        <p:nvPicPr>
          <p:cNvPr id="197" name="Google Shape;197;p34"/>
          <p:cNvPicPr preferRelativeResize="0"/>
          <p:nvPr/>
        </p:nvPicPr>
        <p:blipFill>
          <a:blip r:embed="rId4">
            <a:alphaModFix/>
          </a:blip>
          <a:stretch>
            <a:fillRect/>
          </a:stretch>
        </p:blipFill>
        <p:spPr>
          <a:xfrm>
            <a:off x="793500" y="3215775"/>
            <a:ext cx="2882175" cy="1515250"/>
          </a:xfrm>
          <a:prstGeom prst="rect">
            <a:avLst/>
          </a:prstGeom>
          <a:noFill/>
          <a:ln>
            <a:noFill/>
          </a:ln>
        </p:spPr>
      </p:pic>
      <p:sp>
        <p:nvSpPr>
          <p:cNvPr id="198" name="Google Shape;198;p34"/>
          <p:cNvSpPr txBox="1"/>
          <p:nvPr/>
        </p:nvSpPr>
        <p:spPr>
          <a:xfrm>
            <a:off x="3181100" y="738800"/>
            <a:ext cx="5486100" cy="420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MindMap Tool:</a:t>
            </a:r>
            <a:endParaRPr sz="1100" b="1">
              <a:solidFill>
                <a:schemeClr val="dk1"/>
              </a:solidFill>
            </a:endParaRPr>
          </a:p>
          <a:p>
            <a:pPr marL="914400" lvl="0" indent="0" algn="l" rtl="0">
              <a:spcBef>
                <a:spcPts val="0"/>
              </a:spcBef>
              <a:spcAft>
                <a:spcPts val="0"/>
              </a:spcAft>
              <a:buNone/>
            </a:pPr>
            <a:endParaRPr sz="1100" b="1">
              <a:solidFill>
                <a:schemeClr val="dk1"/>
              </a:solidFill>
            </a:endParaRPr>
          </a:p>
        </p:txBody>
      </p:sp>
      <p:pic>
        <p:nvPicPr>
          <p:cNvPr id="199" name="Google Shape;199;p34"/>
          <p:cNvPicPr preferRelativeResize="0"/>
          <p:nvPr/>
        </p:nvPicPr>
        <p:blipFill>
          <a:blip r:embed="rId5">
            <a:alphaModFix/>
          </a:blip>
          <a:stretch>
            <a:fillRect/>
          </a:stretch>
        </p:blipFill>
        <p:spPr>
          <a:xfrm>
            <a:off x="4153675" y="1223375"/>
            <a:ext cx="4215876" cy="3507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5"/>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Implementation (cont…)</a:t>
            </a:r>
            <a:endParaRPr/>
          </a:p>
        </p:txBody>
      </p:sp>
      <p:sp>
        <p:nvSpPr>
          <p:cNvPr id="205" name="Google Shape;205;p35"/>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700" b="1">
                <a:solidFill>
                  <a:schemeClr val="dk1"/>
                </a:solidFill>
              </a:rPr>
              <a:t>Workflow With Code Interaction </a:t>
            </a:r>
            <a:endParaRPr sz="1700" b="1">
              <a:solidFill>
                <a:schemeClr val="dk1"/>
              </a:solidFill>
            </a:endParaRPr>
          </a:p>
          <a:p>
            <a:pPr marL="457200" lvl="0" indent="-311150" algn="l" rtl="0">
              <a:lnSpc>
                <a:spcPct val="115000"/>
              </a:lnSpc>
              <a:spcBef>
                <a:spcPts val="400"/>
              </a:spcBef>
              <a:spcAft>
                <a:spcPts val="0"/>
              </a:spcAft>
              <a:buClr>
                <a:schemeClr val="dk1"/>
              </a:buClr>
              <a:buSzPts val="1300"/>
              <a:buAutoNum type="arabicPeriod"/>
            </a:pPr>
            <a:r>
              <a:rPr lang="en-GB" sz="1300" b="1">
                <a:solidFill>
                  <a:schemeClr val="dk1"/>
                </a:solidFill>
              </a:rPr>
              <a:t>User Query → Agent</a:t>
            </a:r>
            <a:endParaRPr sz="1300" b="1">
              <a:solidFill>
                <a:schemeClr val="dk1"/>
              </a:solidFill>
            </a:endParaRPr>
          </a:p>
          <a:p>
            <a:pPr marL="457200" lvl="0" indent="0" algn="l" rtl="0">
              <a:lnSpc>
                <a:spcPct val="115000"/>
              </a:lnSpc>
              <a:spcBef>
                <a:spcPts val="400"/>
              </a:spcBef>
              <a:spcAft>
                <a:spcPts val="0"/>
              </a:spcAft>
              <a:buNone/>
            </a:pPr>
            <a:r>
              <a:rPr lang="en-GB" sz="1100">
                <a:solidFill>
                  <a:srgbClr val="188038"/>
                </a:solidFill>
                <a:latin typeface="Roboto Mono"/>
                <a:ea typeface="Roboto Mono"/>
                <a:cs typeface="Roboto Mono"/>
                <a:sym typeface="Roboto Mono"/>
              </a:rPr>
              <a:t>studentAgent</a:t>
            </a:r>
            <a:br>
              <a:rPr lang="en-GB" sz="1100">
                <a:solidFill>
                  <a:srgbClr val="188038"/>
                </a:solidFill>
                <a:latin typeface="Roboto Mono"/>
                <a:ea typeface="Roboto Mono"/>
                <a:cs typeface="Roboto Mono"/>
                <a:sym typeface="Roboto Mono"/>
              </a:rPr>
            </a:br>
            <a:r>
              <a:rPr lang="en-GB" sz="1100">
                <a:solidFill>
                  <a:schemeClr val="dk1"/>
                </a:solidFill>
              </a:rPr>
              <a:t> → Gemini identifies intent</a:t>
            </a:r>
            <a:br>
              <a:rPr lang="en-GB" sz="1100">
                <a:solidFill>
                  <a:schemeClr val="dk1"/>
                </a:solidFill>
              </a:rPr>
            </a:br>
            <a:r>
              <a:rPr lang="en-GB" sz="1100">
                <a:solidFill>
                  <a:schemeClr val="dk1"/>
                </a:solidFill>
              </a:rPr>
              <a:t> → MCP decides required tool</a:t>
            </a:r>
            <a:endParaRPr sz="1100">
              <a:solidFill>
                <a:schemeClr val="dk1"/>
              </a:solidFill>
            </a:endParaRPr>
          </a:p>
          <a:p>
            <a:pPr marL="457200" lvl="0" indent="-311150" algn="l" rtl="0">
              <a:lnSpc>
                <a:spcPct val="115000"/>
              </a:lnSpc>
              <a:spcBef>
                <a:spcPts val="1200"/>
              </a:spcBef>
              <a:spcAft>
                <a:spcPts val="0"/>
              </a:spcAft>
              <a:buClr>
                <a:schemeClr val="dk1"/>
              </a:buClr>
              <a:buSzPts val="1300"/>
              <a:buAutoNum type="arabicPeriod"/>
            </a:pPr>
            <a:r>
              <a:rPr lang="en-GB" sz="1300" b="1">
                <a:solidFill>
                  <a:schemeClr val="dk1"/>
                </a:solidFill>
              </a:rPr>
              <a:t>Tool Execution </a:t>
            </a:r>
            <a:endParaRPr sz="1300" b="1">
              <a:solidFill>
                <a:schemeClr val="dk1"/>
              </a:solidFill>
            </a:endParaRPr>
          </a:p>
          <a:p>
            <a:pPr marL="0" lvl="0" indent="457200" algn="l" rtl="0">
              <a:lnSpc>
                <a:spcPct val="115000"/>
              </a:lnSpc>
              <a:spcBef>
                <a:spcPts val="400"/>
              </a:spcBef>
              <a:spcAft>
                <a:spcPts val="0"/>
              </a:spcAft>
              <a:buNone/>
            </a:pPr>
            <a:r>
              <a:rPr lang="en-GB" sz="1100" b="1">
                <a:solidFill>
                  <a:schemeClr val="dk1"/>
                </a:solidFill>
              </a:rPr>
              <a:t>Google Docs Tools</a:t>
            </a:r>
            <a:endParaRPr sz="1100" b="1">
              <a:solidFill>
                <a:schemeClr val="dk1"/>
              </a:solidFill>
            </a:endParaRPr>
          </a:p>
          <a:p>
            <a:pPr marL="914400" lvl="0" indent="-298450" algn="l" rtl="0">
              <a:lnSpc>
                <a:spcPct val="115000"/>
              </a:lnSpc>
              <a:spcBef>
                <a:spcPts val="400"/>
              </a:spcBef>
              <a:spcAft>
                <a:spcPts val="0"/>
              </a:spcAft>
              <a:buSzPts val="1100"/>
              <a:buChar char="●"/>
            </a:pPr>
            <a:r>
              <a:rPr lang="en-GB" sz="1100">
                <a:solidFill>
                  <a:srgbClr val="188038"/>
                </a:solidFill>
                <a:latin typeface="Roboto Mono"/>
                <a:ea typeface="Roboto Mono"/>
                <a:cs typeface="Roboto Mono"/>
                <a:sym typeface="Roboto Mono"/>
              </a:rPr>
              <a:t>getGoogleAuth()</a:t>
            </a:r>
            <a:r>
              <a:rPr lang="en-GB" sz="1100">
                <a:solidFill>
                  <a:schemeClr val="dk1"/>
                </a:solidFill>
              </a:rPr>
              <a:t> → OAuth2</a:t>
            </a:r>
            <a:endParaRPr sz="1100">
              <a:solidFill>
                <a:schemeClr val="dk1"/>
              </a:solidFill>
            </a:endParaRPr>
          </a:p>
          <a:p>
            <a:pPr marL="914400" lvl="0" indent="-298450" algn="l" rtl="0">
              <a:lnSpc>
                <a:spcPct val="115000"/>
              </a:lnSpc>
              <a:spcBef>
                <a:spcPts val="0"/>
              </a:spcBef>
              <a:spcAft>
                <a:spcPts val="0"/>
              </a:spcAft>
              <a:buSzPts val="1100"/>
              <a:buChar char="●"/>
            </a:pPr>
            <a:r>
              <a:rPr lang="en-GB" sz="1100">
                <a:solidFill>
                  <a:srgbClr val="188038"/>
                </a:solidFill>
                <a:latin typeface="Roboto Mono"/>
                <a:ea typeface="Roboto Mono"/>
                <a:cs typeface="Roboto Mono"/>
                <a:sym typeface="Roboto Mono"/>
              </a:rPr>
              <a:t>drive.files.list()</a:t>
            </a:r>
            <a:r>
              <a:rPr lang="en-GB" sz="1100">
                <a:solidFill>
                  <a:schemeClr val="dk1"/>
                </a:solidFill>
              </a:rPr>
              <a:t> → find doc</a:t>
            </a:r>
            <a:endParaRPr sz="1100">
              <a:solidFill>
                <a:schemeClr val="dk1"/>
              </a:solidFill>
            </a:endParaRPr>
          </a:p>
          <a:p>
            <a:pPr marL="914400" lvl="0" indent="-298450" algn="l" rtl="0">
              <a:lnSpc>
                <a:spcPct val="115000"/>
              </a:lnSpc>
              <a:spcBef>
                <a:spcPts val="0"/>
              </a:spcBef>
              <a:spcAft>
                <a:spcPts val="0"/>
              </a:spcAft>
              <a:buSzPts val="1100"/>
              <a:buChar char="●"/>
            </a:pPr>
            <a:r>
              <a:rPr lang="en-GB" sz="1100">
                <a:solidFill>
                  <a:srgbClr val="188038"/>
                </a:solidFill>
                <a:latin typeface="Roboto Mono"/>
                <a:ea typeface="Roboto Mono"/>
                <a:cs typeface="Roboto Mono"/>
                <a:sym typeface="Roboto Mono"/>
              </a:rPr>
              <a:t>batchUpdate()</a:t>
            </a:r>
            <a:r>
              <a:rPr lang="en-GB" sz="1100">
                <a:solidFill>
                  <a:schemeClr val="dk1"/>
                </a:solidFill>
              </a:rPr>
              <a:t> OR </a:t>
            </a:r>
            <a:r>
              <a:rPr lang="en-GB" sz="1100">
                <a:solidFill>
                  <a:srgbClr val="188038"/>
                </a:solidFill>
                <a:latin typeface="Roboto Mono"/>
                <a:ea typeface="Roboto Mono"/>
                <a:cs typeface="Roboto Mono"/>
                <a:sym typeface="Roboto Mono"/>
              </a:rPr>
              <a:t>documents.create()</a:t>
            </a:r>
            <a:endParaRPr sz="1100" b="1">
              <a:solidFill>
                <a:schemeClr val="dk1"/>
              </a:solidFill>
            </a:endParaRPr>
          </a:p>
          <a:p>
            <a:pPr marL="0" lvl="0" indent="457200" algn="l" rtl="0">
              <a:lnSpc>
                <a:spcPct val="115000"/>
              </a:lnSpc>
              <a:spcBef>
                <a:spcPts val="1200"/>
              </a:spcBef>
              <a:spcAft>
                <a:spcPts val="0"/>
              </a:spcAft>
              <a:buClr>
                <a:schemeClr val="dk1"/>
              </a:buClr>
              <a:buSzPts val="1100"/>
              <a:buFont typeface="Arial"/>
              <a:buNone/>
            </a:pPr>
            <a:r>
              <a:rPr lang="en-GB" sz="1100" b="1">
                <a:solidFill>
                  <a:schemeClr val="dk1"/>
                </a:solidFill>
              </a:rPr>
              <a:t>Mind Map Tool</a:t>
            </a:r>
            <a:endParaRPr sz="1100" b="1">
              <a:solidFill>
                <a:schemeClr val="dk1"/>
              </a:solidFill>
            </a:endParaRPr>
          </a:p>
          <a:p>
            <a:pPr marL="914400" lvl="0" indent="-298450" algn="l" rtl="0">
              <a:lnSpc>
                <a:spcPct val="115000"/>
              </a:lnSpc>
              <a:spcBef>
                <a:spcPts val="200"/>
              </a:spcBef>
              <a:spcAft>
                <a:spcPts val="0"/>
              </a:spcAft>
              <a:buClr>
                <a:schemeClr val="dk1"/>
              </a:buClr>
              <a:buSzPts val="1100"/>
              <a:buChar char="●"/>
            </a:pPr>
            <a:r>
              <a:rPr lang="en-GB" sz="1100">
                <a:solidFill>
                  <a:schemeClr val="dk1"/>
                </a:solidFill>
              </a:rPr>
              <a:t>Mermaid script injected into HTML</a:t>
            </a:r>
            <a:endParaRPr sz="1100">
              <a:solidFill>
                <a:schemeClr val="dk1"/>
              </a:solidFill>
            </a:endParaRPr>
          </a:p>
          <a:p>
            <a:pPr marL="914400" lvl="0" indent="-298450" algn="l" rtl="0">
              <a:lnSpc>
                <a:spcPct val="115000"/>
              </a:lnSpc>
              <a:spcBef>
                <a:spcPts val="0"/>
              </a:spcBef>
              <a:spcAft>
                <a:spcPts val="0"/>
              </a:spcAft>
              <a:buSzPts val="1100"/>
              <a:buChar char="●"/>
            </a:pPr>
            <a:r>
              <a:rPr lang="en-GB" sz="1100">
                <a:solidFill>
                  <a:srgbClr val="188038"/>
                </a:solidFill>
                <a:latin typeface="Roboto Mono"/>
                <a:ea typeface="Roboto Mono"/>
                <a:cs typeface="Roboto Mono"/>
                <a:sym typeface="Roboto Mono"/>
              </a:rPr>
              <a:t>puppeteer.launch()</a:t>
            </a:r>
            <a:r>
              <a:rPr lang="en-GB" sz="1100">
                <a:solidFill>
                  <a:schemeClr val="dk1"/>
                </a:solidFill>
              </a:rPr>
              <a:t> → render SVG</a:t>
            </a:r>
            <a:endParaRPr sz="1100">
              <a:solidFill>
                <a:schemeClr val="dk1"/>
              </a:solidFill>
            </a:endParaRPr>
          </a:p>
          <a:p>
            <a:pPr marL="914400" lvl="0" indent="-298450" algn="l" rtl="0">
              <a:lnSpc>
                <a:spcPct val="115000"/>
              </a:lnSpc>
              <a:spcBef>
                <a:spcPts val="0"/>
              </a:spcBef>
              <a:spcAft>
                <a:spcPts val="0"/>
              </a:spcAft>
              <a:buClr>
                <a:schemeClr val="dk1"/>
              </a:buClr>
              <a:buSzPts val="1100"/>
              <a:buChar char="●"/>
            </a:pPr>
            <a:r>
              <a:rPr lang="en-GB" sz="1100">
                <a:solidFill>
                  <a:schemeClr val="dk1"/>
                </a:solidFill>
              </a:rPr>
              <a:t>Screenshot saved as PNG</a:t>
            </a:r>
            <a:endParaRPr sz="1100">
              <a:solidFill>
                <a:schemeClr val="dk1"/>
              </a:solidFill>
            </a:endParaRPr>
          </a:p>
          <a:p>
            <a:pPr marL="0" lvl="0" indent="457200" algn="l" rtl="0">
              <a:lnSpc>
                <a:spcPct val="115000"/>
              </a:lnSpc>
              <a:spcBef>
                <a:spcPts val="1200"/>
              </a:spcBef>
              <a:spcAft>
                <a:spcPts val="0"/>
              </a:spcAft>
              <a:buClr>
                <a:schemeClr val="dk1"/>
              </a:buClr>
              <a:buSzPts val="1100"/>
              <a:buFont typeface="Arial"/>
              <a:buNone/>
            </a:pPr>
            <a:r>
              <a:rPr lang="en-GB" sz="1100" b="1">
                <a:solidFill>
                  <a:schemeClr val="dk1"/>
                </a:solidFill>
              </a:rPr>
              <a:t>Vector Query Tool</a:t>
            </a:r>
            <a:endParaRPr sz="1100" b="1">
              <a:solidFill>
                <a:schemeClr val="dk1"/>
              </a:solidFill>
            </a:endParaRPr>
          </a:p>
          <a:p>
            <a:pPr marL="914400" lvl="0" indent="-298450" algn="l" rtl="0">
              <a:lnSpc>
                <a:spcPct val="115000"/>
              </a:lnSpc>
              <a:spcBef>
                <a:spcPts val="200"/>
              </a:spcBef>
              <a:spcAft>
                <a:spcPts val="0"/>
              </a:spcAft>
              <a:buSzPts val="1100"/>
              <a:buChar char="●"/>
            </a:pPr>
            <a:r>
              <a:rPr lang="en-GB" sz="1100">
                <a:solidFill>
                  <a:srgbClr val="188038"/>
                </a:solidFill>
                <a:latin typeface="Roboto Mono"/>
                <a:ea typeface="Roboto Mono"/>
                <a:cs typeface="Roboto Mono"/>
                <a:sym typeface="Roboto Mono"/>
              </a:rPr>
              <a:t>embedContent()</a:t>
            </a:r>
            <a:r>
              <a:rPr lang="en-GB" sz="1100">
                <a:solidFill>
                  <a:schemeClr val="dk1"/>
                </a:solidFill>
              </a:rPr>
              <a:t> → embedding</a:t>
            </a:r>
            <a:endParaRPr sz="1100">
              <a:solidFill>
                <a:schemeClr val="dk1"/>
              </a:solidFill>
            </a:endParaRPr>
          </a:p>
          <a:p>
            <a:pPr marL="914400" lvl="0" indent="-298450" algn="l" rtl="0">
              <a:lnSpc>
                <a:spcPct val="115000"/>
              </a:lnSpc>
              <a:spcBef>
                <a:spcPts val="0"/>
              </a:spcBef>
              <a:spcAft>
                <a:spcPts val="0"/>
              </a:spcAft>
              <a:buSzPts val="1100"/>
              <a:buChar char="●"/>
            </a:pPr>
            <a:r>
              <a:rPr lang="en-GB" sz="1100">
                <a:solidFill>
                  <a:srgbClr val="188038"/>
                </a:solidFill>
                <a:latin typeface="Roboto Mono"/>
                <a:ea typeface="Roboto Mono"/>
                <a:cs typeface="Roboto Mono"/>
                <a:sym typeface="Roboto Mono"/>
              </a:rPr>
              <a:t>store.query()</a:t>
            </a:r>
            <a:r>
              <a:rPr lang="en-GB" sz="1100">
                <a:solidFill>
                  <a:schemeClr val="dk1"/>
                </a:solidFill>
              </a:rPr>
              <a:t> → top-K chunks</a:t>
            </a:r>
            <a:endParaRPr sz="1100">
              <a:solidFill>
                <a:schemeClr val="dk1"/>
              </a:solidFill>
            </a:endParaRPr>
          </a:p>
          <a:p>
            <a:pPr marL="0" marR="0" lvl="0" indent="0" algn="just" rtl="0">
              <a:lnSpc>
                <a:spcPct val="150000"/>
              </a:lnSpc>
              <a:spcBef>
                <a:spcPts val="1200"/>
              </a:spcBef>
              <a:spcAft>
                <a:spcPts val="0"/>
              </a:spcAft>
              <a:buNone/>
            </a:pP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6"/>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Experimental Results and Evaluation (cont…)</a:t>
            </a:r>
            <a:endParaRPr/>
          </a:p>
        </p:txBody>
      </p:sp>
      <p:sp>
        <p:nvSpPr>
          <p:cNvPr id="211" name="Google Shape;211;p36"/>
          <p:cNvSpPr txBox="1"/>
          <p:nvPr/>
        </p:nvSpPr>
        <p:spPr>
          <a:xfrm>
            <a:off x="93643" y="603173"/>
            <a:ext cx="8956800" cy="4346100"/>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630"/>
              </a:spcBef>
              <a:spcAft>
                <a:spcPts val="0"/>
              </a:spcAft>
              <a:buNone/>
            </a:pPr>
            <a:endParaRPr/>
          </a:p>
        </p:txBody>
      </p:sp>
      <p:pic>
        <p:nvPicPr>
          <p:cNvPr id="212" name="Google Shape;212;p36"/>
          <p:cNvPicPr preferRelativeResize="0"/>
          <p:nvPr/>
        </p:nvPicPr>
        <p:blipFill rotWithShape="1">
          <a:blip r:embed="rId3">
            <a:alphaModFix/>
          </a:blip>
          <a:srcRect l="14049" t="11964" r="37538"/>
          <a:stretch/>
        </p:blipFill>
        <p:spPr>
          <a:xfrm>
            <a:off x="165625" y="690450"/>
            <a:ext cx="4315399" cy="4171550"/>
          </a:xfrm>
          <a:prstGeom prst="rect">
            <a:avLst/>
          </a:prstGeom>
          <a:noFill/>
          <a:ln>
            <a:noFill/>
          </a:ln>
        </p:spPr>
      </p:pic>
      <p:sp>
        <p:nvSpPr>
          <p:cNvPr id="213" name="Google Shape;213;p36"/>
          <p:cNvSpPr txBox="1"/>
          <p:nvPr/>
        </p:nvSpPr>
        <p:spPr>
          <a:xfrm>
            <a:off x="4690975" y="727800"/>
            <a:ext cx="4175400" cy="413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u="sng">
                <a:solidFill>
                  <a:schemeClr val="dk1"/>
                </a:solidFill>
                <a:latin typeface="Helvetica Neue"/>
                <a:ea typeface="Helvetica Neue"/>
                <a:cs typeface="Helvetica Neue"/>
                <a:sym typeface="Helvetica Neue"/>
              </a:rPr>
              <a:t>createGoogleDocTool</a:t>
            </a:r>
            <a:endParaRPr sz="1600" b="1" u="sng">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b="1" u="sng">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The create google docs tool completes the OAuth to access the user’s drive </a:t>
            </a:r>
            <a:endParaRPr sz="15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Then it creates the desired doc using docs.documents.create.</a:t>
            </a:r>
            <a:endParaRPr sz="1500">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0" lvl="0" indent="0" algn="l" rtl="0">
              <a:spcBef>
                <a:spcPts val="0"/>
              </a:spcBef>
              <a:spcAft>
                <a:spcPts val="0"/>
              </a:spcAft>
              <a:buNone/>
            </a:pPr>
            <a:r>
              <a:rPr lang="en-GB" sz="1600" b="1" u="sng">
                <a:solidFill>
                  <a:schemeClr val="dk1"/>
                </a:solidFill>
                <a:latin typeface="Helvetica Neue"/>
                <a:ea typeface="Helvetica Neue"/>
                <a:cs typeface="Helvetica Neue"/>
                <a:sym typeface="Helvetica Neue"/>
              </a:rPr>
              <a:t>writeGoogleDocTool</a:t>
            </a:r>
            <a:endParaRPr sz="1600" b="1" u="sng">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sz="1600" b="1" u="sng">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Searches for the desired file from the list of files in the drive.</a:t>
            </a:r>
            <a:endParaRPr sz="15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Write the content to the file using the batchUpdate method.</a:t>
            </a:r>
            <a:endParaRPr sz="1500">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7"/>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Experimental Results and Evaluation</a:t>
            </a:r>
            <a:endParaRPr/>
          </a:p>
        </p:txBody>
      </p:sp>
      <p:pic>
        <p:nvPicPr>
          <p:cNvPr id="219" name="Google Shape;219;p37"/>
          <p:cNvPicPr preferRelativeResize="0"/>
          <p:nvPr/>
        </p:nvPicPr>
        <p:blipFill rotWithShape="1">
          <a:blip r:embed="rId3">
            <a:alphaModFix/>
          </a:blip>
          <a:srcRect l="13246" t="12831" r="37123" b="53187"/>
          <a:stretch/>
        </p:blipFill>
        <p:spPr>
          <a:xfrm>
            <a:off x="40650" y="543400"/>
            <a:ext cx="4790275" cy="1743525"/>
          </a:xfrm>
          <a:prstGeom prst="rect">
            <a:avLst/>
          </a:prstGeom>
          <a:noFill/>
          <a:ln>
            <a:noFill/>
          </a:ln>
        </p:spPr>
      </p:pic>
      <p:pic>
        <p:nvPicPr>
          <p:cNvPr id="220" name="Google Shape;220;p37"/>
          <p:cNvPicPr preferRelativeResize="0"/>
          <p:nvPr/>
        </p:nvPicPr>
        <p:blipFill rotWithShape="1">
          <a:blip r:embed="rId4">
            <a:alphaModFix/>
          </a:blip>
          <a:srcRect l="23609" t="12799" r="7233" b="18015"/>
          <a:stretch/>
        </p:blipFill>
        <p:spPr>
          <a:xfrm>
            <a:off x="40650" y="2167625"/>
            <a:ext cx="5120176" cy="2722875"/>
          </a:xfrm>
          <a:prstGeom prst="rect">
            <a:avLst/>
          </a:prstGeom>
          <a:noFill/>
          <a:ln>
            <a:noFill/>
          </a:ln>
        </p:spPr>
      </p:pic>
      <p:sp>
        <p:nvSpPr>
          <p:cNvPr id="221" name="Google Shape;221;p37"/>
          <p:cNvSpPr txBox="1"/>
          <p:nvPr/>
        </p:nvSpPr>
        <p:spPr>
          <a:xfrm>
            <a:off x="5235550" y="603600"/>
            <a:ext cx="3831300" cy="420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u="sng">
                <a:solidFill>
                  <a:schemeClr val="dk1"/>
                </a:solidFill>
                <a:latin typeface="Helvetica Neue"/>
                <a:ea typeface="Helvetica Neue"/>
                <a:cs typeface="Helvetica Neue"/>
                <a:sym typeface="Helvetica Neue"/>
              </a:rPr>
              <a:t>generateMindMap</a:t>
            </a:r>
            <a:endParaRPr sz="1600" b="1" u="sng">
              <a:solidFill>
                <a:schemeClr val="dk1"/>
              </a:solidFill>
              <a:latin typeface="Helvetica Neue"/>
              <a:ea typeface="Helvetica Neue"/>
              <a:cs typeface="Helvetica Neue"/>
              <a:sym typeface="Helvetica Neue"/>
            </a:endParaRPr>
          </a:p>
          <a:p>
            <a:pPr marL="0" lvl="0" indent="0" algn="l" rtl="0">
              <a:spcBef>
                <a:spcPts val="0"/>
              </a:spcBef>
              <a:spcAft>
                <a:spcPts val="0"/>
              </a:spcAft>
              <a:buNone/>
            </a:pPr>
            <a:endParaRPr sz="1600" b="1" u="sng">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Title and nodes created by gemini</a:t>
            </a:r>
            <a:endParaRPr sz="15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Title and nodes sent to the tool in the form of input.</a:t>
            </a:r>
            <a:endParaRPr sz="15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Mermaid script for the map created using Mermaid JS.</a:t>
            </a:r>
            <a:endParaRPr sz="15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The script is rendered within HTML using Puppeteer.</a:t>
            </a:r>
            <a:endParaRPr sz="1500">
              <a:solidFill>
                <a:schemeClr val="dk1"/>
              </a:solidFill>
              <a:latin typeface="Helvetica Neue"/>
              <a:ea typeface="Helvetica Neue"/>
              <a:cs typeface="Helvetica Neue"/>
              <a:sym typeface="Helvetica Neue"/>
            </a:endParaRPr>
          </a:p>
          <a:p>
            <a:pPr marL="457200" lvl="0" indent="0" algn="l" rtl="0">
              <a:spcBef>
                <a:spcPts val="0"/>
              </a:spcBef>
              <a:spcAft>
                <a:spcPts val="0"/>
              </a:spcAft>
              <a:buNone/>
            </a:pPr>
            <a:endParaRPr sz="1500">
              <a:solidFill>
                <a:schemeClr val="dk1"/>
              </a:solidFill>
              <a:latin typeface="Helvetica Neue"/>
              <a:ea typeface="Helvetica Neue"/>
              <a:cs typeface="Helvetica Neue"/>
              <a:sym typeface="Helvetica Neue"/>
            </a:endParaRPr>
          </a:p>
          <a:p>
            <a:pPr marL="457200" lvl="0" indent="-323850" algn="l" rtl="0">
              <a:spcBef>
                <a:spcPts val="0"/>
              </a:spcBef>
              <a:spcAft>
                <a:spcPts val="0"/>
              </a:spcAft>
              <a:buClr>
                <a:schemeClr val="dk1"/>
              </a:buClr>
              <a:buSzPts val="1500"/>
              <a:buFont typeface="Helvetica Neue"/>
              <a:buAutoNum type="arabicPeriod"/>
            </a:pPr>
            <a:r>
              <a:rPr lang="en-GB" sz="1500">
                <a:solidFill>
                  <a:schemeClr val="dk1"/>
                </a:solidFill>
                <a:latin typeface="Helvetica Neue"/>
                <a:ea typeface="Helvetica Neue"/>
                <a:cs typeface="Helvetica Neue"/>
                <a:sym typeface="Helvetica Neue"/>
              </a:rPr>
              <a:t>A screenshot of the map is saved to the local output directory.</a:t>
            </a:r>
            <a:endParaRPr sz="15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graphicFrame>
        <p:nvGraphicFramePr>
          <p:cNvPr id="226" name="Google Shape;226;p38"/>
          <p:cNvGraphicFramePr/>
          <p:nvPr/>
        </p:nvGraphicFramePr>
        <p:xfrm>
          <a:off x="759850" y="891500"/>
          <a:ext cx="7431650" cy="2375875"/>
        </p:xfrm>
        <a:graphic>
          <a:graphicData uri="http://schemas.openxmlformats.org/drawingml/2006/table">
            <a:tbl>
              <a:tblPr>
                <a:noFill/>
                <a:tableStyleId>{4A8300B5-029A-4B6F-8EBC-1A94DEF8384E}</a:tableStyleId>
              </a:tblPr>
              <a:tblGrid>
                <a:gridCol w="3715825"/>
                <a:gridCol w="3715825"/>
              </a:tblGrid>
              <a:tr h="475175">
                <a:tc>
                  <a:txBody>
                    <a:bodyPr/>
                    <a:lstStyle/>
                    <a:p>
                      <a:pPr marL="0" lvl="0" indent="0" algn="l" rtl="0">
                        <a:spcBef>
                          <a:spcPts val="0"/>
                        </a:spcBef>
                        <a:spcAft>
                          <a:spcPts val="0"/>
                        </a:spcAft>
                        <a:buNone/>
                      </a:pPr>
                      <a:r>
                        <a:rPr lang="en-GB" sz="1700" b="1">
                          <a:latin typeface="Times New Roman"/>
                          <a:ea typeface="Times New Roman"/>
                          <a:cs typeface="Times New Roman"/>
                          <a:sym typeface="Times New Roman"/>
                        </a:rPr>
                        <a:t>Metric Observed </a:t>
                      </a:r>
                      <a:endParaRPr sz="1700" b="1">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700" b="1">
                          <a:latin typeface="Times New Roman"/>
                          <a:ea typeface="Times New Roman"/>
                          <a:cs typeface="Times New Roman"/>
                          <a:sym typeface="Times New Roman"/>
                        </a:rPr>
                        <a:t>Performance</a:t>
                      </a:r>
                      <a:endParaRPr sz="1700" b="1">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75175">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Average Response Accuracy</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0.92</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75175">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Average Latency (sec) </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1.8</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75175">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Tool Invocation Success Rate </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95.2%</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75175">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OAuth Authentication Success Rate </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500">
                          <a:latin typeface="Times New Roman"/>
                          <a:ea typeface="Times New Roman"/>
                          <a:cs typeface="Times New Roman"/>
                          <a:sym typeface="Times New Roman"/>
                        </a:rPr>
                        <a:t>100%</a:t>
                      </a:r>
                      <a:endParaRPr sz="1500">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bl>
          </a:graphicData>
        </a:graphic>
      </p:graphicFrame>
      <p:sp>
        <p:nvSpPr>
          <p:cNvPr id="227" name="Google Shape;227;p38"/>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Experimental Results and Evaluation (cont…)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Key Learnings</a:t>
            </a:r>
            <a:endParaRPr/>
          </a:p>
        </p:txBody>
      </p:sp>
      <p:sp>
        <p:nvSpPr>
          <p:cNvPr id="233" name="Google Shape;233;p39"/>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sz="1600" b="1">
                <a:solidFill>
                  <a:schemeClr val="dk1"/>
                </a:solidFill>
                <a:latin typeface="Helvetica Neue"/>
                <a:ea typeface="Helvetica Neue"/>
                <a:cs typeface="Helvetica Neue"/>
                <a:sym typeface="Helvetica Neue"/>
              </a:rPr>
              <a:t>Technical Concepts &amp; Skills</a:t>
            </a:r>
            <a:endParaRPr sz="1600" b="1">
              <a:solidFill>
                <a:schemeClr val="dk1"/>
              </a:solidFill>
              <a:latin typeface="Helvetica Neue"/>
              <a:ea typeface="Helvetica Neue"/>
              <a:cs typeface="Helvetica Neue"/>
              <a:sym typeface="Helvetica Neue"/>
            </a:endParaRPr>
          </a:p>
          <a:p>
            <a:pPr marL="457200" lvl="0" indent="-317500" algn="l" rtl="0">
              <a:lnSpc>
                <a:spcPct val="115000"/>
              </a:lnSpc>
              <a:spcBef>
                <a:spcPts val="120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Gained expertise in MCP (Model Context Protocol) for secure LLM-to-tool integration</a:t>
            </a:r>
            <a:endParaRPr>
              <a:solidFill>
                <a:schemeClr val="dk1"/>
              </a:solidFill>
              <a:latin typeface="Helvetica Neue"/>
              <a:ea typeface="Helvetica Neue"/>
              <a:cs typeface="Helvetica Neue"/>
              <a:sym typeface="Helvetica Neue"/>
            </a:endParaRPr>
          </a:p>
          <a:p>
            <a:pPr marL="457200" lvl="0" indent="-317500" algn="l" rtl="0">
              <a:lnSpc>
                <a:spcPct val="115000"/>
              </a:lnSpc>
              <a:spcBef>
                <a:spcPts val="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Worked with Mastra (TypeScript Framework) for building modular assistants</a:t>
            </a:r>
            <a:endParaRPr>
              <a:solidFill>
                <a:schemeClr val="dk1"/>
              </a:solidFill>
              <a:latin typeface="Helvetica Neue"/>
              <a:ea typeface="Helvetica Neue"/>
              <a:cs typeface="Helvetica Neue"/>
              <a:sym typeface="Helvetica Neue"/>
            </a:endParaRPr>
          </a:p>
          <a:p>
            <a:pPr marL="457200" lvl="0" indent="-317500" algn="l" rtl="0">
              <a:lnSpc>
                <a:spcPct val="115000"/>
              </a:lnSpc>
              <a:spcBef>
                <a:spcPts val="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Applied Google Gemini Flash (Pro 2.5) for natural language understanding and task automation</a:t>
            </a:r>
            <a:endParaRPr>
              <a:solidFill>
                <a:schemeClr val="dk1"/>
              </a:solidFill>
              <a:latin typeface="Helvetica Neue"/>
              <a:ea typeface="Helvetica Neue"/>
              <a:cs typeface="Helvetica Neue"/>
              <a:sym typeface="Helvetica Neue"/>
            </a:endParaRPr>
          </a:p>
          <a:p>
            <a:pPr marL="457200" lvl="0" indent="-317500" algn="l" rtl="0">
              <a:lnSpc>
                <a:spcPct val="115000"/>
              </a:lnSpc>
              <a:spcBef>
                <a:spcPts val="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Hands-on with Google Docs &amp; Drive APIs (authentication, document handling, automation)</a:t>
            </a:r>
            <a:endParaRPr>
              <a:solidFill>
                <a:schemeClr val="dk1"/>
              </a:solidFill>
              <a:latin typeface="Helvetica Neue"/>
              <a:ea typeface="Helvetica Neue"/>
              <a:cs typeface="Helvetica Neue"/>
              <a:sym typeface="Helvetica Neue"/>
            </a:endParaRPr>
          </a:p>
          <a:p>
            <a:pPr marL="457200" lvl="0" indent="-317500" algn="l" rtl="0">
              <a:lnSpc>
                <a:spcPct val="115000"/>
              </a:lnSpc>
              <a:spcBef>
                <a:spcPts val="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Improved skills in API integration, workflow automation, and prompt engineering</a:t>
            </a:r>
            <a:endParaRPr>
              <a:solidFill>
                <a:schemeClr val="dk1"/>
              </a:solidFill>
              <a:latin typeface="Helvetica Neue"/>
              <a:ea typeface="Helvetica Neue"/>
              <a:cs typeface="Helvetica Neue"/>
              <a:sym typeface="Helvetica Neue"/>
            </a:endParaRPr>
          </a:p>
          <a:p>
            <a:pPr marL="457200" lvl="0" indent="-298450" algn="l" rtl="0">
              <a:lnSpc>
                <a:spcPct val="115000"/>
              </a:lnSpc>
              <a:spcBef>
                <a:spcPts val="0"/>
              </a:spcBef>
              <a:spcAft>
                <a:spcPts val="0"/>
              </a:spcAft>
              <a:buClr>
                <a:schemeClr val="dk1"/>
              </a:buClr>
              <a:buSzPts val="1100"/>
              <a:buFont typeface="Helvetica Neue"/>
              <a:buChar char="●"/>
            </a:pPr>
            <a:r>
              <a:rPr lang="en-GB">
                <a:solidFill>
                  <a:schemeClr val="dk1"/>
                </a:solidFill>
                <a:latin typeface="Helvetica Neue"/>
                <a:ea typeface="Helvetica Neue"/>
                <a:cs typeface="Helvetica Neue"/>
                <a:sym typeface="Helvetica Neue"/>
              </a:rPr>
              <a:t>Learned about Puppeteer, a tool to automate Chrome and Firefox.</a:t>
            </a:r>
            <a:endParaRPr>
              <a:solidFill>
                <a:schemeClr val="dk1"/>
              </a:solidFill>
              <a:latin typeface="Helvetica Neue"/>
              <a:ea typeface="Helvetica Neue"/>
              <a:cs typeface="Helvetica Neue"/>
              <a:sym typeface="Helvetica Neue"/>
            </a:endParaRPr>
          </a:p>
          <a:p>
            <a:pPr marL="0" lvl="0" indent="0" algn="l" rtl="0">
              <a:lnSpc>
                <a:spcPct val="115000"/>
              </a:lnSpc>
              <a:spcBef>
                <a:spcPts val="1400"/>
              </a:spcBef>
              <a:spcAft>
                <a:spcPts val="0"/>
              </a:spcAft>
              <a:buClr>
                <a:schemeClr val="dk1"/>
              </a:buClr>
              <a:buSzPts val="1100"/>
              <a:buFont typeface="Arial"/>
              <a:buNone/>
            </a:pPr>
            <a:r>
              <a:rPr lang="en-GB" sz="1600">
                <a:solidFill>
                  <a:schemeClr val="dk1"/>
                </a:solidFill>
                <a:latin typeface="Helvetica Neue"/>
                <a:ea typeface="Helvetica Neue"/>
                <a:cs typeface="Helvetica Neue"/>
                <a:sym typeface="Helvetica Neue"/>
              </a:rPr>
              <a:t> </a:t>
            </a:r>
            <a:r>
              <a:rPr lang="en-GB" sz="1600" b="1">
                <a:solidFill>
                  <a:schemeClr val="dk1"/>
                </a:solidFill>
                <a:latin typeface="Helvetica Neue"/>
                <a:ea typeface="Helvetica Neue"/>
                <a:cs typeface="Helvetica Neue"/>
                <a:sym typeface="Helvetica Neue"/>
              </a:rPr>
              <a:t>Methodologies</a:t>
            </a:r>
            <a:endParaRPr sz="1600" b="1">
              <a:solidFill>
                <a:schemeClr val="dk1"/>
              </a:solidFill>
              <a:latin typeface="Helvetica Neue"/>
              <a:ea typeface="Helvetica Neue"/>
              <a:cs typeface="Helvetica Neue"/>
              <a:sym typeface="Helvetica Neue"/>
            </a:endParaRPr>
          </a:p>
          <a:p>
            <a:pPr marL="457200" lvl="0" indent="-317500" algn="l" rtl="0">
              <a:lnSpc>
                <a:spcPct val="115000"/>
              </a:lnSpc>
              <a:spcBef>
                <a:spcPts val="120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Designed a modular architecture for extensibility with custom tools</a:t>
            </a:r>
            <a:endParaRPr>
              <a:solidFill>
                <a:schemeClr val="dk1"/>
              </a:solidFill>
              <a:latin typeface="Helvetica Neue"/>
              <a:ea typeface="Helvetica Neue"/>
              <a:cs typeface="Helvetica Neue"/>
              <a:sym typeface="Helvetica Neue"/>
            </a:endParaRPr>
          </a:p>
          <a:p>
            <a:pPr marL="457200" lvl="0" indent="-317500" algn="l" rtl="0">
              <a:lnSpc>
                <a:spcPct val="115000"/>
              </a:lnSpc>
              <a:spcBef>
                <a:spcPts val="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Applied NLP-driven workflows for task automation</a:t>
            </a:r>
            <a:endParaRPr>
              <a:solidFill>
                <a:schemeClr val="dk1"/>
              </a:solidFill>
              <a:latin typeface="Helvetica Neue"/>
              <a:ea typeface="Helvetica Neue"/>
              <a:cs typeface="Helvetica Neue"/>
              <a:sym typeface="Helvetica Neue"/>
            </a:endParaRPr>
          </a:p>
          <a:p>
            <a:pPr marL="457200" lvl="0" indent="-317500" algn="l" rtl="0">
              <a:lnSpc>
                <a:spcPct val="115000"/>
              </a:lnSpc>
              <a:spcBef>
                <a:spcPts val="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Focused on secure API management using GCP</a:t>
            </a:r>
            <a:endParaRPr>
              <a:solidFill>
                <a:schemeClr val="dk1"/>
              </a:solidFill>
              <a:latin typeface="Helvetica Neue"/>
              <a:ea typeface="Helvetica Neue"/>
              <a:cs typeface="Helvetica Neue"/>
              <a:sym typeface="Helvetica Neue"/>
            </a:endParaRPr>
          </a:p>
          <a:p>
            <a:pPr marL="0" lvl="0" indent="0" algn="l" rtl="0">
              <a:lnSpc>
                <a:spcPct val="115000"/>
              </a:lnSpc>
              <a:spcBef>
                <a:spcPts val="1400"/>
              </a:spcBef>
              <a:spcAft>
                <a:spcPts val="0"/>
              </a:spcAft>
              <a:buClr>
                <a:schemeClr val="dk1"/>
              </a:buClr>
              <a:buSzPts val="1100"/>
              <a:buFont typeface="Arial"/>
              <a:buNone/>
            </a:pPr>
            <a:r>
              <a:rPr lang="en-GB" sz="1100" b="1">
                <a:solidFill>
                  <a:schemeClr val="dk1"/>
                </a:solidFill>
                <a:latin typeface="Helvetica Neue"/>
                <a:ea typeface="Helvetica Neue"/>
                <a:cs typeface="Helvetica Neue"/>
                <a:sym typeface="Helvetica Neue"/>
              </a:rPr>
              <a:t> </a:t>
            </a:r>
            <a:r>
              <a:rPr lang="en-GB" sz="1600" b="1">
                <a:solidFill>
                  <a:schemeClr val="dk1"/>
                </a:solidFill>
                <a:latin typeface="Helvetica Neue"/>
                <a:ea typeface="Helvetica Neue"/>
                <a:cs typeface="Helvetica Neue"/>
                <a:sym typeface="Helvetica Neue"/>
              </a:rPr>
              <a:t>Outcomes</a:t>
            </a:r>
            <a:endParaRPr sz="1600" b="1">
              <a:solidFill>
                <a:schemeClr val="dk1"/>
              </a:solidFill>
              <a:latin typeface="Helvetica Neue"/>
              <a:ea typeface="Helvetica Neue"/>
              <a:cs typeface="Helvetica Neue"/>
              <a:sym typeface="Helvetica Neue"/>
            </a:endParaRPr>
          </a:p>
          <a:p>
            <a:pPr marL="457200" lvl="0" indent="-317500" algn="l" rtl="0">
              <a:lnSpc>
                <a:spcPct val="115000"/>
              </a:lnSpc>
              <a:spcBef>
                <a:spcPts val="1200"/>
              </a:spcBef>
              <a:spcAft>
                <a:spcPts val="0"/>
              </a:spcAft>
              <a:buClr>
                <a:schemeClr val="dk1"/>
              </a:buClr>
              <a:buSzPts val="1400"/>
              <a:buChar char="●"/>
            </a:pPr>
            <a:r>
              <a:rPr lang="en-GB">
                <a:solidFill>
                  <a:schemeClr val="dk1"/>
                </a:solidFill>
                <a:latin typeface="Helvetica Neue"/>
                <a:ea typeface="Helvetica Neue"/>
                <a:cs typeface="Helvetica Neue"/>
                <a:sym typeface="Helvetica Neue"/>
              </a:rPr>
              <a:t>Open-source contribution: Shared custom tool modules for integration</a:t>
            </a:r>
            <a:endParaRPr>
              <a:solidFill>
                <a:schemeClr val="dk1"/>
              </a:solidFill>
              <a:latin typeface="Helvetica Neue"/>
              <a:ea typeface="Helvetica Neue"/>
              <a:cs typeface="Helvetica Neue"/>
              <a:sym typeface="Helvetica Neue"/>
            </a:endParaRPr>
          </a:p>
          <a:p>
            <a:pPr marL="457200" marR="0" lvl="0" indent="0" algn="just" rtl="0">
              <a:lnSpc>
                <a:spcPct val="150000"/>
              </a:lnSpc>
              <a:spcBef>
                <a:spcPts val="1200"/>
              </a:spcBef>
              <a:spcAft>
                <a:spcPts val="0"/>
              </a:spcAft>
              <a:buNone/>
            </a:pP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a:t>Work Contribution and Attendance</a:t>
            </a:r>
            <a:endParaRPr b="0"/>
          </a:p>
        </p:txBody>
      </p:sp>
      <p:sp>
        <p:nvSpPr>
          <p:cNvPr id="239" name="Google Shape;239;p40"/>
          <p:cNvSpPr txBox="1"/>
          <p:nvPr/>
        </p:nvSpPr>
        <p:spPr>
          <a:xfrm>
            <a:off x="77118" y="603173"/>
            <a:ext cx="8956714" cy="3879314"/>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240" name="Google Shape;240;p40"/>
          <p:cNvGraphicFramePr/>
          <p:nvPr/>
        </p:nvGraphicFramePr>
        <p:xfrm>
          <a:off x="110168" y="661013"/>
          <a:ext cx="8915275" cy="3923950"/>
        </p:xfrm>
        <a:graphic>
          <a:graphicData uri="http://schemas.openxmlformats.org/drawingml/2006/table">
            <a:tbl>
              <a:tblPr firstRow="1" bandRow="1">
                <a:noFill/>
                <a:tableStyleId>{CB2D51D2-2A24-47CE-9EF8-DEFC6009EEA5}</a:tableStyleId>
              </a:tblPr>
              <a:tblGrid>
                <a:gridCol w="801275"/>
                <a:gridCol w="879050"/>
                <a:gridCol w="4265400"/>
                <a:gridCol w="1139000"/>
                <a:gridCol w="786550"/>
                <a:gridCol w="1044000"/>
              </a:tblGrid>
              <a:tr h="380550">
                <a:tc gridSpan="6">
                  <a:txBody>
                    <a:bodyPr/>
                    <a:lstStyle/>
                    <a:p>
                      <a:pPr marL="0" marR="0" lvl="0" indent="0" algn="l" rtl="0">
                        <a:spcBef>
                          <a:spcPts val="0"/>
                        </a:spcBef>
                        <a:spcAft>
                          <a:spcPts val="0"/>
                        </a:spcAft>
                        <a:buNone/>
                      </a:pPr>
                      <a:r>
                        <a:rPr lang="en-GB" sz="1000" b="1" i="0">
                          <a:solidFill>
                            <a:schemeClr val="dk1"/>
                          </a:solidFill>
                          <a:latin typeface="Helvetica Neue"/>
                          <a:ea typeface="Helvetica Neue"/>
                          <a:cs typeface="Helvetica Neue"/>
                          <a:sym typeface="Helvetica Neue"/>
                        </a:rPr>
                        <a:t>GitHub Repository URL:  </a:t>
                      </a:r>
                      <a:r>
                        <a:rPr lang="en-GB" sz="1000" b="1" i="0" u="sng">
                          <a:solidFill>
                            <a:schemeClr val="hlink"/>
                          </a:solidFill>
                          <a:latin typeface="Helvetica Neue"/>
                          <a:ea typeface="Helvetica Neue"/>
                          <a:cs typeface="Helvetica Neue"/>
                          <a:sym typeface="Helvetica Neue"/>
                          <a:hlinkClick r:id="rId3"/>
                        </a:rPr>
                        <a:t>link</a:t>
                      </a:r>
                      <a:endParaRPr sz="1100"/>
                    </a:p>
                  </a:txBody>
                  <a:tcPr marL="91450" marR="91450" marT="34300" marB="34300" anchor="ctr">
                    <a:solidFill>
                      <a:srgbClr val="D5D59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80550">
                <a:tc>
                  <a:txBody>
                    <a:bodyPr/>
                    <a:lstStyle/>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Team Member</a:t>
                      </a:r>
                      <a:endParaRPr sz="1100"/>
                    </a:p>
                  </a:txBody>
                  <a:tcPr marL="91450" marR="91450" marT="34300" marB="34300">
                    <a:solidFill>
                      <a:srgbClr val="D5D59B"/>
                    </a:solidFill>
                  </a:tcPr>
                </a:tc>
                <a:tc>
                  <a:txBody>
                    <a:bodyPr/>
                    <a:lstStyle/>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Roll No.</a:t>
                      </a:r>
                      <a:endParaRPr sz="1100"/>
                    </a:p>
                  </a:txBody>
                  <a:tcPr marL="91450" marR="91450" marT="34300" marB="34300">
                    <a:solidFill>
                      <a:srgbClr val="D5D59B"/>
                    </a:solidFill>
                  </a:tcPr>
                </a:tc>
                <a:tc>
                  <a:txBody>
                    <a:bodyPr/>
                    <a:lstStyle/>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Work Done</a:t>
                      </a:r>
                      <a:endParaRPr sz="1100"/>
                    </a:p>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(provide complete details)</a:t>
                      </a:r>
                      <a:endParaRPr sz="1100"/>
                    </a:p>
                  </a:txBody>
                  <a:tcPr marL="91450" marR="91450" marT="34300" marB="34300">
                    <a:solidFill>
                      <a:srgbClr val="D5D59B"/>
                    </a:solidFill>
                  </a:tcPr>
                </a:tc>
                <a:tc>
                  <a:txBody>
                    <a:bodyPr/>
                    <a:lstStyle/>
                    <a:p>
                      <a:pPr marL="0" marR="0" lvl="0" indent="0" algn="ctr" rtl="0">
                        <a:lnSpc>
                          <a:spcPct val="100000"/>
                        </a:lnSpc>
                        <a:spcBef>
                          <a:spcPts val="0"/>
                        </a:spcBef>
                        <a:spcAft>
                          <a:spcPts val="0"/>
                        </a:spcAft>
                        <a:buClr>
                          <a:schemeClr val="dk1"/>
                        </a:buClr>
                        <a:buSzPts val="1000"/>
                        <a:buFont typeface="Helvetica Neue"/>
                        <a:buNone/>
                      </a:pPr>
                      <a:r>
                        <a:rPr lang="en-GB" sz="1000" b="0" i="0">
                          <a:solidFill>
                            <a:schemeClr val="dk1"/>
                          </a:solidFill>
                          <a:latin typeface="Helvetica Neue"/>
                          <a:ea typeface="Helvetica Neue"/>
                          <a:cs typeface="Helvetica Neue"/>
                          <a:sym typeface="Helvetica Neue"/>
                        </a:rPr>
                        <a:t>Work Contribution (%)</a:t>
                      </a:r>
                      <a:endParaRPr sz="1100"/>
                    </a:p>
                  </a:txBody>
                  <a:tcPr marL="91450" marR="91450" marT="34300" marB="34300">
                    <a:solidFill>
                      <a:srgbClr val="D5D59B"/>
                    </a:solidFill>
                  </a:tcPr>
                </a:tc>
                <a:tc>
                  <a:txBody>
                    <a:bodyPr/>
                    <a:lstStyle/>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Lines of Code</a:t>
                      </a:r>
                      <a:endParaRPr sz="1100"/>
                    </a:p>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(if any)</a:t>
                      </a:r>
                      <a:endParaRPr sz="1100"/>
                    </a:p>
                  </a:txBody>
                  <a:tcPr marL="91450" marR="91450" marT="34300" marB="34300">
                    <a:solidFill>
                      <a:srgbClr val="D5D59B"/>
                    </a:solidFill>
                  </a:tcPr>
                </a:tc>
                <a:tc>
                  <a:txBody>
                    <a:bodyPr/>
                    <a:lstStyle/>
                    <a:p>
                      <a:pPr marL="0" marR="0" lvl="0" indent="0" algn="ctr" rtl="0">
                        <a:spcBef>
                          <a:spcPts val="0"/>
                        </a:spcBef>
                        <a:spcAft>
                          <a:spcPts val="0"/>
                        </a:spcAft>
                        <a:buNone/>
                      </a:pPr>
                      <a:r>
                        <a:rPr lang="en-GB" sz="1000" b="0" i="0">
                          <a:solidFill>
                            <a:schemeClr val="dk1"/>
                          </a:solidFill>
                          <a:latin typeface="Helvetica Neue"/>
                          <a:ea typeface="Helvetica Neue"/>
                          <a:cs typeface="Helvetica Neue"/>
                          <a:sym typeface="Helvetica Neue"/>
                        </a:rPr>
                        <a:t>Lab Attendance (%)</a:t>
                      </a:r>
                      <a:endParaRPr sz="1100"/>
                    </a:p>
                  </a:txBody>
                  <a:tcPr marL="91450" marR="91450" marT="34300" marB="34300">
                    <a:solidFill>
                      <a:srgbClr val="D5D59B"/>
                    </a:solidFill>
                  </a:tcPr>
                </a:tc>
              </a:tr>
              <a:tr h="621000">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1.</a:t>
                      </a:r>
                      <a:endParaRPr sz="1100"/>
                    </a:p>
                  </a:txBody>
                  <a:tcPr marL="91450" marR="91450" marT="34300" marB="34300">
                    <a:solidFill>
                      <a:srgbClr val="F4F9ED"/>
                    </a:solidFill>
                  </a:tcPr>
                </a:tc>
                <a:tc>
                  <a:txBody>
                    <a:bodyPr/>
                    <a:lstStyle/>
                    <a:p>
                      <a:pPr marL="0" marR="0" lvl="0" indent="0" algn="ctr" rtl="0">
                        <a:spcBef>
                          <a:spcPts val="0"/>
                        </a:spcBef>
                        <a:spcAft>
                          <a:spcPts val="0"/>
                        </a:spcAft>
                        <a:buNone/>
                      </a:pPr>
                      <a:r>
                        <a:rPr lang="en-GB" sz="1000">
                          <a:latin typeface="Helvetica Neue"/>
                          <a:ea typeface="Helvetica Neue"/>
                          <a:cs typeface="Helvetica Neue"/>
                          <a:sym typeface="Helvetica Neue"/>
                        </a:rPr>
                        <a:t>221030146</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marR="0" lvl="0" indent="-292100" algn="l" rtl="0">
                        <a:spcBef>
                          <a:spcPts val="0"/>
                        </a:spcBef>
                        <a:spcAft>
                          <a:spcPts val="0"/>
                        </a:spcAft>
                        <a:buSzPts val="1000"/>
                        <a:buFont typeface="Helvetica Neue"/>
                        <a:buChar char="•"/>
                      </a:pPr>
                      <a:r>
                        <a:rPr lang="en-GB" sz="1000">
                          <a:latin typeface="Helvetica Neue"/>
                          <a:ea typeface="Helvetica Neue"/>
                          <a:cs typeface="Helvetica Neue"/>
                          <a:sym typeface="Helvetica Neue"/>
                        </a:rPr>
                        <a:t>Literature Review</a:t>
                      </a:r>
                      <a:endParaRPr sz="1000">
                        <a:latin typeface="Helvetica Neue"/>
                        <a:ea typeface="Helvetica Neue"/>
                        <a:cs typeface="Helvetica Neue"/>
                        <a:sym typeface="Helvetica Neue"/>
                      </a:endParaRPr>
                    </a:p>
                    <a:p>
                      <a:pPr marL="457200" marR="0" lvl="0" indent="-292100" algn="l" rtl="0">
                        <a:spcBef>
                          <a:spcPts val="0"/>
                        </a:spcBef>
                        <a:spcAft>
                          <a:spcPts val="0"/>
                        </a:spcAft>
                        <a:buSzPts val="1000"/>
                        <a:buFont typeface="Helvetica Neue"/>
                        <a:buChar char="•"/>
                      </a:pPr>
                      <a:r>
                        <a:rPr lang="en-GB" sz="1000">
                          <a:latin typeface="Helvetica Neue"/>
                          <a:ea typeface="Helvetica Neue"/>
                          <a:cs typeface="Helvetica Neue"/>
                          <a:sym typeface="Helvetica Neue"/>
                        </a:rPr>
                        <a:t>Created Student and Developer agent</a:t>
                      </a:r>
                      <a:endParaRPr sz="1000">
                        <a:latin typeface="Helvetica Neue"/>
                        <a:ea typeface="Helvetica Neue"/>
                        <a:cs typeface="Helvetica Neue"/>
                        <a:sym typeface="Helvetica Neue"/>
                      </a:endParaRPr>
                    </a:p>
                    <a:p>
                      <a:pPr marL="457200" marR="0" lvl="0" indent="-292100" algn="l" rtl="0">
                        <a:spcBef>
                          <a:spcPts val="0"/>
                        </a:spcBef>
                        <a:spcAft>
                          <a:spcPts val="0"/>
                        </a:spcAft>
                        <a:buSzPts val="1000"/>
                        <a:buFont typeface="Helvetica Neue"/>
                        <a:buChar char="•"/>
                      </a:pPr>
                      <a:r>
                        <a:rPr lang="en-GB" sz="1000">
                          <a:latin typeface="Helvetica Neue"/>
                          <a:ea typeface="Helvetica Neue"/>
                          <a:cs typeface="Helvetica Neue"/>
                          <a:sym typeface="Helvetica Neue"/>
                        </a:rPr>
                        <a:t>Worked on research paper, report and ppt</a:t>
                      </a:r>
                      <a:endParaRPr sz="1000" b="0" i="0">
                        <a:latin typeface="Helvetica Neue"/>
                        <a:ea typeface="Helvetica Neue"/>
                        <a:cs typeface="Helvetica Neue"/>
                        <a:sym typeface="Helvetica Neue"/>
                      </a:endParaRPr>
                    </a:p>
                    <a:p>
                      <a:pPr marL="127000" marR="0" lvl="0" indent="-63500" algn="l" rtl="0">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25</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421</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91</a:t>
                      </a:r>
                      <a:endParaRPr sz="1000" b="0" i="0">
                        <a:latin typeface="Helvetica Neue"/>
                        <a:ea typeface="Helvetica Neue"/>
                        <a:cs typeface="Helvetica Neue"/>
                        <a:sym typeface="Helvetica Neue"/>
                      </a:endParaRPr>
                    </a:p>
                  </a:txBody>
                  <a:tcPr marL="91450" marR="91450" marT="34300" marB="34300">
                    <a:solidFill>
                      <a:srgbClr val="F4F9ED"/>
                    </a:solidFill>
                  </a:tcPr>
                </a:tc>
              </a:tr>
              <a:tr h="621000">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2.</a:t>
                      </a:r>
                      <a:endParaRPr sz="1100"/>
                    </a:p>
                  </a:txBody>
                  <a:tcPr marL="91450" marR="91450" marT="34300" marB="34300">
                    <a:solidFill>
                      <a:srgbClr val="F0F0DD"/>
                    </a:solidFill>
                  </a:tcPr>
                </a:tc>
                <a:tc>
                  <a:txBody>
                    <a:bodyPr/>
                    <a:lstStyle/>
                    <a:p>
                      <a:pPr marL="0" marR="0" lvl="0" indent="0" algn="ctr" rtl="0">
                        <a:spcBef>
                          <a:spcPts val="0"/>
                        </a:spcBef>
                        <a:spcAft>
                          <a:spcPts val="0"/>
                        </a:spcAft>
                        <a:buNone/>
                      </a:pPr>
                      <a:r>
                        <a:rPr lang="en-GB" sz="1000">
                          <a:latin typeface="Helvetica Neue"/>
                          <a:ea typeface="Helvetica Neue"/>
                          <a:cs typeface="Helvetica Neue"/>
                          <a:sym typeface="Helvetica Neue"/>
                        </a:rPr>
                        <a:t>221030003</a:t>
                      </a:r>
                      <a:endParaRPr sz="1000" b="0" i="0">
                        <a:latin typeface="Helvetica Neue"/>
                        <a:ea typeface="Helvetica Neue"/>
                        <a:cs typeface="Helvetica Neue"/>
                        <a:sym typeface="Helvetica Neue"/>
                      </a:endParaRPr>
                    </a:p>
                  </a:txBody>
                  <a:tcPr marL="91450" marR="91450" marT="34300" marB="34300">
                    <a:solidFill>
                      <a:srgbClr val="F0F0DD"/>
                    </a:solidFill>
                  </a:tcPr>
                </a:tc>
                <a:tc>
                  <a:txBody>
                    <a:bodyPr/>
                    <a:lstStyle/>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Literature Review</a:t>
                      </a:r>
                      <a:endParaRPr sz="1000">
                        <a:latin typeface="Helvetica Neue"/>
                        <a:ea typeface="Helvetica Neue"/>
                        <a:cs typeface="Helvetica Neue"/>
                        <a:sym typeface="Helvetica Neue"/>
                      </a:endParaRPr>
                    </a:p>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Worked on research paper, report and ppt</a:t>
                      </a:r>
                      <a:endParaRPr sz="1000">
                        <a:latin typeface="Helvetica Neue"/>
                        <a:ea typeface="Helvetica Neue"/>
                        <a:cs typeface="Helvetica Neue"/>
                        <a:sym typeface="Helvetica Neue"/>
                      </a:endParaRPr>
                    </a:p>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Designed overall project methodology and structured workflow</a:t>
                      </a:r>
                      <a:endParaRPr sz="1000">
                        <a:latin typeface="Helvetica Neue"/>
                        <a:ea typeface="Helvetica Neue"/>
                        <a:cs typeface="Helvetica Neue"/>
                        <a:sym typeface="Helvetica Neue"/>
                      </a:endParaRPr>
                    </a:p>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Worked on Student agent</a:t>
                      </a:r>
                      <a:endParaRPr sz="1000">
                        <a:latin typeface="Helvetica Neue"/>
                        <a:ea typeface="Helvetica Neue"/>
                        <a:cs typeface="Helvetica Neue"/>
                        <a:sym typeface="Helvetica Neue"/>
                      </a:endParaRPr>
                    </a:p>
                    <a:p>
                      <a:pPr marL="127000" marR="0" lvl="0" indent="-63500" algn="l" rtl="0">
                        <a:lnSpc>
                          <a:spcPct val="100000"/>
                        </a:lnSpc>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25</a:t>
                      </a:r>
                      <a:endParaRPr sz="1000" b="0" i="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31</a:t>
                      </a:r>
                      <a:endParaRPr sz="1000" b="0" i="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90</a:t>
                      </a:r>
                      <a:endParaRPr sz="1000" b="0" i="0">
                        <a:latin typeface="Helvetica Neue"/>
                        <a:ea typeface="Helvetica Neue"/>
                        <a:cs typeface="Helvetica Neue"/>
                        <a:sym typeface="Helvetica Neue"/>
                      </a:endParaRPr>
                    </a:p>
                  </a:txBody>
                  <a:tcPr marL="91450" marR="91450" marT="34300" marB="34300">
                    <a:solidFill>
                      <a:srgbClr val="F0F0DD"/>
                    </a:solidFill>
                  </a:tcPr>
                </a:tc>
              </a:tr>
              <a:tr h="621000">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3.</a:t>
                      </a:r>
                      <a:endParaRPr sz="1100"/>
                    </a:p>
                  </a:txBody>
                  <a:tcPr marL="91450" marR="91450" marT="34300" marB="34300">
                    <a:solidFill>
                      <a:srgbClr val="F4F9ED"/>
                    </a:solidFill>
                  </a:tcPr>
                </a:tc>
                <a:tc>
                  <a:txBody>
                    <a:bodyPr/>
                    <a:lstStyle/>
                    <a:p>
                      <a:pPr marL="0" marR="0" lvl="0" indent="0" algn="ctr" rtl="0">
                        <a:spcBef>
                          <a:spcPts val="0"/>
                        </a:spcBef>
                        <a:spcAft>
                          <a:spcPts val="0"/>
                        </a:spcAft>
                        <a:buNone/>
                      </a:pPr>
                      <a:r>
                        <a:rPr lang="en-GB" sz="1000">
                          <a:latin typeface="Helvetica Neue"/>
                          <a:ea typeface="Helvetica Neue"/>
                          <a:cs typeface="Helvetica Neue"/>
                          <a:sym typeface="Helvetica Neue"/>
                        </a:rPr>
                        <a:t>221030117</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Literature Review</a:t>
                      </a:r>
                      <a:endParaRPr sz="1000">
                        <a:latin typeface="Helvetica Neue"/>
                        <a:ea typeface="Helvetica Neue"/>
                        <a:cs typeface="Helvetica Neue"/>
                        <a:sym typeface="Helvetica Neue"/>
                      </a:endParaRPr>
                    </a:p>
                    <a:p>
                      <a:pPr marL="457200" lvl="0" indent="-292100" algn="l" rtl="0">
                        <a:spcBef>
                          <a:spcPts val="0"/>
                        </a:spcBef>
                        <a:spcAft>
                          <a:spcPts val="0"/>
                        </a:spcAft>
                        <a:buSzPts val="1000"/>
                        <a:buFont typeface="Helvetica Neue"/>
                        <a:buChar char="•"/>
                      </a:pPr>
                      <a:r>
                        <a:rPr lang="en-GB" sz="1000">
                          <a:latin typeface="Helvetica Neue"/>
                          <a:ea typeface="Helvetica Neue"/>
                          <a:cs typeface="Helvetica Neue"/>
                          <a:sym typeface="Helvetica Neue"/>
                        </a:rPr>
                        <a:t>Worked on research paper, report and ppt</a:t>
                      </a:r>
                      <a:endParaRPr sz="1000">
                        <a:latin typeface="Helvetica Neue"/>
                        <a:ea typeface="Helvetica Neue"/>
                        <a:cs typeface="Helvetica Neue"/>
                        <a:sym typeface="Helvetica Neue"/>
                      </a:endParaRPr>
                    </a:p>
                    <a:p>
                      <a:pPr marL="457200" lvl="0" indent="-292100" algn="l" rtl="0">
                        <a:spcBef>
                          <a:spcPts val="0"/>
                        </a:spcBef>
                        <a:spcAft>
                          <a:spcPts val="0"/>
                        </a:spcAft>
                        <a:buSzPts val="1000"/>
                        <a:buFont typeface="Helvetica Neue"/>
                        <a:buChar char="•"/>
                      </a:pPr>
                      <a:r>
                        <a:rPr lang="en-GB" sz="1000">
                          <a:latin typeface="Helvetica Neue"/>
                          <a:ea typeface="Helvetica Neue"/>
                          <a:cs typeface="Helvetica Neue"/>
                          <a:sym typeface="Helvetica Neue"/>
                        </a:rPr>
                        <a:t>Helped the team and worked on the project.</a:t>
                      </a:r>
                      <a:endParaRPr sz="1000">
                        <a:latin typeface="Helvetica Neue"/>
                        <a:ea typeface="Helvetica Neue"/>
                        <a:cs typeface="Helvetica Neue"/>
                        <a:sym typeface="Helvetica Neue"/>
                      </a:endParaRPr>
                    </a:p>
                    <a:p>
                      <a:pPr marL="0" marR="0" lvl="0" indent="0" algn="l" rtl="0">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p>
                      <a:pPr marL="127000" marR="0" lvl="0" indent="-63500" algn="l" rtl="0">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25</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95</a:t>
                      </a:r>
                      <a:endParaRPr sz="1000" b="0" i="0">
                        <a:latin typeface="Helvetica Neue"/>
                        <a:ea typeface="Helvetica Neue"/>
                        <a:cs typeface="Helvetica Neue"/>
                        <a:sym typeface="Helvetica Neue"/>
                      </a:endParaRPr>
                    </a:p>
                  </a:txBody>
                  <a:tcPr marL="91450" marR="91450" marT="34300" marB="34300">
                    <a:solidFill>
                      <a:srgbClr val="F4F9ED"/>
                    </a:solidFill>
                  </a:tcPr>
                </a:tc>
              </a:tr>
              <a:tr h="621000">
                <a:tc>
                  <a:txBody>
                    <a:bodyPr/>
                    <a:lstStyle/>
                    <a:p>
                      <a:pPr marL="0" marR="0" lvl="0" indent="0" algn="ctr" rtl="0">
                        <a:spcBef>
                          <a:spcPts val="0"/>
                        </a:spcBef>
                        <a:spcAft>
                          <a:spcPts val="0"/>
                        </a:spcAft>
                        <a:buNone/>
                      </a:pPr>
                      <a:r>
                        <a:rPr lang="en-GB" sz="1000" b="0" i="0">
                          <a:latin typeface="Helvetica Neue"/>
                          <a:ea typeface="Helvetica Neue"/>
                          <a:cs typeface="Helvetica Neue"/>
                          <a:sym typeface="Helvetica Neue"/>
                        </a:rPr>
                        <a:t>4.</a:t>
                      </a:r>
                      <a:endParaRPr sz="1100"/>
                    </a:p>
                  </a:txBody>
                  <a:tcPr marL="91450" marR="91450" marT="34300" marB="34300">
                    <a:solidFill>
                      <a:srgbClr val="F4F9ED"/>
                    </a:solidFill>
                  </a:tcPr>
                </a:tc>
                <a:tc>
                  <a:txBody>
                    <a:bodyPr/>
                    <a:lstStyle/>
                    <a:p>
                      <a:pPr marL="0" marR="0" lvl="0" indent="0" algn="ctr" rtl="0">
                        <a:spcBef>
                          <a:spcPts val="0"/>
                        </a:spcBef>
                        <a:spcAft>
                          <a:spcPts val="0"/>
                        </a:spcAft>
                        <a:buNone/>
                      </a:pPr>
                      <a:r>
                        <a:rPr lang="en-GB" sz="1000">
                          <a:latin typeface="Helvetica Neue"/>
                          <a:ea typeface="Helvetica Neue"/>
                          <a:cs typeface="Helvetica Neue"/>
                          <a:sym typeface="Helvetica Neue"/>
                        </a:rPr>
                        <a:t>221030233</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Literature Review</a:t>
                      </a:r>
                      <a:endParaRPr sz="1000">
                        <a:latin typeface="Helvetica Neue"/>
                        <a:ea typeface="Helvetica Neue"/>
                        <a:cs typeface="Helvetica Neue"/>
                        <a:sym typeface="Helvetica Neue"/>
                      </a:endParaRPr>
                    </a:p>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Helped the team and worked on the project.</a:t>
                      </a:r>
                      <a:endParaRPr sz="1000">
                        <a:latin typeface="Helvetica Neue"/>
                        <a:ea typeface="Helvetica Neue"/>
                        <a:cs typeface="Helvetica Neue"/>
                        <a:sym typeface="Helvetica Neue"/>
                      </a:endParaRPr>
                    </a:p>
                    <a:p>
                      <a:pPr marL="457200" lvl="0" indent="-292100" algn="l" rtl="0">
                        <a:spcBef>
                          <a:spcPts val="0"/>
                        </a:spcBef>
                        <a:spcAft>
                          <a:spcPts val="0"/>
                        </a:spcAft>
                        <a:buClr>
                          <a:schemeClr val="dk1"/>
                        </a:buClr>
                        <a:buSzPts val="1000"/>
                        <a:buFont typeface="Helvetica Neue"/>
                        <a:buChar char="•"/>
                      </a:pPr>
                      <a:r>
                        <a:rPr lang="en-GB" sz="1000">
                          <a:latin typeface="Helvetica Neue"/>
                          <a:ea typeface="Helvetica Neue"/>
                          <a:cs typeface="Helvetica Neue"/>
                          <a:sym typeface="Helvetica Neue"/>
                        </a:rPr>
                        <a:t>Worked on research paper, report and ppt</a:t>
                      </a:r>
                      <a:endParaRPr sz="1000">
                        <a:latin typeface="Helvetica Neue"/>
                        <a:ea typeface="Helvetica Neue"/>
                        <a:cs typeface="Helvetica Neue"/>
                        <a:sym typeface="Helvetica Neue"/>
                      </a:endParaRPr>
                    </a:p>
                    <a:p>
                      <a:pPr marL="0" lvl="0" indent="0" algn="l" rtl="0">
                        <a:spcBef>
                          <a:spcPts val="0"/>
                        </a:spcBef>
                        <a:spcAft>
                          <a:spcPts val="0"/>
                        </a:spcAft>
                        <a:buNone/>
                      </a:pPr>
                      <a:endParaRPr sz="10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25</a:t>
                      </a: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000">
                          <a:latin typeface="Helvetica Neue"/>
                          <a:ea typeface="Helvetica Neue"/>
                          <a:cs typeface="Helvetica Neue"/>
                          <a:sym typeface="Helvetica Neue"/>
                        </a:rPr>
                        <a:t>90</a:t>
                      </a:r>
                      <a:endParaRPr sz="1000" b="0" i="0">
                        <a:latin typeface="Helvetica Neue"/>
                        <a:ea typeface="Helvetica Neue"/>
                        <a:cs typeface="Helvetica Neue"/>
                        <a:sym typeface="Helvetica Neue"/>
                      </a:endParaRPr>
                    </a:p>
                  </a:txBody>
                  <a:tcPr marL="91450" marR="91450" marT="34300" marB="34300">
                    <a:solidFill>
                      <a:srgbClr val="F4F9ED"/>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1"/>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Supervisor </a:t>
            </a:r>
            <a:r>
              <a:rPr lang="en-GB"/>
              <a:t>Interactions </a:t>
            </a:r>
            <a:r>
              <a:rPr lang="en-GB" b="0"/>
              <a:t>(as mentioned in weekly log)</a:t>
            </a:r>
            <a:endParaRPr b="0"/>
          </a:p>
        </p:txBody>
      </p:sp>
      <p:sp>
        <p:nvSpPr>
          <p:cNvPr id="246" name="Google Shape;246;p41"/>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247" name="Google Shape;247;p41"/>
          <p:cNvGraphicFramePr/>
          <p:nvPr/>
        </p:nvGraphicFramePr>
        <p:xfrm>
          <a:off x="110168" y="661013"/>
          <a:ext cx="8835525" cy="4099190"/>
        </p:xfrm>
        <a:graphic>
          <a:graphicData uri="http://schemas.openxmlformats.org/drawingml/2006/table">
            <a:tbl>
              <a:tblPr firstRow="1" bandRow="1">
                <a:noFill/>
                <a:tableStyleId>{CB2D51D2-2A24-47CE-9EF8-DEFC6009EEA5}</a:tableStyleId>
              </a:tblPr>
              <a:tblGrid>
                <a:gridCol w="651825"/>
                <a:gridCol w="1364250"/>
                <a:gridCol w="5596575"/>
                <a:gridCol w="1222875"/>
              </a:tblGrid>
              <a:tr h="319550">
                <a:tc gridSpan="4">
                  <a:txBody>
                    <a:bodyPr/>
                    <a:lstStyle/>
                    <a:p>
                      <a:pPr marL="0" marR="0" lvl="0" indent="0" algn="ctr" rtl="0">
                        <a:spcBef>
                          <a:spcPts val="0"/>
                        </a:spcBef>
                        <a:spcAft>
                          <a:spcPts val="0"/>
                        </a:spcAft>
                        <a:buNone/>
                      </a:pPr>
                      <a:r>
                        <a:rPr lang="en-GB" sz="1300" i="0">
                          <a:solidFill>
                            <a:schemeClr val="dk1"/>
                          </a:solidFill>
                          <a:latin typeface="Helvetica Neue"/>
                          <a:ea typeface="Helvetica Neue"/>
                          <a:cs typeface="Helvetica Neue"/>
                          <a:sym typeface="Helvetica Neue"/>
                        </a:rPr>
                        <a:t>No. of Meetings with Supervisor: 9</a:t>
                      </a:r>
                      <a:endParaRPr sz="1300">
                        <a:latin typeface="Helvetica Neue"/>
                        <a:ea typeface="Helvetica Neue"/>
                        <a:cs typeface="Helvetica Neue"/>
                        <a:sym typeface="Helvetica Neue"/>
                      </a:endParaRPr>
                    </a:p>
                  </a:txBody>
                  <a:tcPr marL="91450" marR="91450" marT="34300" marB="34300" anchor="ctr">
                    <a:solidFill>
                      <a:srgbClr val="D5D59B"/>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380550">
                <a:tc>
                  <a:txBody>
                    <a:bodyPr/>
                    <a:lstStyle/>
                    <a:p>
                      <a:pPr marL="0" marR="0" lvl="0" indent="0" algn="ctr" rtl="0">
                        <a:spcBef>
                          <a:spcPts val="0"/>
                        </a:spcBef>
                        <a:spcAft>
                          <a:spcPts val="0"/>
                        </a:spcAft>
                        <a:buNone/>
                      </a:pPr>
                      <a:r>
                        <a:rPr lang="en-GB" sz="1300" i="0">
                          <a:solidFill>
                            <a:schemeClr val="dk1"/>
                          </a:solidFill>
                          <a:latin typeface="Helvetica Neue"/>
                          <a:ea typeface="Helvetica Neue"/>
                          <a:cs typeface="Helvetica Neue"/>
                          <a:sym typeface="Helvetica Neue"/>
                        </a:rPr>
                        <a:t>Week No.</a:t>
                      </a:r>
                      <a:endParaRPr sz="1300">
                        <a:latin typeface="Helvetica Neue"/>
                        <a:ea typeface="Helvetica Neue"/>
                        <a:cs typeface="Helvetica Neue"/>
                        <a:sym typeface="Helvetica Neue"/>
                      </a:endParaRPr>
                    </a:p>
                  </a:txBody>
                  <a:tcPr marL="91450" marR="91450" marT="34300" marB="34300">
                    <a:solidFill>
                      <a:srgbClr val="D5D59B"/>
                    </a:solidFill>
                  </a:tcPr>
                </a:tc>
                <a:tc>
                  <a:txBody>
                    <a:bodyPr/>
                    <a:lstStyle/>
                    <a:p>
                      <a:pPr marL="0" marR="0" lvl="0" indent="0" algn="ctr" rtl="0">
                        <a:spcBef>
                          <a:spcPts val="0"/>
                        </a:spcBef>
                        <a:spcAft>
                          <a:spcPts val="0"/>
                        </a:spcAft>
                        <a:buNone/>
                      </a:pPr>
                      <a:r>
                        <a:rPr lang="en-GB" sz="1300" i="0">
                          <a:solidFill>
                            <a:schemeClr val="dk1"/>
                          </a:solidFill>
                          <a:latin typeface="Helvetica Neue"/>
                          <a:ea typeface="Helvetica Neue"/>
                          <a:cs typeface="Helvetica Neue"/>
                          <a:sym typeface="Helvetica Neue"/>
                        </a:rPr>
                        <a:t>Duration</a:t>
                      </a:r>
                      <a:endParaRPr sz="1300">
                        <a:latin typeface="Helvetica Neue"/>
                        <a:ea typeface="Helvetica Neue"/>
                        <a:cs typeface="Helvetica Neue"/>
                        <a:sym typeface="Helvetica Neue"/>
                      </a:endParaRPr>
                    </a:p>
                  </a:txBody>
                  <a:tcPr marL="91450" marR="91450" marT="34300" marB="34300">
                    <a:solidFill>
                      <a:srgbClr val="D5D59B"/>
                    </a:solidFill>
                  </a:tcPr>
                </a:tc>
                <a:tc>
                  <a:txBody>
                    <a:bodyPr/>
                    <a:lstStyle/>
                    <a:p>
                      <a:pPr marL="0" marR="0" lvl="0" indent="0" algn="ctr" rtl="0">
                        <a:spcBef>
                          <a:spcPts val="0"/>
                        </a:spcBef>
                        <a:spcAft>
                          <a:spcPts val="0"/>
                        </a:spcAft>
                        <a:buNone/>
                      </a:pPr>
                      <a:r>
                        <a:rPr lang="en-GB" sz="1300" i="0">
                          <a:solidFill>
                            <a:schemeClr val="dk1"/>
                          </a:solidFill>
                          <a:latin typeface="Helvetica Neue"/>
                          <a:ea typeface="Helvetica Neue"/>
                          <a:cs typeface="Helvetica Neue"/>
                          <a:sym typeface="Helvetica Neue"/>
                        </a:rPr>
                        <a:t>Remarks (</a:t>
                      </a:r>
                      <a:r>
                        <a:rPr lang="en-GB" sz="1300" b="1" i="0">
                          <a:solidFill>
                            <a:schemeClr val="dk1"/>
                          </a:solidFill>
                          <a:latin typeface="Helvetica Neue"/>
                          <a:ea typeface="Helvetica Neue"/>
                          <a:cs typeface="Helvetica Neue"/>
                          <a:sym typeface="Helvetica Neue"/>
                        </a:rPr>
                        <a:t>as mentioned in the weekly log</a:t>
                      </a:r>
                      <a:r>
                        <a:rPr lang="en-GB" sz="1300" i="0">
                          <a:solidFill>
                            <a:schemeClr val="dk1"/>
                          </a:solidFill>
                          <a:latin typeface="Helvetica Neue"/>
                          <a:ea typeface="Helvetica Neue"/>
                          <a:cs typeface="Helvetica Neue"/>
                          <a:sym typeface="Helvetica Neue"/>
                        </a:rPr>
                        <a:t>)</a:t>
                      </a:r>
                      <a:endParaRPr sz="1300">
                        <a:latin typeface="Helvetica Neue"/>
                        <a:ea typeface="Helvetica Neue"/>
                        <a:cs typeface="Helvetica Neue"/>
                        <a:sym typeface="Helvetica Neue"/>
                      </a:endParaRPr>
                    </a:p>
                  </a:txBody>
                  <a:tcPr marL="91450" marR="91450" marT="34300" marB="34300">
                    <a:solidFill>
                      <a:srgbClr val="D5D59B"/>
                    </a:solidFill>
                  </a:tcPr>
                </a:tc>
                <a:tc>
                  <a:txBody>
                    <a:bodyPr/>
                    <a:lstStyle/>
                    <a:p>
                      <a:pPr marL="0" marR="0" lvl="0" indent="0" algn="ctr" rtl="0">
                        <a:spcBef>
                          <a:spcPts val="0"/>
                        </a:spcBef>
                        <a:spcAft>
                          <a:spcPts val="0"/>
                        </a:spcAft>
                        <a:buNone/>
                      </a:pPr>
                      <a:r>
                        <a:rPr lang="en-GB" sz="1300" i="0">
                          <a:solidFill>
                            <a:schemeClr val="dk1"/>
                          </a:solidFill>
                          <a:latin typeface="Helvetica Neue"/>
                          <a:ea typeface="Helvetica Neue"/>
                          <a:cs typeface="Helvetica Neue"/>
                          <a:sym typeface="Helvetica Neue"/>
                        </a:rPr>
                        <a:t>Incorporated</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i="0">
                          <a:solidFill>
                            <a:schemeClr val="dk1"/>
                          </a:solidFill>
                          <a:latin typeface="Helvetica Neue"/>
                          <a:ea typeface="Helvetica Neue"/>
                          <a:cs typeface="Helvetica Neue"/>
                          <a:sym typeface="Helvetica Neue"/>
                        </a:rPr>
                        <a:t>(Yes/No)</a:t>
                      </a:r>
                      <a:endParaRPr sz="1300">
                        <a:latin typeface="Helvetica Neue"/>
                        <a:ea typeface="Helvetica Neue"/>
                        <a:cs typeface="Helvetica Neue"/>
                        <a:sym typeface="Helvetica Neue"/>
                      </a:endParaRPr>
                    </a:p>
                  </a:txBody>
                  <a:tcPr marL="91450" marR="91450" marT="34300" marB="34300">
                    <a:solidFill>
                      <a:srgbClr val="D5D59B"/>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1.</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21/08/2025 </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SzPts val="1300"/>
                        <a:buFont typeface="Helvetica Neue"/>
                        <a:buNone/>
                      </a:pPr>
                      <a:r>
                        <a:rPr lang="en-GB" sz="1300">
                          <a:latin typeface="Helvetica Neue"/>
                          <a:ea typeface="Helvetica Neue"/>
                          <a:cs typeface="Helvetica Neue"/>
                          <a:sym typeface="Helvetica Neue"/>
                        </a:rPr>
                        <a:t>28/08/2025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127000" marR="0" lvl="0" indent="-146050" algn="l" rtl="0">
                        <a:lnSpc>
                          <a:spcPct val="100000"/>
                        </a:lnSpc>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N/A</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i="0">
                        <a:latin typeface="Helvetica Neue"/>
                        <a:ea typeface="Helvetica Neue"/>
                        <a:cs typeface="Helvetica Neue"/>
                        <a:sym typeface="Helvetica Neue"/>
                      </a:endParaRPr>
                    </a:p>
                  </a:txBody>
                  <a:tcPr marL="91450" marR="91450" marT="34300" marB="34300">
                    <a:solidFill>
                      <a:srgbClr val="F4F9E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2.</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15/09/2025 </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SzPts val="1300"/>
                        <a:buFont typeface="Helvetica Neue"/>
                        <a:buNone/>
                      </a:pPr>
                      <a:r>
                        <a:rPr lang="en-GB" sz="1300">
                          <a:latin typeface="Helvetica Neue"/>
                          <a:ea typeface="Helvetica Neue"/>
                          <a:cs typeface="Helvetica Neue"/>
                          <a:sym typeface="Helvetica Neue"/>
                        </a:rPr>
                        <a:t>20/09/2025</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Make methodology and workflow diagram</a:t>
                      </a:r>
                      <a:endParaRPr sz="1300">
                        <a:latin typeface="Helvetica Neue"/>
                        <a:ea typeface="Helvetica Neue"/>
                        <a:cs typeface="Helvetica Neue"/>
                        <a:sym typeface="Helvetica Neue"/>
                      </a:endParaRPr>
                    </a:p>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Start draft report</a:t>
                      </a:r>
                      <a:endParaRPr sz="1300">
                        <a:latin typeface="Helvetica Neue"/>
                        <a:ea typeface="Helvetica Neue"/>
                        <a:cs typeface="Helvetica Neue"/>
                        <a:sym typeface="Helvetica Neue"/>
                      </a:endParaRPr>
                    </a:p>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Complete literature review</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i="0">
                        <a:latin typeface="Helvetica Neue"/>
                        <a:ea typeface="Helvetica Neue"/>
                        <a:cs typeface="Helvetica Neue"/>
                        <a:sym typeface="Helvetica Neue"/>
                      </a:endParaRPr>
                    </a:p>
                  </a:txBody>
                  <a:tcPr marL="91450" marR="91450" marT="34300" marB="34300">
                    <a:solidFill>
                      <a:srgbClr val="F0F0D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3.</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22/09/2025 </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SzPts val="1300"/>
                        <a:buFont typeface="Helvetica Neue"/>
                        <a:buNone/>
                      </a:pPr>
                      <a:r>
                        <a:rPr lang="en-GB" sz="1300">
                          <a:latin typeface="Helvetica Neue"/>
                          <a:ea typeface="Helvetica Neue"/>
                          <a:cs typeface="Helvetica Neue"/>
                          <a:sym typeface="Helvetica Neue"/>
                        </a:rPr>
                        <a:t>27/09/2025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Update methodology and workflow diagram</a:t>
                      </a:r>
                      <a:endParaRPr sz="1300">
                        <a:latin typeface="Helvetica Neue"/>
                        <a:ea typeface="Helvetica Neue"/>
                        <a:cs typeface="Helvetica Neue"/>
                        <a:sym typeface="Helvetica Neue"/>
                      </a:endParaRPr>
                    </a:p>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Make changes to ppt as discussed</a:t>
                      </a:r>
                      <a:endParaRPr sz="1300">
                        <a:latin typeface="Helvetica Neue"/>
                        <a:ea typeface="Helvetica Neue"/>
                        <a:cs typeface="Helvetica Neue"/>
                        <a:sym typeface="Helvetica Neue"/>
                      </a:endParaRPr>
                    </a:p>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Make changes to report as discussed</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i="0">
                        <a:latin typeface="Helvetica Neue"/>
                        <a:ea typeface="Helvetica Neue"/>
                        <a:cs typeface="Helvetica Neue"/>
                        <a:sym typeface="Helvetica Neue"/>
                      </a:endParaRPr>
                    </a:p>
                  </a:txBody>
                  <a:tcPr marL="91450" marR="91450" marT="34300" marB="34300">
                    <a:solidFill>
                      <a:srgbClr val="F4F9E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4.</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29/9/2025 </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SzPts val="1300"/>
                        <a:buFont typeface="Helvetica Neue"/>
                        <a:buNone/>
                      </a:pPr>
                      <a:r>
                        <a:rPr lang="en-GB" sz="1300">
                          <a:latin typeface="Helvetica Neue"/>
                          <a:ea typeface="Helvetica Neue"/>
                          <a:cs typeface="Helvetica Neue"/>
                          <a:sym typeface="Helvetica Neue"/>
                        </a:rPr>
                        <a:t>04/10/2025</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Validate design with other models</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i="0">
                        <a:latin typeface="Helvetica Neue"/>
                        <a:ea typeface="Helvetica Neue"/>
                        <a:cs typeface="Helvetica Neue"/>
                        <a:sym typeface="Helvetica Neue"/>
                      </a:endParaRPr>
                    </a:p>
                  </a:txBody>
                  <a:tcPr marL="91450" marR="91450" marT="34300" marB="34300">
                    <a:solidFill>
                      <a:srgbClr val="F0F0DD"/>
                    </a:solidFill>
                  </a:tcPr>
                </a:tc>
              </a:tr>
              <a:tr h="5847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27/10/2025 </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Font typeface="Arial"/>
                        <a:buNone/>
                      </a:pPr>
                      <a:r>
                        <a:rPr lang="en-GB" sz="130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lvl="0" indent="0" algn="ctr" rtl="0">
                        <a:spcBef>
                          <a:spcPts val="0"/>
                        </a:spcBef>
                        <a:spcAft>
                          <a:spcPts val="0"/>
                        </a:spcAft>
                        <a:buClr>
                          <a:schemeClr val="dk1"/>
                        </a:buClr>
                        <a:buSzPts val="1300"/>
                        <a:buFont typeface="Helvetica Neue"/>
                        <a:buNone/>
                      </a:pPr>
                      <a:r>
                        <a:rPr lang="en-GB" sz="1300">
                          <a:latin typeface="Helvetica Neue"/>
                          <a:ea typeface="Helvetica Neue"/>
                          <a:cs typeface="Helvetica Neue"/>
                          <a:sym typeface="Helvetica Neue"/>
                        </a:rPr>
                        <a:t>01/11/2025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marR="0" lvl="0" indent="0" algn="l" rtl="0">
                        <a:lnSpc>
                          <a:spcPct val="100000"/>
                        </a:lnSpc>
                        <a:spcBef>
                          <a:spcPts val="0"/>
                        </a:spcBef>
                        <a:spcAft>
                          <a:spcPts val="0"/>
                        </a:spcAft>
                        <a:buNone/>
                      </a:pP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i="0">
                        <a:latin typeface="Helvetica Neue"/>
                        <a:ea typeface="Helvetica Neue"/>
                        <a:cs typeface="Helvetica Neue"/>
                        <a:sym typeface="Helvetica Neue"/>
                      </a:endParaRPr>
                    </a:p>
                  </a:txBody>
                  <a:tcPr marL="91450" marR="91450" marT="34300" marB="34300">
                    <a:solidFill>
                      <a:srgbClr val="F4F9ED"/>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2"/>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Supervisor </a:t>
            </a:r>
            <a:r>
              <a:rPr lang="en-GB"/>
              <a:t>Interactions</a:t>
            </a:r>
            <a:r>
              <a:rPr lang="en-GB" sz="2400"/>
              <a:t> </a:t>
            </a:r>
            <a:r>
              <a:rPr lang="en-GB" sz="2400" b="0"/>
              <a:t>(cont…)</a:t>
            </a:r>
            <a:endParaRPr b="0"/>
          </a:p>
        </p:txBody>
      </p:sp>
      <p:sp>
        <p:nvSpPr>
          <p:cNvPr id="253" name="Google Shape;253;p42"/>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254" name="Google Shape;254;p42"/>
          <p:cNvGraphicFramePr/>
          <p:nvPr/>
        </p:nvGraphicFramePr>
        <p:xfrm>
          <a:off x="110168" y="661013"/>
          <a:ext cx="8835525" cy="3779640"/>
        </p:xfrm>
        <a:graphic>
          <a:graphicData uri="http://schemas.openxmlformats.org/drawingml/2006/table">
            <a:tbl>
              <a:tblPr firstRow="1" bandRow="1">
                <a:noFill/>
                <a:tableStyleId>{CB2D51D2-2A24-47CE-9EF8-DEFC6009EEA5}</a:tableStyleId>
              </a:tblPr>
              <a:tblGrid>
                <a:gridCol w="651825"/>
                <a:gridCol w="1364250"/>
                <a:gridCol w="5596575"/>
                <a:gridCol w="1222875"/>
              </a:tblGrid>
              <a:tr h="380550">
                <a:tc>
                  <a:txBody>
                    <a:bodyPr/>
                    <a:lstStyle/>
                    <a:p>
                      <a:pPr marL="0" marR="0" lvl="0" indent="0" algn="ctr" rtl="0">
                        <a:spcBef>
                          <a:spcPts val="0"/>
                        </a:spcBef>
                        <a:spcAft>
                          <a:spcPts val="0"/>
                        </a:spcAft>
                        <a:buNone/>
                      </a:pPr>
                      <a:r>
                        <a:rPr lang="en-GB" sz="1300" b="0" i="0">
                          <a:solidFill>
                            <a:schemeClr val="dk1"/>
                          </a:solidFill>
                          <a:latin typeface="Helvetica Neue"/>
                          <a:ea typeface="Helvetica Neue"/>
                          <a:cs typeface="Helvetica Neue"/>
                          <a:sym typeface="Helvetica Neue"/>
                        </a:rPr>
                        <a:t>Week No.</a:t>
                      </a:r>
                      <a:endParaRPr sz="1300">
                        <a:latin typeface="Helvetica Neue"/>
                        <a:ea typeface="Helvetica Neue"/>
                        <a:cs typeface="Helvetica Neue"/>
                        <a:sym typeface="Helvetica Neue"/>
                      </a:endParaRPr>
                    </a:p>
                  </a:txBody>
                  <a:tcPr marL="91450" marR="91450" marT="34300" marB="34300">
                    <a:solidFill>
                      <a:srgbClr val="D5D59B"/>
                    </a:solidFill>
                  </a:tcPr>
                </a:tc>
                <a:tc>
                  <a:txBody>
                    <a:bodyPr/>
                    <a:lstStyle/>
                    <a:p>
                      <a:pPr marL="0" marR="0" lvl="0" indent="0" algn="ctr" rtl="0">
                        <a:spcBef>
                          <a:spcPts val="0"/>
                        </a:spcBef>
                        <a:spcAft>
                          <a:spcPts val="0"/>
                        </a:spcAft>
                        <a:buNone/>
                      </a:pPr>
                      <a:r>
                        <a:rPr lang="en-GB" sz="1300" b="0" i="0">
                          <a:solidFill>
                            <a:schemeClr val="dk1"/>
                          </a:solidFill>
                          <a:latin typeface="Helvetica Neue"/>
                          <a:ea typeface="Helvetica Neue"/>
                          <a:cs typeface="Helvetica Neue"/>
                          <a:sym typeface="Helvetica Neue"/>
                        </a:rPr>
                        <a:t>Duration</a:t>
                      </a:r>
                      <a:endParaRPr sz="1300">
                        <a:latin typeface="Helvetica Neue"/>
                        <a:ea typeface="Helvetica Neue"/>
                        <a:cs typeface="Helvetica Neue"/>
                        <a:sym typeface="Helvetica Neue"/>
                      </a:endParaRPr>
                    </a:p>
                  </a:txBody>
                  <a:tcPr marL="91450" marR="91450" marT="34300" marB="34300">
                    <a:solidFill>
                      <a:srgbClr val="D5D59B"/>
                    </a:solidFill>
                  </a:tcPr>
                </a:tc>
                <a:tc>
                  <a:txBody>
                    <a:bodyPr/>
                    <a:lstStyle/>
                    <a:p>
                      <a:pPr marL="0" marR="0" lvl="0" indent="0" algn="ctr" rtl="0">
                        <a:spcBef>
                          <a:spcPts val="0"/>
                        </a:spcBef>
                        <a:spcAft>
                          <a:spcPts val="0"/>
                        </a:spcAft>
                        <a:buNone/>
                      </a:pPr>
                      <a:r>
                        <a:rPr lang="en-GB" sz="1300" b="0" i="0">
                          <a:solidFill>
                            <a:schemeClr val="dk1"/>
                          </a:solidFill>
                          <a:latin typeface="Helvetica Neue"/>
                          <a:ea typeface="Helvetica Neue"/>
                          <a:cs typeface="Helvetica Neue"/>
                          <a:sym typeface="Helvetica Neue"/>
                        </a:rPr>
                        <a:t>Remarks (</a:t>
                      </a:r>
                      <a:r>
                        <a:rPr lang="en-GB" sz="1300" i="0">
                          <a:solidFill>
                            <a:schemeClr val="dk1"/>
                          </a:solidFill>
                          <a:latin typeface="Helvetica Neue"/>
                          <a:ea typeface="Helvetica Neue"/>
                          <a:cs typeface="Helvetica Neue"/>
                          <a:sym typeface="Helvetica Neue"/>
                        </a:rPr>
                        <a:t>as mentioned in the weekly log</a:t>
                      </a:r>
                      <a:r>
                        <a:rPr lang="en-GB" sz="1300" b="0" i="0">
                          <a:solidFill>
                            <a:schemeClr val="dk1"/>
                          </a:solidFill>
                          <a:latin typeface="Helvetica Neue"/>
                          <a:ea typeface="Helvetica Neue"/>
                          <a:cs typeface="Helvetica Neue"/>
                          <a:sym typeface="Helvetica Neue"/>
                        </a:rPr>
                        <a:t>)</a:t>
                      </a:r>
                      <a:endParaRPr sz="1300">
                        <a:latin typeface="Helvetica Neue"/>
                        <a:ea typeface="Helvetica Neue"/>
                        <a:cs typeface="Helvetica Neue"/>
                        <a:sym typeface="Helvetica Neue"/>
                      </a:endParaRPr>
                    </a:p>
                  </a:txBody>
                  <a:tcPr marL="91450" marR="91450" marT="34300" marB="34300">
                    <a:solidFill>
                      <a:srgbClr val="D5D59B"/>
                    </a:solidFill>
                  </a:tcPr>
                </a:tc>
                <a:tc>
                  <a:txBody>
                    <a:bodyPr/>
                    <a:lstStyle/>
                    <a:p>
                      <a:pPr marL="0" marR="0" lvl="0" indent="0" algn="ctr" rtl="0">
                        <a:spcBef>
                          <a:spcPts val="0"/>
                        </a:spcBef>
                        <a:spcAft>
                          <a:spcPts val="0"/>
                        </a:spcAft>
                        <a:buNone/>
                      </a:pPr>
                      <a:r>
                        <a:rPr lang="en-GB" sz="1300" b="0" i="0">
                          <a:solidFill>
                            <a:schemeClr val="dk1"/>
                          </a:solidFill>
                          <a:latin typeface="Helvetica Neue"/>
                          <a:ea typeface="Helvetica Neue"/>
                          <a:cs typeface="Helvetica Neue"/>
                          <a:sym typeface="Helvetica Neue"/>
                        </a:rPr>
                        <a:t>Incorporated</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b="0" i="0">
                          <a:solidFill>
                            <a:schemeClr val="dk1"/>
                          </a:solidFill>
                          <a:latin typeface="Helvetica Neue"/>
                          <a:ea typeface="Helvetica Neue"/>
                          <a:cs typeface="Helvetica Neue"/>
                          <a:sym typeface="Helvetica Neue"/>
                        </a:rPr>
                        <a:t>(Yes/No)</a:t>
                      </a:r>
                      <a:endParaRPr sz="1300">
                        <a:latin typeface="Helvetica Neue"/>
                        <a:ea typeface="Helvetica Neue"/>
                        <a:cs typeface="Helvetica Neue"/>
                        <a:sym typeface="Helvetica Neue"/>
                      </a:endParaRPr>
                    </a:p>
                  </a:txBody>
                  <a:tcPr marL="91450" marR="91450" marT="34300" marB="34300">
                    <a:solidFill>
                      <a:srgbClr val="D5D59B"/>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6.</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None/>
                      </a:pPr>
                      <a:r>
                        <a:rPr lang="en-GB" sz="1300">
                          <a:latin typeface="Helvetica Neue"/>
                          <a:ea typeface="Helvetica Neue"/>
                          <a:cs typeface="Helvetica Neue"/>
                          <a:sym typeface="Helvetica Neue"/>
                        </a:rPr>
                        <a:t>02</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11</a:t>
                      </a:r>
                      <a:r>
                        <a:rPr lang="en-GB" sz="1300" i="0">
                          <a:latin typeface="Helvetica Neue"/>
                          <a:ea typeface="Helvetica Neue"/>
                          <a:cs typeface="Helvetica Neue"/>
                          <a:sym typeface="Helvetica Neue"/>
                        </a:rPr>
                        <a:t>/2025 </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i="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marR="0" lvl="0" indent="0" algn="ctr" rtl="0">
                        <a:lnSpc>
                          <a:spcPct val="100000"/>
                        </a:lnSpc>
                        <a:spcBef>
                          <a:spcPts val="0"/>
                        </a:spcBef>
                        <a:spcAft>
                          <a:spcPts val="0"/>
                        </a:spcAft>
                        <a:buClr>
                          <a:schemeClr val="dk1"/>
                        </a:buClr>
                        <a:buSzPts val="1000"/>
                        <a:buFont typeface="Helvetica Neue"/>
                        <a:buNone/>
                      </a:pPr>
                      <a:r>
                        <a:rPr lang="en-GB" sz="1300">
                          <a:latin typeface="Helvetica Neue"/>
                          <a:ea typeface="Helvetica Neue"/>
                          <a:cs typeface="Helvetica Neue"/>
                          <a:sym typeface="Helvetica Neue"/>
                        </a:rPr>
                        <a:t>08</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11</a:t>
                      </a:r>
                      <a:r>
                        <a:rPr lang="en-GB" sz="1300" i="0">
                          <a:latin typeface="Helvetica Neue"/>
                          <a:ea typeface="Helvetica Neue"/>
                          <a:cs typeface="Helvetica Neue"/>
                          <a:sym typeface="Helvetica Neue"/>
                        </a:rPr>
                        <a:t>/2025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Submitted a research paper to supervisor</a:t>
                      </a:r>
                      <a:endParaRPr sz="1300">
                        <a:latin typeface="Helvetica Neue"/>
                        <a:ea typeface="Helvetica Neue"/>
                        <a:cs typeface="Helvetica Neue"/>
                        <a:sym typeface="Helvetica Neue"/>
                      </a:endParaRPr>
                    </a:p>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Writing is under processing</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34300" marB="34300">
                    <a:solidFill>
                      <a:srgbClr val="F4F9E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7.</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None/>
                      </a:pPr>
                      <a:r>
                        <a:rPr lang="en-GB" sz="1300">
                          <a:latin typeface="Helvetica Neue"/>
                          <a:ea typeface="Helvetica Neue"/>
                          <a:cs typeface="Helvetica Neue"/>
                          <a:sym typeface="Helvetica Neue"/>
                        </a:rPr>
                        <a:t>09</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11</a:t>
                      </a:r>
                      <a:r>
                        <a:rPr lang="en-GB" sz="1300" i="0">
                          <a:latin typeface="Helvetica Neue"/>
                          <a:ea typeface="Helvetica Neue"/>
                          <a:cs typeface="Helvetica Neue"/>
                          <a:sym typeface="Helvetica Neue"/>
                        </a:rPr>
                        <a:t>/2025 </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i="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marR="0" lvl="0" indent="0" algn="ctr" rtl="0">
                        <a:lnSpc>
                          <a:spcPct val="100000"/>
                        </a:lnSpc>
                        <a:spcBef>
                          <a:spcPts val="0"/>
                        </a:spcBef>
                        <a:spcAft>
                          <a:spcPts val="0"/>
                        </a:spcAft>
                        <a:buClr>
                          <a:schemeClr val="dk1"/>
                        </a:buClr>
                        <a:buSzPts val="1000"/>
                        <a:buFont typeface="Helvetica Neue"/>
                        <a:buNone/>
                      </a:pPr>
                      <a:r>
                        <a:rPr lang="en-GB" sz="1300">
                          <a:latin typeface="Helvetica Neue"/>
                          <a:ea typeface="Helvetica Neue"/>
                          <a:cs typeface="Helvetica Neue"/>
                          <a:sym typeface="Helvetica Neue"/>
                        </a:rPr>
                        <a:t>15/11</a:t>
                      </a:r>
                      <a:r>
                        <a:rPr lang="en-GB" sz="1300" i="0">
                          <a:latin typeface="Helvetica Neue"/>
                          <a:ea typeface="Helvetica Neue"/>
                          <a:cs typeface="Helvetica Neue"/>
                          <a:sym typeface="Helvetica Neue"/>
                        </a:rPr>
                        <a:t>/2025</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Experimental Results</a:t>
                      </a:r>
                      <a:endParaRPr sz="1300">
                        <a:latin typeface="Helvetica Neue"/>
                        <a:ea typeface="Helvetica Neue"/>
                        <a:cs typeface="Helvetica Neue"/>
                        <a:sym typeface="Helvetica Neue"/>
                      </a:endParaRPr>
                    </a:p>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Discuss it on 24th November</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34300" marB="34300">
                    <a:solidFill>
                      <a:srgbClr val="F0F0D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8.</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None/>
                      </a:pPr>
                      <a:r>
                        <a:rPr lang="en-GB" sz="1300">
                          <a:latin typeface="Helvetica Neue"/>
                          <a:ea typeface="Helvetica Neue"/>
                          <a:cs typeface="Helvetica Neue"/>
                          <a:sym typeface="Helvetica Neue"/>
                        </a:rPr>
                        <a:t>16</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11</a:t>
                      </a:r>
                      <a:r>
                        <a:rPr lang="en-GB" sz="1300" i="0">
                          <a:latin typeface="Helvetica Neue"/>
                          <a:ea typeface="Helvetica Neue"/>
                          <a:cs typeface="Helvetica Neue"/>
                          <a:sym typeface="Helvetica Neue"/>
                        </a:rPr>
                        <a:t>/2025 </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i="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marR="0" lvl="0" indent="0" algn="ctr" rtl="0">
                        <a:lnSpc>
                          <a:spcPct val="100000"/>
                        </a:lnSpc>
                        <a:spcBef>
                          <a:spcPts val="0"/>
                        </a:spcBef>
                        <a:spcAft>
                          <a:spcPts val="0"/>
                        </a:spcAft>
                        <a:buClr>
                          <a:schemeClr val="dk1"/>
                        </a:buClr>
                        <a:buSzPts val="1000"/>
                        <a:buFont typeface="Helvetica Neue"/>
                        <a:buNone/>
                      </a:pPr>
                      <a:r>
                        <a:rPr lang="en-GB" sz="1300">
                          <a:latin typeface="Helvetica Neue"/>
                          <a:ea typeface="Helvetica Neue"/>
                          <a:cs typeface="Helvetica Neue"/>
                          <a:sym typeface="Helvetica Neue"/>
                        </a:rPr>
                        <a:t>22</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11</a:t>
                      </a:r>
                      <a:r>
                        <a:rPr lang="en-GB" sz="1300" i="0">
                          <a:latin typeface="Helvetica Neue"/>
                          <a:ea typeface="Helvetica Neue"/>
                          <a:cs typeface="Helvetica Neue"/>
                          <a:sym typeface="Helvetica Neue"/>
                        </a:rPr>
                        <a:t>/2025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Discussed results as observed from experiments</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34300" marB="34300">
                    <a:solidFill>
                      <a:srgbClr val="F4F9E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9.</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None/>
                      </a:pPr>
                      <a:r>
                        <a:rPr lang="en-GB" sz="1300">
                          <a:latin typeface="Helvetica Neue"/>
                          <a:ea typeface="Helvetica Neue"/>
                          <a:cs typeface="Helvetica Neue"/>
                          <a:sym typeface="Helvetica Neue"/>
                        </a:rPr>
                        <a:t>23</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11</a:t>
                      </a:r>
                      <a:r>
                        <a:rPr lang="en-GB" sz="1300" i="0">
                          <a:latin typeface="Helvetica Neue"/>
                          <a:ea typeface="Helvetica Neue"/>
                          <a:cs typeface="Helvetica Neue"/>
                          <a:sym typeface="Helvetica Neue"/>
                        </a:rPr>
                        <a:t>/2025 </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i="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marR="0" lvl="0" indent="0" algn="ctr" rtl="0">
                        <a:lnSpc>
                          <a:spcPct val="100000"/>
                        </a:lnSpc>
                        <a:spcBef>
                          <a:spcPts val="0"/>
                        </a:spcBef>
                        <a:spcAft>
                          <a:spcPts val="0"/>
                        </a:spcAft>
                        <a:buClr>
                          <a:schemeClr val="dk1"/>
                        </a:buClr>
                        <a:buSzPts val="1000"/>
                        <a:buFont typeface="Helvetica Neue"/>
                        <a:buNone/>
                      </a:pPr>
                      <a:r>
                        <a:rPr lang="en-GB" sz="1300">
                          <a:latin typeface="Helvetica Neue"/>
                          <a:ea typeface="Helvetica Neue"/>
                          <a:cs typeface="Helvetica Neue"/>
                          <a:sym typeface="Helvetica Neue"/>
                        </a:rPr>
                        <a:t>29/11</a:t>
                      </a:r>
                      <a:r>
                        <a:rPr lang="en-GB" sz="1300" i="0">
                          <a:latin typeface="Helvetica Neue"/>
                          <a:ea typeface="Helvetica Neue"/>
                          <a:cs typeface="Helvetica Neue"/>
                          <a:sym typeface="Helvetica Neue"/>
                        </a:rPr>
                        <a:t>/2025</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457200" lvl="0" indent="-311150" algn="l" rtl="0">
                        <a:spcBef>
                          <a:spcPts val="0"/>
                        </a:spcBef>
                        <a:spcAft>
                          <a:spcPts val="0"/>
                        </a:spcAft>
                        <a:buClr>
                          <a:schemeClr val="dk1"/>
                        </a:buClr>
                        <a:buSzPts val="1300"/>
                        <a:buFont typeface="Helvetica Neue"/>
                        <a:buChar char="•"/>
                      </a:pPr>
                      <a:r>
                        <a:rPr lang="en-GB" sz="1300">
                          <a:latin typeface="Helvetica Neue"/>
                          <a:ea typeface="Helvetica Neue"/>
                          <a:cs typeface="Helvetica Neue"/>
                          <a:sym typeface="Helvetica Neue"/>
                        </a:rPr>
                        <a:t>Updates received in paper at overleaf</a:t>
                      </a:r>
                      <a:endParaRPr sz="1300">
                        <a:latin typeface="Helvetica Neue"/>
                        <a:ea typeface="Helvetica Neue"/>
                        <a:cs typeface="Helvetica Neue"/>
                        <a:sym typeface="Helvetica Neue"/>
                      </a:endParaRPr>
                    </a:p>
                  </a:txBody>
                  <a:tcPr marL="91450" marR="91450" marT="34300" marB="34300">
                    <a:solidFill>
                      <a:srgbClr val="F0F0DD"/>
                    </a:solidFill>
                  </a:tcPr>
                </a:tc>
                <a:tc>
                  <a:txBody>
                    <a:bodyPr/>
                    <a:lstStyle/>
                    <a:p>
                      <a:pPr marL="0" marR="0" lvl="0" indent="0" algn="ctr" rtl="0">
                        <a:spcBef>
                          <a:spcPts val="0"/>
                        </a:spcBef>
                        <a:spcAft>
                          <a:spcPts val="0"/>
                        </a:spcAft>
                        <a:buClr>
                          <a:schemeClr val="dk1"/>
                        </a:buClr>
                        <a:buSzPts val="1000"/>
                        <a:buFont typeface="Arial"/>
                        <a:buNone/>
                      </a:pPr>
                      <a:r>
                        <a:rPr lang="en-GB"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34300" marB="34300">
                    <a:solidFill>
                      <a:srgbClr val="F0F0DD"/>
                    </a:solidFill>
                  </a:tcPr>
                </a:tc>
              </a:tr>
              <a:tr h="621000">
                <a:tc>
                  <a:txBody>
                    <a:bodyPr/>
                    <a:lstStyle/>
                    <a:p>
                      <a:pPr marL="0" marR="0" lvl="0" indent="0" algn="ctr" rtl="0">
                        <a:spcBef>
                          <a:spcPts val="0"/>
                        </a:spcBef>
                        <a:spcAft>
                          <a:spcPts val="0"/>
                        </a:spcAft>
                        <a:buNone/>
                      </a:pPr>
                      <a:r>
                        <a:rPr lang="en-GB" sz="1300" i="0">
                          <a:latin typeface="Helvetica Neue"/>
                          <a:ea typeface="Helvetica Neue"/>
                          <a:cs typeface="Helvetica Neue"/>
                          <a:sym typeface="Helvetica Neue"/>
                        </a:rPr>
                        <a:t>10.</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None/>
                      </a:pPr>
                      <a:r>
                        <a:rPr lang="en-GB" sz="1300">
                          <a:latin typeface="Helvetica Neue"/>
                          <a:ea typeface="Helvetica Neue"/>
                          <a:cs typeface="Helvetica Neue"/>
                          <a:sym typeface="Helvetica Neue"/>
                        </a:rPr>
                        <a:t>dd</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mm</a:t>
                      </a:r>
                      <a:r>
                        <a:rPr lang="en-GB" sz="1300" i="0">
                          <a:latin typeface="Helvetica Neue"/>
                          <a:ea typeface="Helvetica Neue"/>
                          <a:cs typeface="Helvetica Neue"/>
                          <a:sym typeface="Helvetica Neue"/>
                        </a:rPr>
                        <a:t>/2025 </a:t>
                      </a:r>
                      <a:endParaRPr sz="1300">
                        <a:latin typeface="Helvetica Neue"/>
                        <a:ea typeface="Helvetica Neue"/>
                        <a:cs typeface="Helvetica Neue"/>
                        <a:sym typeface="Helvetica Neue"/>
                      </a:endParaRPr>
                    </a:p>
                    <a:p>
                      <a:pPr marL="0" marR="0" lvl="0" indent="0" algn="ctr" rtl="0">
                        <a:spcBef>
                          <a:spcPts val="0"/>
                        </a:spcBef>
                        <a:spcAft>
                          <a:spcPts val="0"/>
                        </a:spcAft>
                        <a:buNone/>
                      </a:pPr>
                      <a:r>
                        <a:rPr lang="en-GB" sz="1300" i="0">
                          <a:latin typeface="Helvetica Neue"/>
                          <a:ea typeface="Helvetica Neue"/>
                          <a:cs typeface="Helvetica Neue"/>
                          <a:sym typeface="Helvetica Neue"/>
                        </a:rPr>
                        <a:t>to</a:t>
                      </a:r>
                      <a:endParaRPr sz="1300">
                        <a:latin typeface="Helvetica Neue"/>
                        <a:ea typeface="Helvetica Neue"/>
                        <a:cs typeface="Helvetica Neue"/>
                        <a:sym typeface="Helvetica Neue"/>
                      </a:endParaRPr>
                    </a:p>
                    <a:p>
                      <a:pPr marL="0" marR="0" lvl="0" indent="0" algn="ctr" rtl="0">
                        <a:lnSpc>
                          <a:spcPct val="100000"/>
                        </a:lnSpc>
                        <a:spcBef>
                          <a:spcPts val="0"/>
                        </a:spcBef>
                        <a:spcAft>
                          <a:spcPts val="0"/>
                        </a:spcAft>
                        <a:buClr>
                          <a:schemeClr val="dk1"/>
                        </a:buClr>
                        <a:buSzPts val="1000"/>
                        <a:buFont typeface="Helvetica Neue"/>
                        <a:buNone/>
                      </a:pPr>
                      <a:r>
                        <a:rPr lang="en-GB" sz="1300">
                          <a:latin typeface="Helvetica Neue"/>
                          <a:ea typeface="Helvetica Neue"/>
                          <a:cs typeface="Helvetica Neue"/>
                          <a:sym typeface="Helvetica Neue"/>
                        </a:rPr>
                        <a:t>dd</a:t>
                      </a:r>
                      <a:r>
                        <a:rPr lang="en-GB" sz="1300" i="0">
                          <a:latin typeface="Helvetica Neue"/>
                          <a:ea typeface="Helvetica Neue"/>
                          <a:cs typeface="Helvetica Neue"/>
                          <a:sym typeface="Helvetica Neue"/>
                        </a:rPr>
                        <a:t>/</a:t>
                      </a:r>
                      <a:r>
                        <a:rPr lang="en-GB" sz="1300">
                          <a:latin typeface="Helvetica Neue"/>
                          <a:ea typeface="Helvetica Neue"/>
                          <a:cs typeface="Helvetica Neue"/>
                          <a:sym typeface="Helvetica Neue"/>
                        </a:rPr>
                        <a:t>mm</a:t>
                      </a:r>
                      <a:r>
                        <a:rPr lang="en-GB" sz="1300" i="0">
                          <a:latin typeface="Helvetica Neue"/>
                          <a:ea typeface="Helvetica Neue"/>
                          <a:cs typeface="Helvetica Neue"/>
                          <a:sym typeface="Helvetica Neue"/>
                        </a:rPr>
                        <a:t>/2025</a:t>
                      </a: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457200" marR="0" lvl="0" indent="0" algn="l" rtl="0">
                        <a:lnSpc>
                          <a:spcPct val="100000"/>
                        </a:lnSpc>
                        <a:spcBef>
                          <a:spcPts val="0"/>
                        </a:spcBef>
                        <a:spcAft>
                          <a:spcPts val="0"/>
                        </a:spcAft>
                        <a:buNone/>
                      </a:pPr>
                      <a:endParaRPr sz="1300">
                        <a:latin typeface="Helvetica Neue"/>
                        <a:ea typeface="Helvetica Neue"/>
                        <a:cs typeface="Helvetica Neue"/>
                        <a:sym typeface="Helvetica Neue"/>
                      </a:endParaRPr>
                    </a:p>
                  </a:txBody>
                  <a:tcPr marL="91450" marR="91450" marT="34300" marB="34300">
                    <a:solidFill>
                      <a:srgbClr val="F4F9ED"/>
                    </a:solidFill>
                  </a:tcPr>
                </a:tc>
                <a:tc>
                  <a:txBody>
                    <a:bodyPr/>
                    <a:lstStyle/>
                    <a:p>
                      <a:pPr marL="0" marR="0" lvl="0" indent="0" algn="ctr" rtl="0">
                        <a:spcBef>
                          <a:spcPts val="0"/>
                        </a:spcBef>
                        <a:spcAft>
                          <a:spcPts val="0"/>
                        </a:spcAft>
                        <a:buClr>
                          <a:schemeClr val="dk1"/>
                        </a:buClr>
                        <a:buSzPts val="1000"/>
                        <a:buFont typeface="Arial"/>
                        <a:buNone/>
                      </a:pPr>
                      <a:endParaRPr sz="1000" b="0" i="0">
                        <a:latin typeface="Helvetica Neue"/>
                        <a:ea typeface="Helvetica Neue"/>
                        <a:cs typeface="Helvetica Neue"/>
                        <a:sym typeface="Helvetica Neue"/>
                      </a:endParaRPr>
                    </a:p>
                  </a:txBody>
                  <a:tcPr marL="91450" marR="91450" marT="34300" marB="34300">
                    <a:solidFill>
                      <a:srgbClr val="F4F9ED"/>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3"/>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Future Work</a:t>
            </a:r>
            <a:endParaRPr/>
          </a:p>
        </p:txBody>
      </p:sp>
      <p:sp>
        <p:nvSpPr>
          <p:cNvPr id="260" name="Google Shape;260;p43"/>
          <p:cNvSpPr txBox="1"/>
          <p:nvPr/>
        </p:nvSpPr>
        <p:spPr>
          <a:xfrm>
            <a:off x="77118" y="603173"/>
            <a:ext cx="8956714" cy="4346155"/>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0"/>
              </a:spcBef>
              <a:spcAft>
                <a:spcPts val="0"/>
              </a:spcAft>
              <a:buNone/>
            </a:pPr>
            <a:endParaRPr sz="1500">
              <a:solidFill>
                <a:schemeClr val="dk1"/>
              </a:solidFill>
              <a:latin typeface="Helvetica Neue"/>
              <a:ea typeface="Helvetica Neue"/>
              <a:cs typeface="Helvetica Neue"/>
              <a:sym typeface="Helvetica Neue"/>
            </a:endParaRPr>
          </a:p>
          <a:p>
            <a:pPr marL="357187" marR="0" lvl="0" indent="-242887" algn="just" rtl="0">
              <a:lnSpc>
                <a:spcPct val="150000"/>
              </a:lnSpc>
              <a:spcBef>
                <a:spcPts val="0"/>
              </a:spcBef>
              <a:spcAft>
                <a:spcPts val="0"/>
              </a:spcAft>
              <a:buClr>
                <a:schemeClr val="dk1"/>
              </a:buClr>
              <a:buSzPts val="1950"/>
              <a:buFont typeface="Arial"/>
              <a:buChar char="•"/>
            </a:pPr>
            <a:r>
              <a:rPr lang="en-GB" sz="1500">
                <a:solidFill>
                  <a:schemeClr val="dk1"/>
                </a:solidFill>
                <a:latin typeface="Helvetica Neue"/>
                <a:ea typeface="Helvetica Neue"/>
                <a:cs typeface="Helvetica Neue"/>
                <a:sym typeface="Helvetica Neue"/>
              </a:rPr>
              <a:t>Integrate StackOverflow API for developer use.</a:t>
            </a:r>
            <a:endParaRPr sz="1500">
              <a:solidFill>
                <a:schemeClr val="dk1"/>
              </a:solidFill>
              <a:latin typeface="Helvetica Neue"/>
              <a:ea typeface="Helvetica Neue"/>
              <a:cs typeface="Helvetica Neue"/>
              <a:sym typeface="Helvetica Neue"/>
            </a:endParaRPr>
          </a:p>
          <a:p>
            <a:pPr marL="457200" marR="0" lvl="0" indent="0" algn="just" rtl="0">
              <a:lnSpc>
                <a:spcPct val="150000"/>
              </a:lnSpc>
              <a:spcBef>
                <a:spcPts val="0"/>
              </a:spcBef>
              <a:spcAft>
                <a:spcPts val="0"/>
              </a:spcAft>
              <a:buNone/>
            </a:pPr>
            <a:endParaRPr sz="1500">
              <a:solidFill>
                <a:schemeClr val="dk1"/>
              </a:solidFill>
              <a:latin typeface="Helvetica Neue"/>
              <a:ea typeface="Helvetica Neue"/>
              <a:cs typeface="Helvetica Neue"/>
              <a:sym typeface="Helvetica Neue"/>
            </a:endParaRPr>
          </a:p>
          <a:p>
            <a:pPr marL="357187" marR="0" lvl="0" indent="-214312" algn="just" rtl="0">
              <a:lnSpc>
                <a:spcPct val="150000"/>
              </a:lnSpc>
              <a:spcBef>
                <a:spcPts val="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Create Daily Life agent to handle user calendars, weather updates and email management using the GCP and other APIs.</a:t>
            </a:r>
            <a:endParaRPr sz="1500">
              <a:solidFill>
                <a:schemeClr val="dk1"/>
              </a:solidFill>
              <a:latin typeface="Helvetica Neue"/>
              <a:ea typeface="Helvetica Neue"/>
              <a:cs typeface="Helvetica Neue"/>
              <a:sym typeface="Helvetica Neue"/>
            </a:endParaRPr>
          </a:p>
          <a:p>
            <a:pPr marL="457200" marR="0" lvl="0" indent="0" algn="just" rtl="0">
              <a:lnSpc>
                <a:spcPct val="150000"/>
              </a:lnSpc>
              <a:spcBef>
                <a:spcPts val="0"/>
              </a:spcBef>
              <a:spcAft>
                <a:spcPts val="0"/>
              </a:spcAft>
              <a:buNone/>
            </a:pPr>
            <a:endParaRPr sz="1500">
              <a:solidFill>
                <a:schemeClr val="dk1"/>
              </a:solidFill>
              <a:latin typeface="Helvetica Neue"/>
              <a:ea typeface="Helvetica Neue"/>
              <a:cs typeface="Helvetica Neue"/>
              <a:sym typeface="Helvetica Neue"/>
            </a:endParaRPr>
          </a:p>
          <a:p>
            <a:pPr marL="357187" marR="0" lvl="0" indent="-214312" algn="just" rtl="0">
              <a:lnSpc>
                <a:spcPct val="150000"/>
              </a:lnSpc>
              <a:spcBef>
                <a:spcPts val="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Automate the personal assistant by making it completely voice activated and introducing hand gestures using media pipe.</a:t>
            </a:r>
            <a:endParaRPr sz="1500">
              <a:solidFill>
                <a:schemeClr val="dk1"/>
              </a:solidFill>
              <a:latin typeface="Helvetica Neue"/>
              <a:ea typeface="Helvetica Neue"/>
              <a:cs typeface="Helvetica Neue"/>
              <a:sym typeface="Helvetica Neue"/>
            </a:endParaRPr>
          </a:p>
          <a:p>
            <a:pPr marL="457200" marR="0" lvl="0" indent="0" algn="just" rtl="0">
              <a:lnSpc>
                <a:spcPct val="150000"/>
              </a:lnSpc>
              <a:spcBef>
                <a:spcPts val="0"/>
              </a:spcBef>
              <a:spcAft>
                <a:spcPts val="0"/>
              </a:spcAft>
              <a:buNone/>
            </a:pPr>
            <a:endParaRPr sz="1500">
              <a:solidFill>
                <a:schemeClr val="dk1"/>
              </a:solidFill>
              <a:latin typeface="Helvetica Neue"/>
              <a:ea typeface="Helvetica Neue"/>
              <a:cs typeface="Helvetica Neue"/>
              <a:sym typeface="Helvetica Neue"/>
            </a:endParaRPr>
          </a:p>
          <a:p>
            <a:pPr marL="357188" marR="0" lvl="0" indent="-214313" algn="just" rtl="0">
              <a:lnSpc>
                <a:spcPct val="150000"/>
              </a:lnSpc>
              <a:spcBef>
                <a:spcPts val="0"/>
              </a:spcBef>
              <a:spcAft>
                <a:spcPts val="0"/>
              </a:spcAft>
              <a:buClr>
                <a:schemeClr val="dk1"/>
              </a:buClr>
              <a:buSzPts val="1500"/>
              <a:buFont typeface="Helvetica Neue"/>
              <a:buChar char="•"/>
            </a:pPr>
            <a:r>
              <a:rPr lang="en-GB" sz="1500">
                <a:solidFill>
                  <a:schemeClr val="dk1"/>
                </a:solidFill>
                <a:latin typeface="Helvetica Neue"/>
                <a:ea typeface="Helvetica Neue"/>
                <a:cs typeface="Helvetica Neue"/>
                <a:sym typeface="Helvetica Neue"/>
              </a:rPr>
              <a:t>Scope out other possible tools that can incorporated to increase productivity.</a:t>
            </a:r>
            <a:endParaRPr sz="1500">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4"/>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Project Plan</a:t>
            </a:r>
            <a:endParaRPr/>
          </a:p>
        </p:txBody>
      </p:sp>
      <p:pic>
        <p:nvPicPr>
          <p:cNvPr id="266" name="Google Shape;266;p44"/>
          <p:cNvPicPr preferRelativeResize="0"/>
          <p:nvPr/>
        </p:nvPicPr>
        <p:blipFill>
          <a:blip r:embed="rId3">
            <a:alphaModFix/>
          </a:blip>
          <a:stretch>
            <a:fillRect/>
          </a:stretch>
        </p:blipFill>
        <p:spPr>
          <a:xfrm>
            <a:off x="352050" y="625050"/>
            <a:ext cx="8439901" cy="43223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5"/>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References</a:t>
            </a:r>
            <a:endParaRPr/>
          </a:p>
        </p:txBody>
      </p:sp>
      <p:sp>
        <p:nvSpPr>
          <p:cNvPr id="272" name="Google Shape;272;p45"/>
          <p:cNvSpPr txBox="1"/>
          <p:nvPr/>
        </p:nvSpPr>
        <p:spPr>
          <a:xfrm>
            <a:off x="77118" y="603173"/>
            <a:ext cx="8956800" cy="4346100"/>
          </a:xfrm>
          <a:prstGeom prst="rect">
            <a:avLst/>
          </a:prstGeom>
          <a:noFill/>
          <a:ln>
            <a:noFill/>
          </a:ln>
        </p:spPr>
        <p:txBody>
          <a:bodyPr spcFirstLastPara="1" wrap="square" lIns="91425" tIns="45700" rIns="91425" bIns="45700" anchor="t" anchorCtr="0">
            <a:noAutofit/>
          </a:bodyPr>
          <a:lstStyle/>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[1]    V. Chaturvedi, S. S. Tripathi, A. Pateria, H. P. Chakrapani, M. Yadav, and V. Rathore, "Development of a virtual personal assistant for enhanced productivity and efficiency," Int. J. Sci. Res. Eng. Trends (IJSRET), vol. 10, no. 2, Mar.–Apr. 2024.</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[2] 	M. Garg, K. Bala, and S. Sharma, "Virtual personal assistant using artificial intelligence," Int. J. Creative Res. Thoughts (IJCRT), vol. 10, no. 12, Dec. 2022.</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[3]     S. Hosseini and H. Seilani, "The role of agentic AI in shaping a smart future: A systematic review," Array, vol. 26, p. 100399, May 2025.</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[4]     P. D. Sawant, "Agentic AI: A quantitative analysis of performance and applications," J. Adv. Artif. Intell., vol. 3, no. 2, pp. 132–140, May 2025.</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[5]    Y. Shavit, S. Agarwal, M. Brundage, S. Adler, et al., "Practices for governing agentic AI systems," OpenAI, Dec. 14, 2023.</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[6]    A. Kumar N. and B. Valarmathy, "AI based virtual assistant," Int. Res. J. Modern. Eng., Technol. Sci. (IRJMETS), vol. 5, no. 3, Mar. 2023.</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endParaRPr sz="1300">
              <a:solidFill>
                <a:schemeClr val="dk1"/>
              </a:solidFill>
              <a:latin typeface="Helvetica Neue"/>
              <a:ea typeface="Helvetica Neue"/>
              <a:cs typeface="Helvetica Neue"/>
              <a:sym typeface="Helvetica Neue"/>
            </a:endParaRPr>
          </a:p>
          <a:p>
            <a:pPr marL="447675" marR="0" lvl="0" indent="-447675" algn="just" rtl="0">
              <a:lnSpc>
                <a:spcPct val="150000"/>
              </a:lnSpc>
              <a:spcBef>
                <a:spcPts val="490"/>
              </a:spcBef>
              <a:spcAft>
                <a:spcPts val="0"/>
              </a:spcAft>
              <a:buNone/>
            </a:pPr>
            <a:endParaRPr sz="130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6"/>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References </a:t>
            </a:r>
            <a:r>
              <a:rPr lang="en-GB" sz="2400" b="0"/>
              <a:t>(cont…)</a:t>
            </a:r>
            <a:endParaRPr/>
          </a:p>
        </p:txBody>
      </p:sp>
      <p:sp>
        <p:nvSpPr>
          <p:cNvPr id="278" name="Google Shape;278;p46"/>
          <p:cNvSpPr txBox="1"/>
          <p:nvPr/>
        </p:nvSpPr>
        <p:spPr>
          <a:xfrm>
            <a:off x="93643" y="543398"/>
            <a:ext cx="8956800" cy="4346100"/>
          </a:xfrm>
          <a:prstGeom prst="rect">
            <a:avLst/>
          </a:prstGeom>
          <a:noFill/>
          <a:ln>
            <a:noFill/>
          </a:ln>
        </p:spPr>
        <p:txBody>
          <a:bodyPr spcFirstLastPara="1" wrap="square" lIns="91425" tIns="45700" rIns="91425" bIns="45700" anchor="t" anchorCtr="0">
            <a:noAutofit/>
          </a:bodyPr>
          <a:lstStyle/>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[7]     S. Thorbole, A. Pandit, G. Raut, and T. Sirsat, "AI-based desktop voice assistant," J. Emerg. Technol. Innov. Res. (JETIR), vol. 10, no. 5, May 2023.</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[8]     S. R. Jain and F. Jason, "Personal desktop voice assistant," Int. J. Adv. Res. Comput. Commun. Eng. (IJARCCE), vol. 12, no. 3, Mar. 2023.</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[9]     G. Nair, S. Johnson, and V. Sathya, "Chatbot as a personal assistant," Int. J. Appl. Eng. Res. (IJAER), vol. 13, no. 20, 2018.</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[10]    K. M. Jaber, M. Laf, and M. A. Jawad, "A comparative study for virtual personal assistants (VPA)," Int. J. Comput. Eng. Social Eng. Netw. (IJCESEN), vol. 10, no. 3, 2024.</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[11]   S. Chen et al., "A survey on LLM-based multi-agent system: Recent advances and new frontiers in application," arXiv preprint, 2024, revised 2025.</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[12] 	S. Joshi, "Review of autonomous and collaborative agentic AI and multi-agent systems for enterprise applications," Int. J. Innov. Res. Eng. Manage., vol. 12, no. 3, 2025.</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None/>
            </a:pPr>
            <a:r>
              <a:rPr lang="en-GB" sz="1300">
                <a:solidFill>
                  <a:schemeClr val="dk1"/>
                </a:solidFill>
                <a:latin typeface="Helvetica Neue"/>
                <a:ea typeface="Helvetica Neue"/>
                <a:cs typeface="Helvetica Neue"/>
                <a:sym typeface="Helvetica Neue"/>
              </a:rPr>
              <a:t>[13]  	A. Singh et al., "SafeMate: A model context protocol-based multimodal agent for emergency preparedness," arXiv preprint, 2025.</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7"/>
          <p:cNvSpPr txBox="1">
            <a:spLocks noGrp="1"/>
          </p:cNvSpPr>
          <p:nvPr>
            <p:ph type="title"/>
          </p:nvPr>
        </p:nvSpPr>
        <p:spPr>
          <a:xfrm>
            <a:off x="40640" y="22860"/>
            <a:ext cx="8328752" cy="520548"/>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GB" sz="2400"/>
              <a:t>References </a:t>
            </a:r>
            <a:r>
              <a:rPr lang="en-GB" sz="2400" b="0"/>
              <a:t>(cont…)</a:t>
            </a:r>
            <a:endParaRPr sz="1800"/>
          </a:p>
        </p:txBody>
      </p:sp>
      <p:sp>
        <p:nvSpPr>
          <p:cNvPr id="284" name="Google Shape;284;p47"/>
          <p:cNvSpPr txBox="1"/>
          <p:nvPr/>
        </p:nvSpPr>
        <p:spPr>
          <a:xfrm>
            <a:off x="77118" y="603173"/>
            <a:ext cx="8956714" cy="4346155"/>
          </a:xfrm>
          <a:prstGeom prst="rect">
            <a:avLst/>
          </a:prstGeom>
          <a:noFill/>
          <a:ln>
            <a:noFill/>
          </a:ln>
        </p:spPr>
        <p:txBody>
          <a:bodyPr spcFirstLastPara="1" wrap="square" lIns="90000" tIns="45700" rIns="91425" bIns="45700" anchor="t" anchorCtr="0">
            <a:noAutofit/>
          </a:bodyPr>
          <a:lstStyle/>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[14]   D. Madotto et al., "Plug-and-play conversational models," in Findings of the Assoc. Comput. Linguistics: EMNLP 2020, 2020.</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[15]    S. Hosseini et al., "Insert-expansions for tool-enabled conversational agents," arXiv preprint, 2023.</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[16]    A. Sharma et al., "AI based virtual personal assistant," Int. J. Innov. Sci. Res. Technol. (IJISRT), 2024.</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[17]    S. Han, Q. Zhang, Y. Yao, et al., "LLM multi-agent systems: Challenges and open problems," arXiv preprint.</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[18]   M. Hasan et al., "Model context protocol (MCP) at first glance: Studying the security and maintainability of MCP servers," arXiv preprint, 2025.</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[19]    S. Rasal, "A multi-LLM orchestration engine for personalized, context-rich assistance," arXiv preprint, 2024.</a:t>
            </a:r>
            <a:endParaRPr sz="1300">
              <a:solidFill>
                <a:schemeClr val="dk1"/>
              </a:solidFill>
              <a:latin typeface="Helvetica Neue"/>
              <a:ea typeface="Helvetica Neue"/>
              <a:cs typeface="Helvetica Neue"/>
              <a:sym typeface="Helvetica Neue"/>
            </a:endParaRPr>
          </a:p>
          <a:p>
            <a:pPr marL="447675" lvl="0" indent="-447675" algn="just" rtl="0">
              <a:lnSpc>
                <a:spcPct val="150000"/>
              </a:lnSpc>
              <a:spcBef>
                <a:spcPts val="490"/>
              </a:spcBef>
              <a:spcAft>
                <a:spcPts val="0"/>
              </a:spcAft>
              <a:buClr>
                <a:schemeClr val="dk1"/>
              </a:buClr>
              <a:buSzPts val="1100"/>
              <a:buFont typeface="Arial"/>
              <a:buNone/>
            </a:pPr>
            <a:r>
              <a:rPr lang="en-GB" sz="1300">
                <a:solidFill>
                  <a:schemeClr val="dk1"/>
                </a:solidFill>
                <a:latin typeface="Helvetica Neue"/>
                <a:ea typeface="Helvetica Neue"/>
                <a:cs typeface="Helvetica Neue"/>
                <a:sym typeface="Helvetica Neue"/>
              </a:rPr>
              <a:t>[20]  	J. Zhang et al., "WorkflowLLM: Enhancing workflow orchestration capability of large language models," arXiv preprint, 2024.</a:t>
            </a:r>
            <a:endParaRPr sz="1300">
              <a:solidFill>
                <a:schemeClr val="dk1"/>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8"/>
          <p:cNvSpPr txBox="1"/>
          <p:nvPr/>
        </p:nvSpPr>
        <p:spPr>
          <a:xfrm>
            <a:off x="-2107" y="49623"/>
            <a:ext cx="8956800" cy="4470000"/>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ctr" rtl="0">
              <a:lnSpc>
                <a:spcPct val="150000"/>
              </a:lnSpc>
              <a:spcBef>
                <a:spcPts val="700"/>
              </a:spcBef>
              <a:spcAft>
                <a:spcPts val="0"/>
              </a:spcAft>
              <a:buClr>
                <a:schemeClr val="dk1"/>
              </a:buClr>
              <a:buSzPts val="2500"/>
              <a:buFont typeface="Arial"/>
              <a:buNone/>
            </a:pPr>
            <a:endParaRPr sz="2000" b="1">
              <a:solidFill>
                <a:schemeClr val="dk1"/>
              </a:solidFill>
              <a:latin typeface="Helvetica Neue"/>
              <a:ea typeface="Helvetica Neue"/>
              <a:cs typeface="Helvetica Neue"/>
              <a:sym typeface="Helvetica Neue"/>
            </a:endParaRPr>
          </a:p>
          <a:p>
            <a:pPr marL="95250" marR="0" lvl="0" indent="0" algn="ctr" rtl="0">
              <a:lnSpc>
                <a:spcPct val="150000"/>
              </a:lnSpc>
              <a:spcBef>
                <a:spcPts val="700"/>
              </a:spcBef>
              <a:spcAft>
                <a:spcPts val="0"/>
              </a:spcAft>
              <a:buClr>
                <a:schemeClr val="dk1"/>
              </a:buClr>
              <a:buSzPts val="2500"/>
              <a:buFont typeface="Arial"/>
              <a:buNone/>
            </a:pPr>
            <a:r>
              <a:rPr lang="en-GB" sz="2000" b="1">
                <a:solidFill>
                  <a:schemeClr val="dk1"/>
                </a:solidFill>
                <a:latin typeface="Helvetica Neue"/>
                <a:ea typeface="Helvetica Neue"/>
                <a:cs typeface="Helvetica Neue"/>
                <a:sym typeface="Helvetica Neue"/>
              </a:rPr>
              <a:t>Thanks</a:t>
            </a:r>
            <a:r>
              <a:rPr lang="en-GB" sz="1400">
                <a:solidFill>
                  <a:schemeClr val="dk1"/>
                </a:solidFill>
                <a:latin typeface="Helvetica Neue"/>
                <a:ea typeface="Helvetica Neue"/>
                <a:cs typeface="Helvetica Neue"/>
                <a:sym typeface="Helvetica Neue"/>
              </a:rPr>
              <a:t>.</a:t>
            </a:r>
            <a:endParaRPr/>
          </a:p>
        </p:txBody>
      </p:sp>
      <p:pic>
        <p:nvPicPr>
          <p:cNvPr id="290" name="Google Shape;290;p48" descr="🙏"/>
          <p:cNvPicPr preferRelativeResize="0"/>
          <p:nvPr/>
        </p:nvPicPr>
        <p:blipFill rotWithShape="1">
          <a:blip r:embed="rId3">
            <a:alphaModFix/>
          </a:blip>
          <a:srcRect/>
          <a:stretch/>
        </p:blipFill>
        <p:spPr>
          <a:xfrm>
            <a:off x="4189164" y="1997496"/>
            <a:ext cx="574254" cy="57425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3758</Words>
  <Application>Microsoft Office PowerPoint</Application>
  <PresentationFormat>On-screen Show (16:9)</PresentationFormat>
  <Paragraphs>557</Paragraphs>
  <Slides>33</Slides>
  <Notes>33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33</vt:i4>
      </vt:variant>
    </vt:vector>
  </HeadingPairs>
  <TitlesOfParts>
    <vt:vector size="44" baseType="lpstr">
      <vt:lpstr>Arial</vt:lpstr>
      <vt:lpstr>Roboto Mono</vt:lpstr>
      <vt:lpstr>Helvetica Neue</vt:lpstr>
      <vt:lpstr>Tahoma</vt:lpstr>
      <vt:lpstr>Times New Roman</vt:lpstr>
      <vt:lpstr>Courier New</vt:lpstr>
      <vt:lpstr>Helvetica</vt:lpstr>
      <vt:lpstr>Palatino</vt:lpstr>
      <vt:lpstr>Arimo</vt:lpstr>
      <vt:lpstr>Simple Light</vt:lpstr>
      <vt:lpstr>1_os-8</vt:lpstr>
      <vt:lpstr>MCP and Custom tools enabled Personal Assistant </vt:lpstr>
      <vt:lpstr>Outline</vt:lpstr>
      <vt:lpstr>Introduction</vt:lpstr>
      <vt:lpstr>Problem Statement</vt:lpstr>
      <vt:lpstr>Objectives</vt:lpstr>
      <vt:lpstr>Literature Review</vt:lpstr>
      <vt:lpstr>Literature Review (cont…)</vt:lpstr>
      <vt:lpstr>Literature Review (cont…)</vt:lpstr>
      <vt:lpstr>Literature Review (cont…)</vt:lpstr>
      <vt:lpstr>Literature Review (cont…)</vt:lpstr>
      <vt:lpstr>Work Done (after Mid-Term Evaluation)</vt:lpstr>
      <vt:lpstr>Project Design (cont…)</vt:lpstr>
      <vt:lpstr>Project Design (cont…)</vt:lpstr>
      <vt:lpstr>Tools, Technologies and Languages</vt:lpstr>
      <vt:lpstr>Tools, Technologies and Languages (cont…)</vt:lpstr>
      <vt:lpstr>Dataset</vt:lpstr>
      <vt:lpstr>Implementation</vt:lpstr>
      <vt:lpstr>Implementation (cont…)</vt:lpstr>
      <vt:lpstr> Implementation (cont…)</vt:lpstr>
      <vt:lpstr>Implementation (cont…)</vt:lpstr>
      <vt:lpstr>Experimental Results and Evaluation (cont…)</vt:lpstr>
      <vt:lpstr>Experimental Results and Evaluation</vt:lpstr>
      <vt:lpstr>Experimental Results and Evaluation (cont…)</vt:lpstr>
      <vt:lpstr>Key Learnings</vt:lpstr>
      <vt:lpstr>Work Contribution and Attendance</vt:lpstr>
      <vt:lpstr>Supervisor Interactions (as mentioned in weekly log)</vt:lpstr>
      <vt:lpstr>Supervisor Interactions (cont…)</vt:lpstr>
      <vt:lpstr>Future Work</vt:lpstr>
      <vt:lpstr>Project Plan</vt:lpstr>
      <vt:lpstr>References</vt:lpstr>
      <vt:lpstr>References (cont…)</vt:lpstr>
      <vt:lpstr>References (cont…)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and Custom tools enabled Personal Assistant </dc:title>
  <cp:lastModifiedBy>LENOVO</cp:lastModifiedBy>
  <cp:revision>1</cp:revision>
  <dcterms:modified xsi:type="dcterms:W3CDTF">2025-12-07T16:39:12Z</dcterms:modified>
</cp:coreProperties>
</file>